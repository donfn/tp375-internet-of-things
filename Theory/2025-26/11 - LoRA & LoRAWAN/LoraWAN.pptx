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357" r:id="rId2"/>
    <p:sldId id="267" r:id="rId3"/>
    <p:sldId id="268" r:id="rId4"/>
    <p:sldId id="269" r:id="rId5"/>
    <p:sldId id="270" r:id="rId6"/>
    <p:sldId id="271" r:id="rId7"/>
    <p:sldId id="272" r:id="rId8"/>
    <p:sldId id="274" r:id="rId9"/>
    <p:sldId id="276" r:id="rId10"/>
    <p:sldId id="277" r:id="rId11"/>
    <p:sldId id="279" r:id="rId12"/>
    <p:sldId id="281" r:id="rId13"/>
    <p:sldId id="283" r:id="rId14"/>
    <p:sldId id="286" r:id="rId15"/>
    <p:sldId id="288" r:id="rId16"/>
    <p:sldId id="292" r:id="rId17"/>
    <p:sldId id="293" r:id="rId18"/>
    <p:sldId id="297" r:id="rId19"/>
    <p:sldId id="314" r:id="rId20"/>
    <p:sldId id="349" r:id="rId21"/>
  </p:sldIdLst>
  <p:sldSz cx="12192000" cy="6858000"/>
  <p:notesSz cx="6858000" cy="9144000"/>
  <p:defaultTex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Μεσαίο στυλ 2 - Έμφαση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899" autoAdjust="0"/>
    <p:restoredTop sz="94660"/>
  </p:normalViewPr>
  <p:slideViewPr>
    <p:cSldViewPr snapToGrid="0">
      <p:cViewPr varScale="1">
        <p:scale>
          <a:sx n="71" d="100"/>
          <a:sy n="71" d="100"/>
        </p:scale>
        <p:origin x="86" y="8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κεφαλίδας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l-GR"/>
          </a:p>
        </p:txBody>
      </p:sp>
      <p:sp>
        <p:nvSpPr>
          <p:cNvPr id="3" name="Θέση ημερομηνίας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834E27-FE78-4516-B63E-FC1AA153A369}" type="datetimeFigureOut">
              <a:rPr lang="el-GR" smtClean="0"/>
              <a:t>12/5/2023</a:t>
            </a:fld>
            <a:endParaRPr lang="el-GR"/>
          </a:p>
        </p:txBody>
      </p:sp>
      <p:sp>
        <p:nvSpPr>
          <p:cNvPr id="4" name="Θέση εικόνας διαφάνειας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l-GR"/>
          </a:p>
        </p:txBody>
      </p:sp>
      <p:sp>
        <p:nvSpPr>
          <p:cNvPr id="5" name="Θέση σημειώσεων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6" name="Θέση υποσέλιδου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l-GR"/>
          </a:p>
        </p:txBody>
      </p:sp>
      <p:sp>
        <p:nvSpPr>
          <p:cNvPr id="7" name="Θέση αριθμού διαφάνειας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14AD9E-71CC-4EBE-BE63-B8ECF9792AEB}" type="slidenum">
              <a:rPr lang="el-GR" smtClean="0"/>
              <a:t>‹#›</a:t>
            </a:fld>
            <a:endParaRPr lang="el-GR"/>
          </a:p>
        </p:txBody>
      </p:sp>
    </p:spTree>
    <p:extLst>
      <p:ext uri="{BB962C8B-B14F-4D97-AF65-F5344CB8AC3E}">
        <p14:creationId xmlns:p14="http://schemas.microsoft.com/office/powerpoint/2010/main" val="33227779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Διαφάνεια τίτλου">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28"/>
            <a:ext cx="9144000" cy="1194650"/>
          </a:xfrm>
        </p:spPr>
        <p:txBody>
          <a:bodyPr wrap="none" anchor="t">
            <a:normAutofit/>
          </a:bodyPr>
          <a:lstStyle>
            <a:lvl1pPr algn="r">
              <a:defRPr sz="7200" b="0" spc="-225">
                <a:gradFill flip="none" rotWithShape="1">
                  <a:gsLst>
                    <a:gs pos="0">
                      <a:schemeClr val="tx1"/>
                    </a:gs>
                    <a:gs pos="68000">
                      <a:srgbClr val="F1F1F1"/>
                    </a:gs>
                    <a:gs pos="100000">
                      <a:schemeClr val="bg1">
                        <a:lumMod val="11000"/>
                        <a:lumOff val="89000"/>
                      </a:schemeClr>
                    </a:gs>
                  </a:gsLst>
                  <a:lin ang="5400000" scaled="1"/>
                  <a:tileRect/>
                </a:gradFill>
                <a:effectLst>
                  <a:outerShdw blurRad="469900" dist="342900" dir="5400000" sy="-20000" rotWithShape="0">
                    <a:prstClr val="black">
                      <a:alpha val="66000"/>
                    </a:prstClr>
                  </a:outerShdw>
                </a:effectLst>
              </a:defRPr>
            </a:lvl1pPr>
          </a:lstStyle>
          <a:p>
            <a:pPr lvl="0" algn="r"/>
            <a:r>
              <a:rPr lang="el-GR"/>
              <a:t>Στυλ κύριου τίτλου</a:t>
            </a:r>
            <a:endParaRPr lang="en-US" dirty="0"/>
          </a:p>
        </p:txBody>
      </p:sp>
      <p:sp>
        <p:nvSpPr>
          <p:cNvPr id="3" name="Subtitle 2"/>
          <p:cNvSpPr>
            <a:spLocks noGrp="1"/>
          </p:cNvSpPr>
          <p:nvPr>
            <p:ph type="subTitle" idx="1"/>
          </p:nvPr>
        </p:nvSpPr>
        <p:spPr>
          <a:xfrm>
            <a:off x="2209799" y="3829879"/>
            <a:ext cx="9144000" cy="618523"/>
          </a:xfrm>
        </p:spPr>
        <p:txBody>
          <a:bodyPr vert="horz" lIns="91440" tIns="45720" rIns="91440" bIns="45720" rtlCol="0" anchor="b">
            <a:normAutofit/>
          </a:bodyPr>
          <a:lstStyle>
            <a:lvl1pPr marL="0" indent="0" algn="r">
              <a:buNone/>
              <a:defRPr sz="24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stStyle>
          <a:p>
            <a:pPr marL="0" lvl="0" indent="0" algn="r">
              <a:buNone/>
            </a:pPr>
            <a:r>
              <a:rPr lang="el-GR"/>
              <a:t>Κάντε κλικ για να επεξεργαστείτε τον υπότιτλο του υποδείγματος</a:t>
            </a:r>
            <a:endParaRPr lang="en-US" dirty="0"/>
          </a:p>
        </p:txBody>
      </p:sp>
      <p:sp>
        <p:nvSpPr>
          <p:cNvPr id="7" name="Date Placeholder 6"/>
          <p:cNvSpPr>
            <a:spLocks noGrp="1"/>
          </p:cNvSpPr>
          <p:nvPr>
            <p:ph type="dt" sz="half" idx="10"/>
          </p:nvPr>
        </p:nvSpPr>
        <p:spPr/>
        <p:txBody>
          <a:bodyPr/>
          <a:lstStyle/>
          <a:p>
            <a:fld id="{5265A868-3806-4CED-AF60-01AC3C617D48}" type="datetime1">
              <a:rPr lang="en-US" smtClean="0">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pPr/>
              <a:t>5/12/2023</a:t>
            </a:fld>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
        <p:nvSpPr>
          <p:cNvPr id="8" name="Footer Placeholder 7"/>
          <p:cNvSpPr>
            <a:spLocks noGrp="1"/>
          </p:cNvSpPr>
          <p:nvPr>
            <p:ph type="ftr" sz="quarter" idx="11"/>
          </p:nvPr>
        </p:nvSpPr>
        <p:spPr/>
        <p:txBody>
          <a:bodyPr/>
          <a:lstStyle/>
          <a:p>
            <a:r>
              <a:rPr lang="el-GR">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t>Ηράκλειο 15.07.15</a:t>
            </a:r>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Tree>
    <p:extLst>
      <p:ext uri="{BB962C8B-B14F-4D97-AF65-F5344CB8AC3E}">
        <p14:creationId xmlns:p14="http://schemas.microsoft.com/office/powerpoint/2010/main" val="2393516581"/>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Τίτλος και περιεχόμενο">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l-GR"/>
              <a:t>Στυλ κύριου τίτλου</a:t>
            </a:r>
            <a:endParaRPr lang="en-US" dirty="0"/>
          </a:p>
        </p:txBody>
      </p:sp>
      <p:sp>
        <p:nvSpPr>
          <p:cNvPr id="3" name="Content Placeholder 2"/>
          <p:cNvSpPr>
            <a:spLocks noGrp="1"/>
          </p:cNvSpPr>
          <p:nvPr>
            <p:ph idx="1"/>
          </p:nvPr>
        </p:nvSpPr>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endParaRPr lang="en-US" dirty="0"/>
          </a:p>
        </p:txBody>
      </p:sp>
      <p:sp>
        <p:nvSpPr>
          <p:cNvPr id="4" name="Date Placeholder 3"/>
          <p:cNvSpPr>
            <a:spLocks noGrp="1"/>
          </p:cNvSpPr>
          <p:nvPr>
            <p:ph type="dt" sz="half" idx="10"/>
          </p:nvPr>
        </p:nvSpPr>
        <p:spPr/>
        <p:txBody>
          <a:bodyPr/>
          <a:lstStyle/>
          <a:p>
            <a:fld id="{5265A868-3806-4CED-AF60-01AC3C617D48}" type="datetime1">
              <a:rPr lang="en-US" smtClean="0">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pPr/>
              <a:t>5/12/2023</a:t>
            </a:fld>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
        <p:nvSpPr>
          <p:cNvPr id="5" name="Footer Placeholder 4"/>
          <p:cNvSpPr>
            <a:spLocks noGrp="1"/>
          </p:cNvSpPr>
          <p:nvPr>
            <p:ph type="ftr" sz="quarter" idx="11"/>
          </p:nvPr>
        </p:nvSpPr>
        <p:spPr/>
        <p:txBody>
          <a:bodyPr/>
          <a:lstStyle/>
          <a:p>
            <a:r>
              <a:rPr lang="el-GR">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t>Ηράκλειο 15.07.15</a:t>
            </a:r>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Tree>
    <p:extLst>
      <p:ext uri="{BB962C8B-B14F-4D97-AF65-F5344CB8AC3E}">
        <p14:creationId xmlns:p14="http://schemas.microsoft.com/office/powerpoint/2010/main" val="2949866448"/>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Κεφαλίδα ενότητας">
    <p:spTree>
      <p:nvGrpSpPr>
        <p:cNvPr id="1" name=""/>
        <p:cNvGrpSpPr/>
        <p:nvPr/>
      </p:nvGrpSpPr>
      <p:grpSpPr>
        <a:xfrm>
          <a:off x="0" y="0"/>
          <a:ext cx="0" cy="0"/>
          <a:chOff x="0" y="0"/>
          <a:chExt cx="0" cy="0"/>
        </a:xfrm>
      </p:grpSpPr>
      <p:sp>
        <p:nvSpPr>
          <p:cNvPr id="7" name="Title 1"/>
          <p:cNvSpPr>
            <a:spLocks noGrp="1"/>
          </p:cNvSpPr>
          <p:nvPr>
            <p:ph type="ctrTitle"/>
          </p:nvPr>
        </p:nvSpPr>
        <p:spPr>
          <a:xfrm>
            <a:off x="854532" y="4464028"/>
            <a:ext cx="9144000" cy="1194650"/>
          </a:xfrm>
        </p:spPr>
        <p:txBody>
          <a:bodyPr wrap="none" anchor="t">
            <a:normAutofit/>
          </a:bodyPr>
          <a:lstStyle>
            <a:lvl1pPr algn="l">
              <a:defRPr sz="7200" b="0" spc="-225">
                <a:gradFill flip="none" rotWithShape="1">
                  <a:gsLst>
                    <a:gs pos="32000">
                      <a:schemeClr val="tx1">
                        <a:lumMod val="89000"/>
                      </a:schemeClr>
                    </a:gs>
                    <a:gs pos="0">
                      <a:schemeClr val="bg1">
                        <a:lumMod val="32000"/>
                        <a:lumOff val="68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l-GR"/>
              <a:t>Στυλ κύριου τίτλου</a:t>
            </a:r>
            <a:endParaRPr lang="en-US" dirty="0"/>
          </a:p>
        </p:txBody>
      </p:sp>
      <p:sp>
        <p:nvSpPr>
          <p:cNvPr id="8" name="Subtitle 2"/>
          <p:cNvSpPr>
            <a:spLocks noGrp="1"/>
          </p:cNvSpPr>
          <p:nvPr>
            <p:ph type="subTitle" idx="1"/>
          </p:nvPr>
        </p:nvSpPr>
        <p:spPr>
          <a:xfrm>
            <a:off x="854532" y="3829878"/>
            <a:ext cx="9144000" cy="617822"/>
          </a:xfrm>
        </p:spPr>
        <p:txBody>
          <a:bodyPr anchor="b">
            <a:normAutofit/>
          </a:bodyPr>
          <a:lstStyle>
            <a:lvl1pPr marL="0" indent="0" algn="l">
              <a:buNone/>
              <a:defRPr sz="24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l-GR"/>
              <a:t>Κάντε κλικ για να επεξεργαστείτε τον υπότιτλο του υποδείγματος</a:t>
            </a:r>
            <a:endParaRPr lang="en-US" dirty="0"/>
          </a:p>
        </p:txBody>
      </p:sp>
      <p:sp>
        <p:nvSpPr>
          <p:cNvPr id="4" name="Date Placeholder 3"/>
          <p:cNvSpPr>
            <a:spLocks noGrp="1"/>
          </p:cNvSpPr>
          <p:nvPr>
            <p:ph type="dt" sz="half" idx="10"/>
          </p:nvPr>
        </p:nvSpPr>
        <p:spPr/>
        <p:txBody>
          <a:bodyPr/>
          <a:lstStyle/>
          <a:p>
            <a:fld id="{5265A868-3806-4CED-AF60-01AC3C617D48}" type="datetime1">
              <a:rPr lang="en-US" smtClean="0">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pPr/>
              <a:t>5/12/2023</a:t>
            </a:fld>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
        <p:nvSpPr>
          <p:cNvPr id="5" name="Footer Placeholder 4"/>
          <p:cNvSpPr>
            <a:spLocks noGrp="1"/>
          </p:cNvSpPr>
          <p:nvPr>
            <p:ph type="ftr" sz="quarter" idx="11"/>
          </p:nvPr>
        </p:nvSpPr>
        <p:spPr/>
        <p:txBody>
          <a:bodyPr/>
          <a:lstStyle/>
          <a:p>
            <a:r>
              <a:rPr lang="el-GR">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t>Ηράκλειο 15.07.15</a:t>
            </a:r>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Tree>
    <p:extLst>
      <p:ext uri="{BB962C8B-B14F-4D97-AF65-F5344CB8AC3E}">
        <p14:creationId xmlns:p14="http://schemas.microsoft.com/office/powerpoint/2010/main" val="2634091695"/>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l-GR"/>
              <a:t>Στυλ κύριου τίτλου</a:t>
            </a:r>
            <a:endParaRPr lang="en-US" dirty="0"/>
          </a:p>
        </p:txBody>
      </p:sp>
      <p:sp>
        <p:nvSpPr>
          <p:cNvPr id="3" name="Content Placeholder 2"/>
          <p:cNvSpPr>
            <a:spLocks noGrp="1"/>
          </p:cNvSpPr>
          <p:nvPr>
            <p:ph sz="half" idx="1"/>
          </p:nvPr>
        </p:nvSpPr>
        <p:spPr>
          <a:xfrm>
            <a:off x="1120000" y="1825625"/>
            <a:ext cx="5025216" cy="4351338"/>
          </a:xfrm>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endParaRPr lang="en-US" dirty="0"/>
          </a:p>
        </p:txBody>
      </p:sp>
      <p:sp>
        <p:nvSpPr>
          <p:cNvPr id="4" name="Content Placeholder 3"/>
          <p:cNvSpPr>
            <a:spLocks noGrp="1"/>
          </p:cNvSpPr>
          <p:nvPr>
            <p:ph sz="half" idx="2"/>
          </p:nvPr>
        </p:nvSpPr>
        <p:spPr>
          <a:xfrm>
            <a:off x="6319840" y="1825625"/>
            <a:ext cx="5033960" cy="4351338"/>
          </a:xfrm>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endParaRPr lang="en-US" dirty="0"/>
          </a:p>
        </p:txBody>
      </p:sp>
      <p:sp>
        <p:nvSpPr>
          <p:cNvPr id="5" name="Date Placeholder 4"/>
          <p:cNvSpPr>
            <a:spLocks noGrp="1"/>
          </p:cNvSpPr>
          <p:nvPr>
            <p:ph type="dt" sz="half" idx="10"/>
          </p:nvPr>
        </p:nvSpPr>
        <p:spPr/>
        <p:txBody>
          <a:bodyPr/>
          <a:lstStyle/>
          <a:p>
            <a:fld id="{5265A868-3806-4CED-AF60-01AC3C617D48}" type="datetime1">
              <a:rPr lang="en-US" smtClean="0">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pPr/>
              <a:t>5/12/2023</a:t>
            </a:fld>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
        <p:nvSpPr>
          <p:cNvPr id="6" name="Footer Placeholder 5"/>
          <p:cNvSpPr>
            <a:spLocks noGrp="1"/>
          </p:cNvSpPr>
          <p:nvPr>
            <p:ph type="ftr" sz="quarter" idx="11"/>
          </p:nvPr>
        </p:nvSpPr>
        <p:spPr/>
        <p:txBody>
          <a:bodyPr/>
          <a:lstStyle/>
          <a:p>
            <a:r>
              <a:rPr lang="el-GR">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t>Ηράκλειο 15.07.15</a:t>
            </a:r>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Tree>
    <p:extLst>
      <p:ext uri="{BB962C8B-B14F-4D97-AF65-F5344CB8AC3E}">
        <p14:creationId xmlns:p14="http://schemas.microsoft.com/office/powerpoint/2010/main" val="1903493450"/>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Σύγκριση">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l-GR"/>
              <a:t>Στυλ κύριου τίτλου</a:t>
            </a:r>
            <a:endParaRPr lang="en-US" dirty="0"/>
          </a:p>
        </p:txBody>
      </p:sp>
      <p:sp>
        <p:nvSpPr>
          <p:cNvPr id="3" name="Text Placeholder 2"/>
          <p:cNvSpPr>
            <a:spLocks noGrp="1"/>
          </p:cNvSpPr>
          <p:nvPr>
            <p:ph type="body" idx="1"/>
          </p:nvPr>
        </p:nvSpPr>
        <p:spPr>
          <a:xfrm>
            <a:off x="1120000" y="1681163"/>
            <a:ext cx="5025216" cy="823912"/>
          </a:xfrm>
        </p:spPr>
        <p:txBody>
          <a:bodyPr anchor="b">
            <a:normAutofit/>
          </a:bodyPr>
          <a:lstStyle>
            <a:lvl1pPr marL="0" indent="0">
              <a:buNone/>
              <a:defRPr sz="20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l-GR"/>
              <a:t>Επεξεργασία στυλ υποδείγματος κειμένου</a:t>
            </a:r>
          </a:p>
        </p:txBody>
      </p:sp>
      <p:sp>
        <p:nvSpPr>
          <p:cNvPr id="4" name="Content Placeholder 3"/>
          <p:cNvSpPr>
            <a:spLocks noGrp="1"/>
          </p:cNvSpPr>
          <p:nvPr>
            <p:ph sz="half" idx="2"/>
          </p:nvPr>
        </p:nvSpPr>
        <p:spPr>
          <a:xfrm>
            <a:off x="1120000" y="2505075"/>
            <a:ext cx="5025216" cy="3684588"/>
          </a:xfrm>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endParaRPr lang="en-US" dirty="0"/>
          </a:p>
        </p:txBody>
      </p:sp>
      <p:sp>
        <p:nvSpPr>
          <p:cNvPr id="5" name="Text Placeholder 4"/>
          <p:cNvSpPr>
            <a:spLocks noGrp="1"/>
          </p:cNvSpPr>
          <p:nvPr>
            <p:ph type="body" sz="quarter" idx="3"/>
          </p:nvPr>
        </p:nvSpPr>
        <p:spPr>
          <a:xfrm>
            <a:off x="6319841" y="1681163"/>
            <a:ext cx="5035548" cy="823912"/>
          </a:xfrm>
        </p:spPr>
        <p:txBody>
          <a:bodyPr vert="horz" lIns="91440" tIns="45720" rIns="91440" bIns="45720" rtlCol="0" anchor="b">
            <a:normAutofit/>
          </a:bodyPr>
          <a:lstStyle>
            <a:lvl1pPr>
              <a:buNone/>
              <a:defRPr lang="en-US" sz="20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l-GR"/>
              <a:t>Επεξεργασία στυλ υποδείγματος κειμένου</a:t>
            </a:r>
          </a:p>
        </p:txBody>
      </p:sp>
      <p:sp>
        <p:nvSpPr>
          <p:cNvPr id="6" name="Content Placeholder 5"/>
          <p:cNvSpPr>
            <a:spLocks noGrp="1"/>
          </p:cNvSpPr>
          <p:nvPr>
            <p:ph sz="quarter" idx="4"/>
          </p:nvPr>
        </p:nvSpPr>
        <p:spPr>
          <a:xfrm>
            <a:off x="6319841" y="2505075"/>
            <a:ext cx="5035548" cy="3684588"/>
          </a:xfrm>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endParaRPr lang="en-US" dirty="0"/>
          </a:p>
        </p:txBody>
      </p:sp>
      <p:sp>
        <p:nvSpPr>
          <p:cNvPr id="7" name="Date Placeholder 6"/>
          <p:cNvSpPr>
            <a:spLocks noGrp="1"/>
          </p:cNvSpPr>
          <p:nvPr>
            <p:ph type="dt" sz="half" idx="10"/>
          </p:nvPr>
        </p:nvSpPr>
        <p:spPr/>
        <p:txBody>
          <a:bodyPr/>
          <a:lstStyle/>
          <a:p>
            <a:fld id="{5265A868-3806-4CED-AF60-01AC3C617D48}" type="datetime1">
              <a:rPr lang="en-US" smtClean="0">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pPr/>
              <a:t>5/12/2023</a:t>
            </a:fld>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
        <p:nvSpPr>
          <p:cNvPr id="8" name="Footer Placeholder 7"/>
          <p:cNvSpPr>
            <a:spLocks noGrp="1"/>
          </p:cNvSpPr>
          <p:nvPr>
            <p:ph type="ftr" sz="quarter" idx="11"/>
          </p:nvPr>
        </p:nvSpPr>
        <p:spPr/>
        <p:txBody>
          <a:bodyPr/>
          <a:lstStyle/>
          <a:p>
            <a:r>
              <a:rPr lang="el-GR">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t>Ηράκλειο 15.07.15</a:t>
            </a:r>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Tree>
    <p:extLst>
      <p:ext uri="{BB962C8B-B14F-4D97-AF65-F5344CB8AC3E}">
        <p14:creationId xmlns:p14="http://schemas.microsoft.com/office/powerpoint/2010/main" val="2094328052"/>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l-GR"/>
              <a:t>Στυλ κύριου τίτλου</a:t>
            </a:r>
            <a:endParaRPr lang="en-US" dirty="0"/>
          </a:p>
        </p:txBody>
      </p:sp>
      <p:sp>
        <p:nvSpPr>
          <p:cNvPr id="3" name="Date Placeholder 2"/>
          <p:cNvSpPr>
            <a:spLocks noGrp="1"/>
          </p:cNvSpPr>
          <p:nvPr>
            <p:ph type="dt" sz="half" idx="10"/>
          </p:nvPr>
        </p:nvSpPr>
        <p:spPr/>
        <p:txBody>
          <a:bodyPr/>
          <a:lstStyle/>
          <a:p>
            <a:fld id="{5265A868-3806-4CED-AF60-01AC3C617D48}" type="datetime1">
              <a:rPr lang="en-US" smtClean="0">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pPr/>
              <a:t>5/12/2023</a:t>
            </a:fld>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
        <p:nvSpPr>
          <p:cNvPr id="4" name="Footer Placeholder 3"/>
          <p:cNvSpPr>
            <a:spLocks noGrp="1"/>
          </p:cNvSpPr>
          <p:nvPr>
            <p:ph type="ftr" sz="quarter" idx="11"/>
          </p:nvPr>
        </p:nvSpPr>
        <p:spPr/>
        <p:txBody>
          <a:bodyPr/>
          <a:lstStyle/>
          <a:p>
            <a:r>
              <a:rPr lang="el-GR">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t>Ηράκλειο 15.07.15</a:t>
            </a:r>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Tree>
    <p:extLst>
      <p:ext uri="{BB962C8B-B14F-4D97-AF65-F5344CB8AC3E}">
        <p14:creationId xmlns:p14="http://schemas.microsoft.com/office/powerpoint/2010/main" val="212445774"/>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Κενό">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265A868-3806-4CED-AF60-01AC3C617D48}" type="datetime1">
              <a:rPr lang="en-US" smtClean="0">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pPr/>
              <a:t>5/12/2023</a:t>
            </a:fld>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
        <p:nvSpPr>
          <p:cNvPr id="3" name="Footer Placeholder 2"/>
          <p:cNvSpPr>
            <a:spLocks noGrp="1"/>
          </p:cNvSpPr>
          <p:nvPr>
            <p:ph type="ftr" sz="quarter" idx="11"/>
          </p:nvPr>
        </p:nvSpPr>
        <p:spPr/>
        <p:txBody>
          <a:bodyPr/>
          <a:lstStyle/>
          <a:p>
            <a:r>
              <a:rPr lang="el-GR">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t>Ηράκλειο 15.07.15</a:t>
            </a:r>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Tree>
    <p:extLst>
      <p:ext uri="{BB962C8B-B14F-4D97-AF65-F5344CB8AC3E}">
        <p14:creationId xmlns:p14="http://schemas.microsoft.com/office/powerpoint/2010/main" val="1936368277"/>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Περιεχόμενο με λεζάντα">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l-GR"/>
              <a:t>Στυλ κύριου τίτλου</a:t>
            </a:r>
            <a:endParaRPr lang="en-US" dirty="0"/>
          </a:p>
        </p:txBody>
      </p:sp>
      <p:sp>
        <p:nvSpPr>
          <p:cNvPr id="3" name="Content Placeholder 2"/>
          <p:cNvSpPr>
            <a:spLocks noGrp="1"/>
          </p:cNvSpPr>
          <p:nvPr>
            <p:ph idx="1"/>
          </p:nvPr>
        </p:nvSpPr>
        <p:spPr>
          <a:xfrm>
            <a:off x="5183188" y="987427"/>
            <a:ext cx="6172200" cy="4873625"/>
          </a:xfrm>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endParaRPr lang="en-US" dirty="0"/>
          </a:p>
        </p:txBody>
      </p:sp>
      <p:sp>
        <p:nvSpPr>
          <p:cNvPr id="4" name="Text Placeholder 3"/>
          <p:cNvSpPr>
            <a:spLocks noGrp="1"/>
          </p:cNvSpPr>
          <p:nvPr>
            <p:ph type="body" sz="half" idx="2"/>
          </p:nvPr>
        </p:nvSpPr>
        <p:spPr>
          <a:xfrm>
            <a:off x="1120001" y="2057400"/>
            <a:ext cx="3652025" cy="3811588"/>
          </a:xfrm>
        </p:spPr>
        <p:txBody>
          <a:bodyPr>
            <a:normAutofit/>
          </a:bodyPr>
          <a:lstStyle>
            <a:lvl1pPr marL="0" indent="0">
              <a:buNone/>
              <a:defRPr sz="14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l-GR"/>
              <a:t>Επεξεργασία στυλ υποδείγματος κειμένου</a:t>
            </a:r>
          </a:p>
        </p:txBody>
      </p:sp>
      <p:sp>
        <p:nvSpPr>
          <p:cNvPr id="5" name="Date Placeholder 4"/>
          <p:cNvSpPr>
            <a:spLocks noGrp="1"/>
          </p:cNvSpPr>
          <p:nvPr>
            <p:ph type="dt" sz="half" idx="10"/>
          </p:nvPr>
        </p:nvSpPr>
        <p:spPr/>
        <p:txBody>
          <a:bodyPr/>
          <a:lstStyle/>
          <a:p>
            <a:fld id="{5265A868-3806-4CED-AF60-01AC3C617D48}" type="datetime1">
              <a:rPr lang="en-US" smtClean="0">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pPr/>
              <a:t>5/12/2023</a:t>
            </a:fld>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
        <p:nvSpPr>
          <p:cNvPr id="6" name="Footer Placeholder 5"/>
          <p:cNvSpPr>
            <a:spLocks noGrp="1"/>
          </p:cNvSpPr>
          <p:nvPr>
            <p:ph type="ftr" sz="quarter" idx="11"/>
          </p:nvPr>
        </p:nvSpPr>
        <p:spPr/>
        <p:txBody>
          <a:bodyPr/>
          <a:lstStyle/>
          <a:p>
            <a:r>
              <a:rPr lang="el-GR">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t>Ηράκλειο 15.07.15</a:t>
            </a:r>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Tree>
    <p:extLst>
      <p:ext uri="{BB962C8B-B14F-4D97-AF65-F5344CB8AC3E}">
        <p14:creationId xmlns:p14="http://schemas.microsoft.com/office/powerpoint/2010/main" val="1134690601"/>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Εικόνα με λεζάντα">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l-GR"/>
              <a:t>Στυλ κύριου τίτλου</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l-GR"/>
              <a:t>Κάντε κλικ στο εικονίδιο για να προσθέσετε εικόνα</a:t>
            </a:r>
            <a:endParaRPr lang="en-US" dirty="0"/>
          </a:p>
        </p:txBody>
      </p:sp>
      <p:sp>
        <p:nvSpPr>
          <p:cNvPr id="4" name="Text Placeholder 3"/>
          <p:cNvSpPr>
            <a:spLocks noGrp="1"/>
          </p:cNvSpPr>
          <p:nvPr>
            <p:ph type="body" sz="half" idx="2"/>
          </p:nvPr>
        </p:nvSpPr>
        <p:spPr>
          <a:xfrm>
            <a:off x="1120001" y="2057400"/>
            <a:ext cx="3652025" cy="3811588"/>
          </a:xfrm>
        </p:spPr>
        <p:txBody>
          <a:bodyPr>
            <a:normAutofit/>
          </a:bodyPr>
          <a:lstStyle>
            <a:lvl1pPr marL="0" indent="0">
              <a:buNone/>
              <a:defRPr sz="14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l-GR"/>
              <a:t>Επεξεργασία στυλ υποδείγματος κειμένου</a:t>
            </a:r>
          </a:p>
        </p:txBody>
      </p:sp>
      <p:sp>
        <p:nvSpPr>
          <p:cNvPr id="5" name="Date Placeholder 4"/>
          <p:cNvSpPr>
            <a:spLocks noGrp="1"/>
          </p:cNvSpPr>
          <p:nvPr>
            <p:ph type="dt" sz="half" idx="10"/>
          </p:nvPr>
        </p:nvSpPr>
        <p:spPr/>
        <p:txBody>
          <a:bodyPr/>
          <a:lstStyle/>
          <a:p>
            <a:fld id="{5265A868-3806-4CED-AF60-01AC3C617D48}" type="datetime1">
              <a:rPr lang="en-US" smtClean="0">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pPr/>
              <a:t>5/12/2023</a:t>
            </a:fld>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
        <p:nvSpPr>
          <p:cNvPr id="6" name="Footer Placeholder 5"/>
          <p:cNvSpPr>
            <a:spLocks noGrp="1"/>
          </p:cNvSpPr>
          <p:nvPr>
            <p:ph type="ftr" sz="quarter" idx="11"/>
          </p:nvPr>
        </p:nvSpPr>
        <p:spPr/>
        <p:txBody>
          <a:bodyPr/>
          <a:lstStyle/>
          <a:p>
            <a:r>
              <a:rPr lang="el-GR">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t>Ηράκλειο 15.07.15</a:t>
            </a:r>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Tree>
    <p:extLst>
      <p:ext uri="{BB962C8B-B14F-4D97-AF65-F5344CB8AC3E}">
        <p14:creationId xmlns:p14="http://schemas.microsoft.com/office/powerpoint/2010/main" val="3844171539"/>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Πανοραμική εικόνα με λεζάντα">
    <p:spTree>
      <p:nvGrpSpPr>
        <p:cNvPr id="1" name=""/>
        <p:cNvGrpSpPr/>
        <p:nvPr/>
      </p:nvGrpSpPr>
      <p:grpSpPr>
        <a:xfrm>
          <a:off x="0" y="0"/>
          <a:ext cx="0" cy="0"/>
          <a:chOff x="0" y="0"/>
          <a:chExt cx="0" cy="0"/>
        </a:xfrm>
      </p:grpSpPr>
      <p:sp>
        <p:nvSpPr>
          <p:cNvPr id="2" name="Title 1"/>
          <p:cNvSpPr>
            <a:spLocks noGrp="1"/>
          </p:cNvSpPr>
          <p:nvPr>
            <p:ph type="title"/>
          </p:nvPr>
        </p:nvSpPr>
        <p:spPr>
          <a:xfrm>
            <a:off x="839788" y="4367162"/>
            <a:ext cx="10515600" cy="819355"/>
          </a:xfrm>
        </p:spPr>
        <p:txBody>
          <a:bodyPr anchor="b"/>
          <a:lstStyle>
            <a:lvl1pPr>
              <a:defRPr sz="2400"/>
            </a:lvl1pPr>
          </a:lstStyle>
          <a:p>
            <a:r>
              <a:rPr lang="el-GR"/>
              <a:t>Στυλ κύριου τίτλου</a:t>
            </a:r>
            <a:endParaRPr lang="en-US" dirty="0"/>
          </a:p>
        </p:txBody>
      </p:sp>
      <p:sp>
        <p:nvSpPr>
          <p:cNvPr id="3" name="Picture Placeholder 2"/>
          <p:cNvSpPr>
            <a:spLocks noGrp="1" noChangeAspect="1"/>
          </p:cNvSpPr>
          <p:nvPr>
            <p:ph type="pic" idx="1"/>
          </p:nvPr>
        </p:nvSpPr>
        <p:spPr>
          <a:xfrm>
            <a:off x="839788" y="987427"/>
            <a:ext cx="10515600" cy="337973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l-GR"/>
              <a:t>Κάντε κλικ στο εικονίδιο για να προσθέσετε εικόνα</a:t>
            </a:r>
            <a:endParaRPr lang="en-US" dirty="0"/>
          </a:p>
        </p:txBody>
      </p:sp>
      <p:sp>
        <p:nvSpPr>
          <p:cNvPr id="4" name="Text Placeholder 3"/>
          <p:cNvSpPr>
            <a:spLocks noGrp="1"/>
          </p:cNvSpPr>
          <p:nvPr>
            <p:ph type="body" sz="half" idx="2"/>
          </p:nvPr>
        </p:nvSpPr>
        <p:spPr>
          <a:xfrm>
            <a:off x="839789" y="5186516"/>
            <a:ext cx="10514012" cy="682472"/>
          </a:xfrm>
        </p:spPr>
        <p:txBody>
          <a:bodyPr/>
          <a:lstStyle>
            <a:lvl1pPr marL="0" indent="0">
              <a:buNone/>
              <a:defRPr sz="12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l-GR"/>
              <a:t>Επεξεργασία στυλ υποδείγματος κειμένου</a:t>
            </a:r>
          </a:p>
        </p:txBody>
      </p:sp>
      <p:sp>
        <p:nvSpPr>
          <p:cNvPr id="5" name="Date Placeholder 4"/>
          <p:cNvSpPr>
            <a:spLocks noGrp="1"/>
          </p:cNvSpPr>
          <p:nvPr>
            <p:ph type="dt" sz="half" idx="10"/>
          </p:nvPr>
        </p:nvSpPr>
        <p:spPr/>
        <p:txBody>
          <a:bodyPr/>
          <a:lstStyle/>
          <a:p>
            <a:fld id="{5265A868-3806-4CED-AF60-01AC3C617D48}" type="datetime1">
              <a:rPr lang="en-US" smtClean="0">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pPr/>
              <a:t>5/12/2023</a:t>
            </a:fld>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
        <p:nvSpPr>
          <p:cNvPr id="6" name="Footer Placeholder 5"/>
          <p:cNvSpPr>
            <a:spLocks noGrp="1"/>
          </p:cNvSpPr>
          <p:nvPr>
            <p:ph type="ftr" sz="quarter" idx="11"/>
          </p:nvPr>
        </p:nvSpPr>
        <p:spPr/>
        <p:txBody>
          <a:bodyPr/>
          <a:lstStyle/>
          <a:p>
            <a:r>
              <a:rPr lang="el-GR">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t>Ηράκλειο 15.07.15</a:t>
            </a:r>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Tree>
    <p:extLst>
      <p:ext uri="{BB962C8B-B14F-4D97-AF65-F5344CB8AC3E}">
        <p14:creationId xmlns:p14="http://schemas.microsoft.com/office/powerpoint/2010/main" val="3996557184"/>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Τίτλος και λεζάντα">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3534344"/>
          </a:xfrm>
        </p:spPr>
        <p:txBody>
          <a:bodyPr anchor="ctr"/>
          <a:lstStyle>
            <a:lvl1pPr>
              <a:defRPr sz="2400"/>
            </a:lvl1pPr>
          </a:lstStyle>
          <a:p>
            <a:r>
              <a:rPr lang="el-GR"/>
              <a:t>Στυλ κύριου τίτλου</a:t>
            </a:r>
            <a:endParaRPr lang="en-US" dirty="0"/>
          </a:p>
        </p:txBody>
      </p:sp>
      <p:sp>
        <p:nvSpPr>
          <p:cNvPr id="4" name="Text Placeholder 3"/>
          <p:cNvSpPr>
            <a:spLocks noGrp="1"/>
          </p:cNvSpPr>
          <p:nvPr>
            <p:ph type="body" sz="half" idx="2"/>
          </p:nvPr>
        </p:nvSpPr>
        <p:spPr>
          <a:xfrm>
            <a:off x="839789" y="4489399"/>
            <a:ext cx="10514012" cy="1501826"/>
          </a:xfrm>
        </p:spPr>
        <p:txBody>
          <a:bodyPr anchor="ct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l-GR"/>
              <a:t>Επεξεργασία στυλ υποδείγματος κειμένου</a:t>
            </a:r>
          </a:p>
        </p:txBody>
      </p:sp>
      <p:sp>
        <p:nvSpPr>
          <p:cNvPr id="5" name="Date Placeholder 4"/>
          <p:cNvSpPr>
            <a:spLocks noGrp="1"/>
          </p:cNvSpPr>
          <p:nvPr>
            <p:ph type="dt" sz="half" idx="10"/>
          </p:nvPr>
        </p:nvSpPr>
        <p:spPr/>
        <p:txBody>
          <a:bodyPr/>
          <a:lstStyle/>
          <a:p>
            <a:fld id="{5265A868-3806-4CED-AF60-01AC3C617D48}" type="datetime1">
              <a:rPr lang="en-US" smtClean="0">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pPr/>
              <a:t>5/12/2023</a:t>
            </a:fld>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
        <p:nvSpPr>
          <p:cNvPr id="6" name="Footer Placeholder 5"/>
          <p:cNvSpPr>
            <a:spLocks noGrp="1"/>
          </p:cNvSpPr>
          <p:nvPr>
            <p:ph type="ftr" sz="quarter" idx="11"/>
          </p:nvPr>
        </p:nvSpPr>
        <p:spPr/>
        <p:txBody>
          <a:bodyPr/>
          <a:lstStyle/>
          <a:p>
            <a:r>
              <a:rPr lang="el-GR">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t>Ηράκλειο 15.07.15</a:t>
            </a:r>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Tree>
    <p:extLst>
      <p:ext uri="{BB962C8B-B14F-4D97-AF65-F5344CB8AC3E}">
        <p14:creationId xmlns:p14="http://schemas.microsoft.com/office/powerpoint/2010/main" val="792261990"/>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Εισαγωγικά με λεζάντα">
    <p:spTree>
      <p:nvGrpSpPr>
        <p:cNvPr id="1" name=""/>
        <p:cNvGrpSpPr/>
        <p:nvPr/>
      </p:nvGrpSpPr>
      <p:grpSpPr>
        <a:xfrm>
          <a:off x="0" y="0"/>
          <a:ext cx="0" cy="0"/>
          <a:chOff x="0" y="0"/>
          <a:chExt cx="0" cy="0"/>
        </a:xfrm>
      </p:grpSpPr>
      <p:sp>
        <p:nvSpPr>
          <p:cNvPr id="2" name="Title 1"/>
          <p:cNvSpPr>
            <a:spLocks noGrp="1"/>
          </p:cNvSpPr>
          <p:nvPr>
            <p:ph type="title"/>
          </p:nvPr>
        </p:nvSpPr>
        <p:spPr>
          <a:xfrm>
            <a:off x="1446212" y="365125"/>
            <a:ext cx="9302752" cy="2992904"/>
          </a:xfrm>
        </p:spPr>
        <p:txBody>
          <a:bodyPr anchor="ctr"/>
          <a:lstStyle>
            <a:lvl1pPr>
              <a:defRPr sz="3300"/>
            </a:lvl1pPr>
          </a:lstStyle>
          <a:p>
            <a:r>
              <a:rPr lang="el-GR"/>
              <a:t>Στυλ κύριου τίτλου</a:t>
            </a:r>
            <a:endParaRPr lang="en-US" dirty="0"/>
          </a:p>
        </p:txBody>
      </p:sp>
      <p:sp>
        <p:nvSpPr>
          <p:cNvPr id="12" name="Text Placeholder 3"/>
          <p:cNvSpPr>
            <a:spLocks noGrp="1"/>
          </p:cNvSpPr>
          <p:nvPr>
            <p:ph type="body" sz="half" idx="13"/>
          </p:nvPr>
        </p:nvSpPr>
        <p:spPr>
          <a:xfrm>
            <a:off x="1720645" y="3365557"/>
            <a:ext cx="8752299" cy="548968"/>
          </a:xfrm>
        </p:spPr>
        <p:txBody>
          <a:bodyPr anchor="t">
            <a:normAutofit/>
          </a:bodyPr>
          <a:lstStyle>
            <a:lvl1pPr marL="0" indent="0">
              <a:buNone/>
              <a:defRPr sz="10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l-GR"/>
              <a:t>Επεξεργασία στυλ υποδείγματος κειμένου</a:t>
            </a:r>
          </a:p>
        </p:txBody>
      </p:sp>
      <p:sp>
        <p:nvSpPr>
          <p:cNvPr id="4" name="Text Placeholder 3"/>
          <p:cNvSpPr>
            <a:spLocks noGrp="1"/>
          </p:cNvSpPr>
          <p:nvPr>
            <p:ph type="body" sz="half" idx="2"/>
          </p:nvPr>
        </p:nvSpPr>
        <p:spPr>
          <a:xfrm>
            <a:off x="838200" y="4501729"/>
            <a:ext cx="10512424" cy="1489496"/>
          </a:xfrm>
        </p:spPr>
        <p:txBody>
          <a:bodyPr anchor="ctr">
            <a:normAutofit/>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l-GR"/>
              <a:t>Επεξεργασία στυλ υποδείγματος κειμένου</a:t>
            </a:r>
          </a:p>
        </p:txBody>
      </p:sp>
      <p:sp>
        <p:nvSpPr>
          <p:cNvPr id="5" name="Date Placeholder 4"/>
          <p:cNvSpPr>
            <a:spLocks noGrp="1"/>
          </p:cNvSpPr>
          <p:nvPr>
            <p:ph type="dt" sz="half" idx="10"/>
          </p:nvPr>
        </p:nvSpPr>
        <p:spPr/>
        <p:txBody>
          <a:bodyPr/>
          <a:lstStyle/>
          <a:p>
            <a:fld id="{5265A868-3806-4CED-AF60-01AC3C617D48}" type="datetime1">
              <a:rPr lang="en-US" smtClean="0">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pPr/>
              <a:t>5/12/2023</a:t>
            </a:fld>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
        <p:nvSpPr>
          <p:cNvPr id="6" name="Footer Placeholder 5"/>
          <p:cNvSpPr>
            <a:spLocks noGrp="1"/>
          </p:cNvSpPr>
          <p:nvPr>
            <p:ph type="ftr" sz="quarter" idx="11"/>
          </p:nvPr>
        </p:nvSpPr>
        <p:spPr/>
        <p:txBody>
          <a:bodyPr/>
          <a:lstStyle/>
          <a:p>
            <a:r>
              <a:rPr lang="el-GR">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t>Ηράκλειο 15.07.15</a:t>
            </a:r>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
        <p:nvSpPr>
          <p:cNvPr id="9" name="TextBox 8"/>
          <p:cNvSpPr txBox="1"/>
          <p:nvPr/>
        </p:nvSpPr>
        <p:spPr>
          <a:xfrm>
            <a:off x="1111044" y="786824"/>
            <a:ext cx="6096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6000" b="0" i="0" u="none" strike="noStrike" kern="1200" cap="all" spc="0" normalizeH="0" baseline="0" noProof="0" dirty="0">
                <a:ln w="3175" cmpd="sng">
                  <a:noFill/>
                </a:ln>
                <a:solidFill>
                  <a:prstClr val="white"/>
                </a:solidFill>
                <a:effectLst/>
                <a:uLnTx/>
                <a:uFillTx/>
                <a:latin typeface="Corbel" panose="020B0503020204020204"/>
                <a:ea typeface="+mn-ea"/>
                <a:cs typeface="+mn-cs"/>
              </a:rPr>
              <a:t>“</a:t>
            </a:r>
          </a:p>
        </p:txBody>
      </p:sp>
      <p:sp>
        <p:nvSpPr>
          <p:cNvPr id="10" name="TextBox 9"/>
          <p:cNvSpPr txBox="1"/>
          <p:nvPr/>
        </p:nvSpPr>
        <p:spPr>
          <a:xfrm>
            <a:off x="10437812" y="2743200"/>
            <a:ext cx="6096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6000" b="0" i="0" u="none" strike="noStrike" kern="1200" cap="all" spc="0" normalizeH="0" baseline="0" noProof="0" dirty="0">
                <a:ln w="3175" cmpd="sng">
                  <a:noFill/>
                </a:ln>
                <a:solidFill>
                  <a:prstClr val="white"/>
                </a:solidFill>
                <a:effectLst/>
                <a:uLnTx/>
                <a:uFillTx/>
                <a:latin typeface="Corbel" panose="020B0503020204020204"/>
                <a:ea typeface="+mn-ea"/>
                <a:cs typeface="+mn-cs"/>
              </a:rPr>
              <a:t>”</a:t>
            </a:r>
          </a:p>
        </p:txBody>
      </p:sp>
    </p:spTree>
    <p:extLst>
      <p:ext uri="{BB962C8B-B14F-4D97-AF65-F5344CB8AC3E}">
        <p14:creationId xmlns:p14="http://schemas.microsoft.com/office/powerpoint/2010/main" val="3953549424"/>
      </p:ext>
    </p:extLst>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Κάρτα ονόματος">
    <p:spTree>
      <p:nvGrpSpPr>
        <p:cNvPr id="1" name=""/>
        <p:cNvGrpSpPr/>
        <p:nvPr/>
      </p:nvGrpSpPr>
      <p:grpSpPr>
        <a:xfrm>
          <a:off x="0" y="0"/>
          <a:ext cx="0" cy="0"/>
          <a:chOff x="0" y="0"/>
          <a:chExt cx="0" cy="0"/>
        </a:xfrm>
      </p:grpSpPr>
      <p:sp>
        <p:nvSpPr>
          <p:cNvPr id="2" name="Title 1"/>
          <p:cNvSpPr>
            <a:spLocks noGrp="1"/>
          </p:cNvSpPr>
          <p:nvPr>
            <p:ph type="title"/>
          </p:nvPr>
        </p:nvSpPr>
        <p:spPr>
          <a:xfrm>
            <a:off x="839788" y="2326969"/>
            <a:ext cx="10515600" cy="2511835"/>
          </a:xfrm>
        </p:spPr>
        <p:txBody>
          <a:bodyPr anchor="b">
            <a:normAutofit/>
          </a:bodyPr>
          <a:lstStyle>
            <a:lvl1pPr>
              <a:defRPr sz="4050"/>
            </a:lvl1pPr>
          </a:lstStyle>
          <a:p>
            <a:r>
              <a:rPr lang="el-GR"/>
              <a:t>Στυλ κύριου τίτλου</a:t>
            </a:r>
            <a:endParaRPr lang="en-US" dirty="0"/>
          </a:p>
        </p:txBody>
      </p:sp>
      <p:sp>
        <p:nvSpPr>
          <p:cNvPr id="4" name="Text Placeholder 3"/>
          <p:cNvSpPr>
            <a:spLocks noGrp="1"/>
          </p:cNvSpPr>
          <p:nvPr>
            <p:ph type="body" sz="half" idx="2"/>
          </p:nvPr>
        </p:nvSpPr>
        <p:spPr>
          <a:xfrm>
            <a:off x="839789" y="4850581"/>
            <a:ext cx="10514012" cy="1140644"/>
          </a:xfrm>
        </p:spPr>
        <p:txBody>
          <a:bodyPr anchor="t"/>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l-GR"/>
              <a:t>Επεξεργασία στυλ υποδείγματος κειμένου</a:t>
            </a:r>
          </a:p>
        </p:txBody>
      </p:sp>
      <p:sp>
        <p:nvSpPr>
          <p:cNvPr id="5" name="Date Placeholder 4"/>
          <p:cNvSpPr>
            <a:spLocks noGrp="1"/>
          </p:cNvSpPr>
          <p:nvPr>
            <p:ph type="dt" sz="half" idx="10"/>
          </p:nvPr>
        </p:nvSpPr>
        <p:spPr/>
        <p:txBody>
          <a:bodyPr/>
          <a:lstStyle/>
          <a:p>
            <a:fld id="{5265A868-3806-4CED-AF60-01AC3C617D48}" type="datetime1">
              <a:rPr lang="en-US" smtClean="0">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pPr/>
              <a:t>5/12/2023</a:t>
            </a:fld>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
        <p:nvSpPr>
          <p:cNvPr id="6" name="Footer Placeholder 5"/>
          <p:cNvSpPr>
            <a:spLocks noGrp="1"/>
          </p:cNvSpPr>
          <p:nvPr>
            <p:ph type="ftr" sz="quarter" idx="11"/>
          </p:nvPr>
        </p:nvSpPr>
        <p:spPr/>
        <p:txBody>
          <a:bodyPr/>
          <a:lstStyle/>
          <a:p>
            <a:r>
              <a:rPr lang="el-GR">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t>Ηράκλειο 15.07.15</a:t>
            </a:r>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Tree>
    <p:extLst>
      <p:ext uri="{BB962C8B-B14F-4D97-AF65-F5344CB8AC3E}">
        <p14:creationId xmlns:p14="http://schemas.microsoft.com/office/powerpoint/2010/main" val="1426623041"/>
      </p:ext>
    </p:extLst>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στήλες">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7"/>
            <a:ext cx="10515600" cy="1325563"/>
          </a:xfrm>
        </p:spPr>
        <p:txBody>
          <a:bodyPr/>
          <a:lstStyle/>
          <a:p>
            <a:r>
              <a:rPr lang="el-GR"/>
              <a:t>Στυλ κύριου τίτλου</a:t>
            </a:r>
            <a:endParaRPr lang="en-US" dirty="0"/>
          </a:p>
        </p:txBody>
      </p:sp>
      <p:sp>
        <p:nvSpPr>
          <p:cNvPr id="7" name="Text Placeholder 2"/>
          <p:cNvSpPr>
            <a:spLocks noGrp="1"/>
          </p:cNvSpPr>
          <p:nvPr>
            <p:ph type="body" idx="1"/>
          </p:nvPr>
        </p:nvSpPr>
        <p:spPr>
          <a:xfrm>
            <a:off x="1337281" y="1885950"/>
            <a:ext cx="2946867" cy="576262"/>
          </a:xfrm>
        </p:spPr>
        <p:txBody>
          <a:bodyPr anchor="b">
            <a:noAutofit/>
          </a:bodyPr>
          <a:lstStyle>
            <a:lvl1pPr marL="0" indent="0">
              <a:buNone/>
              <a:defRPr sz="18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l-GR"/>
              <a:t>Επεξεργασία στυλ υποδείγματος κειμένου</a:t>
            </a:r>
          </a:p>
        </p:txBody>
      </p:sp>
      <p:sp>
        <p:nvSpPr>
          <p:cNvPr id="8" name="Text Placeholder 3"/>
          <p:cNvSpPr>
            <a:spLocks noGrp="1"/>
          </p:cNvSpPr>
          <p:nvPr>
            <p:ph type="body" sz="half" idx="15"/>
          </p:nvPr>
        </p:nvSpPr>
        <p:spPr>
          <a:xfrm>
            <a:off x="1356798" y="2571750"/>
            <a:ext cx="2927351" cy="3589338"/>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l-GR"/>
              <a:t>Επεξεργασία στυλ υποδείγματος κειμένου</a:t>
            </a:r>
          </a:p>
        </p:txBody>
      </p:sp>
      <p:sp>
        <p:nvSpPr>
          <p:cNvPr id="9" name="Text Placeholder 4"/>
          <p:cNvSpPr>
            <a:spLocks noGrp="1"/>
          </p:cNvSpPr>
          <p:nvPr>
            <p:ph type="body" sz="quarter" idx="3"/>
          </p:nvPr>
        </p:nvSpPr>
        <p:spPr>
          <a:xfrm>
            <a:off x="4587996" y="1885950"/>
            <a:ext cx="2936241" cy="576262"/>
          </a:xfrm>
        </p:spPr>
        <p:txBody>
          <a:bodyPr vert="horz" lIns="91440" tIns="45720" rIns="91440" bIns="45720" rtlCol="0" anchor="b">
            <a:noAutofit/>
          </a:bodyPr>
          <a:lstStyle>
            <a:lvl1pPr>
              <a:buNone/>
              <a:defRPr lang="en-US" sz="18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l-GR"/>
              <a:t>Επεξεργασία στυλ υποδείγματος κειμένου</a:t>
            </a:r>
          </a:p>
        </p:txBody>
      </p:sp>
      <p:sp>
        <p:nvSpPr>
          <p:cNvPr id="10" name="Text Placeholder 3"/>
          <p:cNvSpPr>
            <a:spLocks noGrp="1"/>
          </p:cNvSpPr>
          <p:nvPr>
            <p:ph type="body" sz="half" idx="16"/>
          </p:nvPr>
        </p:nvSpPr>
        <p:spPr>
          <a:xfrm>
            <a:off x="4577441" y="2571750"/>
            <a:ext cx="2946795" cy="3589338"/>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l-GR"/>
              <a:t>Επεξεργασία στυλ υποδείγματος κειμένου</a:t>
            </a:r>
          </a:p>
        </p:txBody>
      </p:sp>
      <p:sp>
        <p:nvSpPr>
          <p:cNvPr id="11" name="Text Placeholder 4"/>
          <p:cNvSpPr>
            <a:spLocks noGrp="1"/>
          </p:cNvSpPr>
          <p:nvPr>
            <p:ph type="body" sz="quarter" idx="13"/>
          </p:nvPr>
        </p:nvSpPr>
        <p:spPr>
          <a:xfrm>
            <a:off x="7829037" y="1885950"/>
            <a:ext cx="2932113" cy="576262"/>
          </a:xfrm>
        </p:spPr>
        <p:txBody>
          <a:bodyPr vert="horz" lIns="91440" tIns="45720" rIns="91440" bIns="45720" rtlCol="0" anchor="b">
            <a:noAutofit/>
          </a:bodyPr>
          <a:lstStyle>
            <a:lvl1pPr>
              <a:buNone/>
              <a:defRPr lang="en-US" sz="18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l-GR"/>
              <a:t>Επεξεργασία στυλ υποδείγματος κειμένου</a:t>
            </a:r>
          </a:p>
        </p:txBody>
      </p:sp>
      <p:sp>
        <p:nvSpPr>
          <p:cNvPr id="12" name="Text Placeholder 3"/>
          <p:cNvSpPr>
            <a:spLocks noGrp="1"/>
          </p:cNvSpPr>
          <p:nvPr>
            <p:ph type="body" sz="half" idx="17"/>
          </p:nvPr>
        </p:nvSpPr>
        <p:spPr>
          <a:xfrm>
            <a:off x="7829037" y="2571750"/>
            <a:ext cx="2932113" cy="3589338"/>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l-GR"/>
              <a:t>Επεξεργασία στυλ υποδείγματος κειμένου</a:t>
            </a:r>
          </a:p>
        </p:txBody>
      </p:sp>
      <p:sp>
        <p:nvSpPr>
          <p:cNvPr id="3" name="Date Placeholder 2"/>
          <p:cNvSpPr>
            <a:spLocks noGrp="1"/>
          </p:cNvSpPr>
          <p:nvPr>
            <p:ph type="dt" sz="half" idx="10"/>
          </p:nvPr>
        </p:nvSpPr>
        <p:spPr/>
        <p:txBody>
          <a:bodyPr/>
          <a:lstStyle/>
          <a:p>
            <a:fld id="{5265A868-3806-4CED-AF60-01AC3C617D48}" type="datetime1">
              <a:rPr lang="en-US" smtClean="0">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pPr/>
              <a:t>5/12/2023</a:t>
            </a:fld>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
        <p:nvSpPr>
          <p:cNvPr id="4" name="Footer Placeholder 3"/>
          <p:cNvSpPr>
            <a:spLocks noGrp="1"/>
          </p:cNvSpPr>
          <p:nvPr>
            <p:ph type="ftr" sz="quarter" idx="11"/>
          </p:nvPr>
        </p:nvSpPr>
        <p:spPr/>
        <p:txBody>
          <a:bodyPr/>
          <a:lstStyle/>
          <a:p>
            <a:r>
              <a:rPr lang="el-GR">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t>Ηράκλειο 15.07.15</a:t>
            </a:r>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Tree>
    <p:extLst>
      <p:ext uri="{BB962C8B-B14F-4D97-AF65-F5344CB8AC3E}">
        <p14:creationId xmlns:p14="http://schemas.microsoft.com/office/powerpoint/2010/main" val="3571082463"/>
      </p:ext>
    </p:extLst>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Στήλη 3 εικόνων">
    <p:spTree>
      <p:nvGrpSpPr>
        <p:cNvPr id="1" name=""/>
        <p:cNvGrpSpPr/>
        <p:nvPr/>
      </p:nvGrpSpPr>
      <p:grpSpPr>
        <a:xfrm>
          <a:off x="0" y="0"/>
          <a:ext cx="0" cy="0"/>
          <a:chOff x="0" y="0"/>
          <a:chExt cx="0" cy="0"/>
        </a:xfrm>
      </p:grpSpPr>
      <p:sp>
        <p:nvSpPr>
          <p:cNvPr id="30" name="Title 1"/>
          <p:cNvSpPr>
            <a:spLocks noGrp="1"/>
          </p:cNvSpPr>
          <p:nvPr>
            <p:ph type="title"/>
          </p:nvPr>
        </p:nvSpPr>
        <p:spPr>
          <a:xfrm>
            <a:off x="838200" y="365127"/>
            <a:ext cx="10515600" cy="1325563"/>
          </a:xfrm>
        </p:spPr>
        <p:txBody>
          <a:bodyPr/>
          <a:lstStyle/>
          <a:p>
            <a:r>
              <a:rPr lang="el-GR"/>
              <a:t>Στυλ κύριου τίτλου</a:t>
            </a:r>
            <a:endParaRPr lang="en-US" dirty="0"/>
          </a:p>
        </p:txBody>
      </p:sp>
      <p:sp>
        <p:nvSpPr>
          <p:cNvPr id="19" name="Text Placeholder 2"/>
          <p:cNvSpPr>
            <a:spLocks noGrp="1"/>
          </p:cNvSpPr>
          <p:nvPr>
            <p:ph type="body" idx="1"/>
          </p:nvPr>
        </p:nvSpPr>
        <p:spPr>
          <a:xfrm>
            <a:off x="1332085" y="4297503"/>
            <a:ext cx="2940051" cy="576262"/>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l-GR"/>
              <a:t>Επεξεργασία στυλ υποδείγματος κειμένου</a:t>
            </a:r>
          </a:p>
        </p:txBody>
      </p:sp>
      <p:sp>
        <p:nvSpPr>
          <p:cNvPr id="20" name="Picture Placeholder 2"/>
          <p:cNvSpPr>
            <a:spLocks noGrp="1" noChangeAspect="1"/>
          </p:cNvSpPr>
          <p:nvPr>
            <p:ph type="pic" idx="15"/>
          </p:nvPr>
        </p:nvSpPr>
        <p:spPr>
          <a:xfrm>
            <a:off x="1332085" y="2256354"/>
            <a:ext cx="2940051"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l-GR"/>
              <a:t>Κάντε κλικ στο εικονίδιο για να προσθέσετε εικόνα</a:t>
            </a:r>
            <a:endParaRPr lang="en-US" dirty="0"/>
          </a:p>
        </p:txBody>
      </p:sp>
      <p:sp>
        <p:nvSpPr>
          <p:cNvPr id="21" name="Text Placeholder 3"/>
          <p:cNvSpPr>
            <a:spLocks noGrp="1"/>
          </p:cNvSpPr>
          <p:nvPr>
            <p:ph type="body" sz="half" idx="18"/>
          </p:nvPr>
        </p:nvSpPr>
        <p:spPr>
          <a:xfrm>
            <a:off x="1332085" y="4873767"/>
            <a:ext cx="2940051" cy="65918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l-GR"/>
              <a:t>Επεξεργασία στυλ υποδείγματος κειμένου</a:t>
            </a:r>
          </a:p>
        </p:txBody>
      </p:sp>
      <p:sp>
        <p:nvSpPr>
          <p:cNvPr id="22" name="Text Placeholder 4"/>
          <p:cNvSpPr>
            <a:spLocks noGrp="1"/>
          </p:cNvSpPr>
          <p:nvPr>
            <p:ph type="body" sz="quarter" idx="3"/>
          </p:nvPr>
        </p:nvSpPr>
        <p:spPr>
          <a:xfrm>
            <a:off x="4568998" y="4297503"/>
            <a:ext cx="2930525" cy="576262"/>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l-GR"/>
              <a:t>Επεξεργασία στυλ υποδείγματος κειμένου</a:t>
            </a:r>
          </a:p>
        </p:txBody>
      </p:sp>
      <p:sp>
        <p:nvSpPr>
          <p:cNvPr id="23" name="Picture Placeholder 2"/>
          <p:cNvSpPr>
            <a:spLocks noGrp="1" noChangeAspect="1"/>
          </p:cNvSpPr>
          <p:nvPr>
            <p:ph type="pic" idx="21"/>
          </p:nvPr>
        </p:nvSpPr>
        <p:spPr>
          <a:xfrm>
            <a:off x="4568996" y="2256354"/>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l-GR"/>
              <a:t>Κάντε κλικ στο εικονίδιο για να προσθέσετε εικόνα</a:t>
            </a:r>
            <a:endParaRPr lang="en-US" dirty="0"/>
          </a:p>
        </p:txBody>
      </p:sp>
      <p:sp>
        <p:nvSpPr>
          <p:cNvPr id="24" name="Text Placeholder 3"/>
          <p:cNvSpPr>
            <a:spLocks noGrp="1"/>
          </p:cNvSpPr>
          <p:nvPr>
            <p:ph type="body" sz="half" idx="19"/>
          </p:nvPr>
        </p:nvSpPr>
        <p:spPr>
          <a:xfrm>
            <a:off x="4567645" y="4873766"/>
            <a:ext cx="2934407" cy="65918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l-GR"/>
              <a:t>Επεξεργασία στυλ υποδείγματος κειμένου</a:t>
            </a:r>
          </a:p>
        </p:txBody>
      </p:sp>
      <p:sp>
        <p:nvSpPr>
          <p:cNvPr id="25" name="Text Placeholder 4"/>
          <p:cNvSpPr>
            <a:spLocks noGrp="1"/>
          </p:cNvSpPr>
          <p:nvPr>
            <p:ph type="body" sz="quarter" idx="13"/>
          </p:nvPr>
        </p:nvSpPr>
        <p:spPr>
          <a:xfrm>
            <a:off x="7804324" y="4297503"/>
            <a:ext cx="2932113" cy="576262"/>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l-GR"/>
              <a:t>Επεξεργασία στυλ υποδείγματος κειμένου</a:t>
            </a:r>
          </a:p>
        </p:txBody>
      </p:sp>
      <p:sp>
        <p:nvSpPr>
          <p:cNvPr id="26" name="Picture Placeholder 2"/>
          <p:cNvSpPr>
            <a:spLocks noGrp="1" noChangeAspect="1"/>
          </p:cNvSpPr>
          <p:nvPr>
            <p:ph type="pic" idx="22"/>
          </p:nvPr>
        </p:nvSpPr>
        <p:spPr>
          <a:xfrm>
            <a:off x="7804322" y="2256354"/>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l-GR"/>
              <a:t>Κάντε κλικ στο εικονίδιο για να προσθέσετε εικόνα</a:t>
            </a:r>
            <a:endParaRPr lang="en-US" dirty="0"/>
          </a:p>
        </p:txBody>
      </p:sp>
      <p:sp>
        <p:nvSpPr>
          <p:cNvPr id="27" name="Text Placeholder 3"/>
          <p:cNvSpPr>
            <a:spLocks noGrp="1"/>
          </p:cNvSpPr>
          <p:nvPr>
            <p:ph type="body" sz="half" idx="20"/>
          </p:nvPr>
        </p:nvSpPr>
        <p:spPr>
          <a:xfrm>
            <a:off x="7804198" y="4873764"/>
            <a:ext cx="2935997" cy="65918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l-GR"/>
              <a:t>Επεξεργασία στυλ υποδείγματος κειμένου</a:t>
            </a:r>
          </a:p>
        </p:txBody>
      </p:sp>
      <p:sp>
        <p:nvSpPr>
          <p:cNvPr id="3" name="Date Placeholder 2"/>
          <p:cNvSpPr>
            <a:spLocks noGrp="1"/>
          </p:cNvSpPr>
          <p:nvPr>
            <p:ph type="dt" sz="half" idx="10"/>
          </p:nvPr>
        </p:nvSpPr>
        <p:spPr/>
        <p:txBody>
          <a:bodyPr/>
          <a:lstStyle/>
          <a:p>
            <a:fld id="{5265A868-3806-4CED-AF60-01AC3C617D48}" type="datetime1">
              <a:rPr lang="en-US" smtClean="0">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pPr/>
              <a:t>5/12/2023</a:t>
            </a:fld>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
        <p:nvSpPr>
          <p:cNvPr id="4" name="Footer Placeholder 3"/>
          <p:cNvSpPr>
            <a:spLocks noGrp="1"/>
          </p:cNvSpPr>
          <p:nvPr>
            <p:ph type="ftr" sz="quarter" idx="11"/>
          </p:nvPr>
        </p:nvSpPr>
        <p:spPr/>
        <p:txBody>
          <a:bodyPr/>
          <a:lstStyle/>
          <a:p>
            <a:r>
              <a:rPr lang="el-GR">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t>Ηράκλειο 15.07.15</a:t>
            </a:r>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Tree>
    <p:extLst>
      <p:ext uri="{BB962C8B-B14F-4D97-AF65-F5344CB8AC3E}">
        <p14:creationId xmlns:p14="http://schemas.microsoft.com/office/powerpoint/2010/main" val="3825948972"/>
      </p:ext>
    </p:extLst>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l-GR"/>
              <a:t>Στυλ κύριου τίτλου</a:t>
            </a:r>
            <a:endParaRPr lang="en-US" dirty="0"/>
          </a:p>
        </p:txBody>
      </p:sp>
      <p:sp>
        <p:nvSpPr>
          <p:cNvPr id="3" name="Vertical Text Placeholder 2"/>
          <p:cNvSpPr>
            <a:spLocks noGrp="1"/>
          </p:cNvSpPr>
          <p:nvPr>
            <p:ph type="body" orient="vert" idx="1"/>
          </p:nvPr>
        </p:nvSpPr>
        <p:spPr/>
        <p:txBody>
          <a:bodyPr vert="eaVert"/>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endParaRPr lang="en-US" dirty="0"/>
          </a:p>
        </p:txBody>
      </p:sp>
      <p:sp>
        <p:nvSpPr>
          <p:cNvPr id="4" name="Date Placeholder 3"/>
          <p:cNvSpPr>
            <a:spLocks noGrp="1"/>
          </p:cNvSpPr>
          <p:nvPr>
            <p:ph type="dt" sz="half" idx="10"/>
          </p:nvPr>
        </p:nvSpPr>
        <p:spPr/>
        <p:txBody>
          <a:bodyPr/>
          <a:lstStyle/>
          <a:p>
            <a:fld id="{5265A868-3806-4CED-AF60-01AC3C617D48}" type="datetime1">
              <a:rPr lang="en-US" smtClean="0">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pPr/>
              <a:t>5/12/2023</a:t>
            </a:fld>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
        <p:nvSpPr>
          <p:cNvPr id="5" name="Footer Placeholder 4"/>
          <p:cNvSpPr>
            <a:spLocks noGrp="1"/>
          </p:cNvSpPr>
          <p:nvPr>
            <p:ph type="ftr" sz="quarter" idx="11"/>
          </p:nvPr>
        </p:nvSpPr>
        <p:spPr/>
        <p:txBody>
          <a:bodyPr/>
          <a:lstStyle/>
          <a:p>
            <a:r>
              <a:rPr lang="el-GR">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t>Ηράκλειο 15.07.15</a:t>
            </a:r>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Tree>
    <p:extLst>
      <p:ext uri="{BB962C8B-B14F-4D97-AF65-F5344CB8AC3E}">
        <p14:creationId xmlns:p14="http://schemas.microsoft.com/office/powerpoint/2010/main" val="3974920565"/>
      </p:ext>
    </p:extLst>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Κατακόρυφος τίτλος και Κείμενο">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l-GR"/>
              <a:t>Στυλ κύριου τίτλου</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endParaRPr lang="en-US" dirty="0"/>
          </a:p>
        </p:txBody>
      </p:sp>
      <p:sp>
        <p:nvSpPr>
          <p:cNvPr id="4" name="Date Placeholder 3"/>
          <p:cNvSpPr>
            <a:spLocks noGrp="1"/>
          </p:cNvSpPr>
          <p:nvPr>
            <p:ph type="dt" sz="half" idx="10"/>
          </p:nvPr>
        </p:nvSpPr>
        <p:spPr/>
        <p:txBody>
          <a:bodyPr/>
          <a:lstStyle/>
          <a:p>
            <a:fld id="{5265A868-3806-4CED-AF60-01AC3C617D48}" type="datetime1">
              <a:rPr lang="en-US" smtClean="0">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pPr/>
              <a:t>5/12/2023</a:t>
            </a:fld>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
        <p:nvSpPr>
          <p:cNvPr id="5" name="Footer Placeholder 4"/>
          <p:cNvSpPr>
            <a:spLocks noGrp="1"/>
          </p:cNvSpPr>
          <p:nvPr>
            <p:ph type="ftr" sz="quarter" idx="11"/>
          </p:nvPr>
        </p:nvSpPr>
        <p:spPr/>
        <p:txBody>
          <a:bodyPr/>
          <a:lstStyle/>
          <a:p>
            <a:r>
              <a:rPr lang="el-GR">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t>Ηράκλειο 15.07.15</a:t>
            </a:r>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Tree>
    <p:extLst>
      <p:ext uri="{BB962C8B-B14F-4D97-AF65-F5344CB8AC3E}">
        <p14:creationId xmlns:p14="http://schemas.microsoft.com/office/powerpoint/2010/main" val="3862663358"/>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l-GR"/>
              <a:t>Στυλ κύριου τίτλου</a:t>
            </a:r>
            <a:endParaRPr lang="en-US" dirty="0"/>
          </a:p>
        </p:txBody>
      </p:sp>
      <p:sp>
        <p:nvSpPr>
          <p:cNvPr id="3" name="Text Placeholder 2"/>
          <p:cNvSpPr>
            <a:spLocks noGrp="1"/>
          </p:cNvSpPr>
          <p:nvPr>
            <p:ph type="body" idx="1"/>
          </p:nvPr>
        </p:nvSpPr>
        <p:spPr>
          <a:xfrm>
            <a:off x="1120000" y="1825625"/>
            <a:ext cx="10233800" cy="4351338"/>
          </a:xfrm>
          <a:prstGeom prst="rect">
            <a:avLst/>
          </a:prstGeom>
        </p:spPr>
        <p:txBody>
          <a:bodyPr vert="horz" lIns="91440" tIns="45720" rIns="91440" bIns="45720" rtlCol="0">
            <a:normAutofit/>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5265A868-3806-4CED-AF60-01AC3C617D48}" type="datetime1">
              <a:rPr lang="en-US" smtClean="0">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pPr/>
              <a:t>5/12/2023</a:t>
            </a:fld>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r>
              <a:rPr lang="el-GR">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t>Ηράκλειο 15.07.15</a:t>
            </a:r>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B6F15528-21DE-4FAA-801E-634DDDAF4B2B}" type="slidenum">
              <a:rPr lang="en-US" smtClean="0">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Tree>
    <p:extLst>
      <p:ext uri="{BB962C8B-B14F-4D97-AF65-F5344CB8AC3E}">
        <p14:creationId xmlns:p14="http://schemas.microsoft.com/office/powerpoint/2010/main" val="296051564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hdr="0" dt="0"/>
  <p:txStyles>
    <p:titleStyle>
      <a:lvl1pPr algn="l" defTabSz="685800" rtl="0" eaLnBrk="1" latinLnBrk="0" hangingPunct="1">
        <a:lnSpc>
          <a:spcPct val="90000"/>
        </a:lnSpc>
        <a:spcBef>
          <a:spcPct val="0"/>
        </a:spcBef>
        <a:buNone/>
        <a:defRPr sz="4400" b="0" kern="1200">
          <a:gradFill flip="none" rotWithShape="1">
            <a:gsLst>
              <a:gs pos="28000">
                <a:schemeClr val="tx1">
                  <a:lumMod val="93000"/>
                </a:schemeClr>
              </a:gs>
              <a:gs pos="0">
                <a:schemeClr val="bg1">
                  <a:lumMod val="13000"/>
                  <a:lumOff val="87000"/>
                </a:schemeClr>
              </a:gs>
              <a:gs pos="100000">
                <a:schemeClr val="tx2">
                  <a:lumMod val="0"/>
                  <a:lumOff val="100000"/>
                </a:schemeClr>
              </a:gs>
            </a:gsLst>
            <a:lin ang="4800000" scaled="0"/>
            <a:tileRect/>
          </a:gra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400" kern="1200">
          <a:gradFill>
            <a:gsLst>
              <a:gs pos="34000">
                <a:schemeClr val="tx1">
                  <a:lumMod val="93000"/>
                </a:schemeClr>
              </a:gs>
              <a:gs pos="0">
                <a:schemeClr val="bg1">
                  <a:lumMod val="13000"/>
                  <a:lumOff val="87000"/>
                </a:schemeClr>
              </a:gs>
              <a:gs pos="100000">
                <a:schemeClr val="tx2">
                  <a:lumMod val="0"/>
                  <a:lumOff val="100000"/>
                </a:schemeClr>
              </a:gs>
            </a:gsLst>
            <a:lin ang="4800000" scaled="0"/>
          </a:gra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000" kern="1200">
          <a:gradFill>
            <a:gsLst>
              <a:gs pos="34000">
                <a:schemeClr val="tx1">
                  <a:lumMod val="93000"/>
                </a:schemeClr>
              </a:gs>
              <a:gs pos="0">
                <a:schemeClr val="bg1">
                  <a:lumMod val="13000"/>
                  <a:lumOff val="87000"/>
                </a:schemeClr>
              </a:gs>
              <a:gs pos="100000">
                <a:schemeClr val="tx2">
                  <a:lumMod val="0"/>
                  <a:lumOff val="100000"/>
                </a:schemeClr>
              </a:gs>
            </a:gsLst>
            <a:lin ang="4800000" scaled="0"/>
          </a:gra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600" kern="1200">
          <a:gradFill>
            <a:gsLst>
              <a:gs pos="34000">
                <a:schemeClr val="tx1">
                  <a:lumMod val="93000"/>
                </a:schemeClr>
              </a:gs>
              <a:gs pos="0">
                <a:schemeClr val="bg1">
                  <a:lumMod val="13000"/>
                  <a:lumOff val="87000"/>
                </a:schemeClr>
              </a:gs>
              <a:gs pos="100000">
                <a:schemeClr val="tx2">
                  <a:lumMod val="0"/>
                  <a:lumOff val="100000"/>
                </a:schemeClr>
              </a:gs>
            </a:gsLst>
            <a:lin ang="4800000" scaled="0"/>
          </a:gra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gradFill>
            <a:gsLst>
              <a:gs pos="34000">
                <a:schemeClr val="tx1">
                  <a:lumMod val="93000"/>
                </a:schemeClr>
              </a:gs>
              <a:gs pos="0">
                <a:schemeClr val="bg1">
                  <a:lumMod val="13000"/>
                  <a:lumOff val="87000"/>
                </a:schemeClr>
              </a:gs>
              <a:gs pos="100000">
                <a:schemeClr val="tx2">
                  <a:lumMod val="0"/>
                  <a:lumOff val="100000"/>
                </a:schemeClr>
              </a:gs>
            </a:gsLst>
            <a:lin ang="4800000" scaled="0"/>
          </a:gra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gradFill>
            <a:gsLst>
              <a:gs pos="34000">
                <a:schemeClr val="tx1">
                  <a:lumMod val="93000"/>
                </a:schemeClr>
              </a:gs>
              <a:gs pos="0">
                <a:schemeClr val="bg1">
                  <a:lumMod val="13000"/>
                  <a:lumOff val="87000"/>
                </a:schemeClr>
              </a:gs>
              <a:gs pos="100000">
                <a:schemeClr val="tx2">
                  <a:lumMod val="0"/>
                  <a:lumOff val="100000"/>
                </a:schemeClr>
              </a:gs>
            </a:gsLst>
            <a:lin ang="4800000" scaled="0"/>
          </a:gra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B6F15528-21DE-4FAA-801E-634DDDAF4B2B}" type="slidenum">
              <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latin typeface="Corbel" panose="020B0503020204020204"/>
              </a:rPr>
              <a:pPr/>
              <a:t>1</a:t>
            </a:fld>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latin typeface="Corbel" panose="020B0503020204020204"/>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8933" y="1258889"/>
            <a:ext cx="5327442" cy="53215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Ορθογώνιο 1"/>
          <p:cNvSpPr/>
          <p:nvPr/>
        </p:nvSpPr>
        <p:spPr>
          <a:xfrm>
            <a:off x="3248933" y="2291743"/>
            <a:ext cx="5327442" cy="1754326"/>
          </a:xfrm>
          <a:prstGeom prst="rect">
            <a:avLst/>
          </a:prstGeom>
        </p:spPr>
        <p:txBody>
          <a:bodyPr wrap="square">
            <a:spAutoFit/>
          </a:bodyPr>
          <a:lstStyle/>
          <a:p>
            <a:pPr algn="ctr"/>
            <a:endParaRPr lang="el-GR" dirty="0"/>
          </a:p>
          <a:p>
            <a:pPr algn="ctr"/>
            <a:r>
              <a:rPr lang="el-GR" dirty="0"/>
              <a:t>Δίκτυα LoRaWAN </a:t>
            </a:r>
          </a:p>
          <a:p>
            <a:pPr algn="ctr"/>
            <a:endParaRPr lang="el-GR" dirty="0"/>
          </a:p>
          <a:p>
            <a:pPr algn="ctr"/>
            <a:endParaRPr lang="el-GR" dirty="0"/>
          </a:p>
          <a:p>
            <a:pPr algn="ctr"/>
            <a:endParaRPr lang="el-GR" dirty="0"/>
          </a:p>
          <a:p>
            <a:pPr algn="ctr"/>
            <a:endParaRPr lang="el-GR" dirty="0"/>
          </a:p>
        </p:txBody>
      </p:sp>
      <p:sp>
        <p:nvSpPr>
          <p:cNvPr id="6" name="Ορθογώνιο 5"/>
          <p:cNvSpPr/>
          <p:nvPr/>
        </p:nvSpPr>
        <p:spPr>
          <a:xfrm>
            <a:off x="326571" y="111424"/>
            <a:ext cx="11585122" cy="646331"/>
          </a:xfrm>
          <a:prstGeom prst="rect">
            <a:avLst/>
          </a:prstGeom>
        </p:spPr>
        <p:txBody>
          <a:bodyPr wrap="square">
            <a:spAutoFit/>
          </a:bodyPr>
          <a:lstStyle/>
          <a:p>
            <a:pPr algn="ctr"/>
            <a:r>
              <a:rPr lang="el-GR" dirty="0"/>
              <a:t>ΠΡΟΓΡΑΜΜΑ ΜΕΤΑΠΤΥΧΙΑΚΩΝ ΣΠΟΥΔΩΝ</a:t>
            </a:r>
          </a:p>
          <a:p>
            <a:pPr algn="ctr"/>
            <a:r>
              <a:rPr lang="en-US" dirty="0"/>
              <a:t>INFORMATICS ENGINEERING</a:t>
            </a:r>
            <a:endParaRPr lang="el-GR" dirty="0"/>
          </a:p>
        </p:txBody>
      </p:sp>
    </p:spTree>
    <p:extLst>
      <p:ext uri="{BB962C8B-B14F-4D97-AF65-F5344CB8AC3E}">
        <p14:creationId xmlns:p14="http://schemas.microsoft.com/office/powerpoint/2010/main" val="37940941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Θέση αριθμού διαφάνειας 2"/>
          <p:cNvSpPr>
            <a:spLocks noGrp="1"/>
          </p:cNvSpPr>
          <p:nvPr>
            <p:ph type="sldNum" sz="quarter" idx="12"/>
          </p:nvPr>
        </p:nvSpPr>
        <p:spPr/>
        <p:txBody>
          <a:bodyPr/>
          <a:lstStyle/>
          <a:p>
            <a:fld id="{B6F15528-21DE-4FAA-801E-634DDDAF4B2B}" type="slidenum">
              <a:rPr lang="en-US" smtClean="0">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pPr/>
              <a:t>2</a:t>
            </a:fld>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
        <p:nvSpPr>
          <p:cNvPr id="4" name="Πίτα 3"/>
          <p:cNvSpPr/>
          <p:nvPr/>
        </p:nvSpPr>
        <p:spPr>
          <a:xfrm>
            <a:off x="8410545" y="93859"/>
            <a:ext cx="400109" cy="400109"/>
          </a:xfrm>
          <a:prstGeom prst="pie">
            <a:avLst>
              <a:gd name="adj1" fmla="val 5400000"/>
              <a:gd name="adj2" fmla="val 1620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grpSp>
        <p:nvGrpSpPr>
          <p:cNvPr id="5" name="Ομάδα 4"/>
          <p:cNvGrpSpPr/>
          <p:nvPr/>
        </p:nvGrpSpPr>
        <p:grpSpPr>
          <a:xfrm>
            <a:off x="8610600" y="93859"/>
            <a:ext cx="3533745" cy="400109"/>
            <a:chOff x="200055" y="0"/>
            <a:chExt cx="3533745" cy="400109"/>
          </a:xfrm>
        </p:grpSpPr>
        <p:sp>
          <p:nvSpPr>
            <p:cNvPr id="6" name="Ορθογώνιο 5"/>
            <p:cNvSpPr/>
            <p:nvPr/>
          </p:nvSpPr>
          <p:spPr>
            <a:xfrm>
              <a:off x="200055" y="0"/>
              <a:ext cx="3533745" cy="400109"/>
            </a:xfrm>
            <a:prstGeom prst="rect">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7" name="TextBox 6"/>
            <p:cNvSpPr txBox="1"/>
            <p:nvPr/>
          </p:nvSpPr>
          <p:spPr>
            <a:xfrm>
              <a:off x="200055" y="0"/>
              <a:ext cx="3533745" cy="40010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8580" tIns="68580" rIns="68580" bIns="68580" numCol="1" spcCol="1270" anchor="ctr" anchorCtr="0">
              <a:noAutofit/>
            </a:bodyPr>
            <a:lstStyle/>
            <a:p>
              <a:r>
                <a:rPr lang="el-GR" b="1" dirty="0"/>
                <a:t>Διαμόρφωση </a:t>
              </a:r>
              <a:r>
                <a:rPr lang="en-US" b="1" dirty="0" err="1"/>
                <a:t>LoRa</a:t>
              </a:r>
              <a:endParaRPr lang="el-GR" b="1" dirty="0"/>
            </a:p>
          </p:txBody>
        </p:sp>
      </p:grpSp>
      <p:sp>
        <p:nvSpPr>
          <p:cNvPr id="8" name="Ορθογώνιο 7"/>
          <p:cNvSpPr/>
          <p:nvPr/>
        </p:nvSpPr>
        <p:spPr>
          <a:xfrm>
            <a:off x="302533" y="749328"/>
            <a:ext cx="11297283" cy="5632311"/>
          </a:xfrm>
          <a:prstGeom prst="rect">
            <a:avLst/>
          </a:prstGeom>
        </p:spPr>
        <p:txBody>
          <a:bodyPr wrap="square">
            <a:spAutoFit/>
          </a:bodyPr>
          <a:lstStyle/>
          <a:p>
            <a:pPr algn="just"/>
            <a:r>
              <a:rPr lang="el-GR" dirty="0"/>
              <a:t>Η τεχνολογία </a:t>
            </a:r>
            <a:r>
              <a:rPr lang="el-GR" dirty="0" err="1"/>
              <a:t>LoRa</a:t>
            </a:r>
            <a:r>
              <a:rPr lang="el-GR" dirty="0"/>
              <a:t> βασίζεται στη </a:t>
            </a:r>
            <a:r>
              <a:rPr lang="el-GR" b="1" dirty="0"/>
              <a:t>Διαμόρφωση Διασποράς Φάσματος </a:t>
            </a:r>
            <a:r>
              <a:rPr lang="el-GR" dirty="0"/>
              <a:t>(</a:t>
            </a:r>
            <a:r>
              <a:rPr lang="el-GR" dirty="0" err="1"/>
              <a:t>Chirp</a:t>
            </a:r>
            <a:r>
              <a:rPr lang="el-GR" dirty="0"/>
              <a:t> </a:t>
            </a:r>
            <a:r>
              <a:rPr lang="el-GR" dirty="0" err="1"/>
              <a:t>Spread</a:t>
            </a:r>
            <a:r>
              <a:rPr lang="el-GR" dirty="0"/>
              <a:t> </a:t>
            </a:r>
            <a:r>
              <a:rPr lang="el-GR" dirty="0" err="1"/>
              <a:t>Spectrum</a:t>
            </a:r>
            <a:r>
              <a:rPr lang="el-GR" dirty="0"/>
              <a:t> CSS), τεχνική που αναπτύχθηκε από την εταιρεία </a:t>
            </a:r>
            <a:r>
              <a:rPr lang="el-GR" dirty="0" err="1"/>
              <a:t>Semtech</a:t>
            </a:r>
            <a:r>
              <a:rPr lang="el-GR" dirty="0"/>
              <a:t> και στην οποία κατοχυρώθηκε με δίπλωμα ευρεσιτεχνίας.</a:t>
            </a:r>
          </a:p>
          <a:p>
            <a:pPr marL="285750" indent="-285750" algn="just">
              <a:buFont typeface="Arial" panose="020B0604020202020204" pitchFamily="34" charset="0"/>
              <a:buChar char="•"/>
            </a:pPr>
            <a:r>
              <a:rPr lang="el-GR" dirty="0"/>
              <a:t>Δεν υπάρχει σαφής περιγραφή της τεχνικής διαμόρφωσης που χρησιμοποιείται παρά κάποιες πληροφορίες που ανακτώνται από αναφορές σε έγγραφα της </a:t>
            </a:r>
            <a:r>
              <a:rPr lang="el-GR" dirty="0" err="1"/>
              <a:t>Semtech</a:t>
            </a:r>
            <a:r>
              <a:rPr lang="el-GR" dirty="0"/>
              <a:t> και της </a:t>
            </a:r>
            <a:r>
              <a:rPr lang="el-GR" dirty="0" err="1"/>
              <a:t>LoRa</a:t>
            </a:r>
            <a:r>
              <a:rPr lang="el-GR" dirty="0"/>
              <a:t> </a:t>
            </a:r>
            <a:r>
              <a:rPr lang="el-GR" dirty="0" err="1"/>
              <a:t>Alliance</a:t>
            </a:r>
            <a:r>
              <a:rPr lang="el-GR" dirty="0"/>
              <a:t>.</a:t>
            </a:r>
          </a:p>
          <a:p>
            <a:pPr marL="285750" indent="-285750" algn="just">
              <a:buFont typeface="Arial" panose="020B0604020202020204" pitchFamily="34" charset="0"/>
              <a:buChar char="•"/>
            </a:pPr>
            <a:r>
              <a:rPr lang="el-GR" dirty="0"/>
              <a:t>Διάφοροι ερευνητές έχουν μελετήσει και αποκρυπτογραφήσει αυτή τη τεχνολογία διαμόρφωσης και έχουν γραφεί αναλύσεις που αναπληρώνουν το κενό αυτό στη τεκμηρίωση. </a:t>
            </a:r>
          </a:p>
          <a:p>
            <a:pPr algn="just"/>
            <a:endParaRPr lang="el-GR" b="1" dirty="0"/>
          </a:p>
          <a:p>
            <a:pPr algn="just"/>
            <a:r>
              <a:rPr lang="el-GR" b="1" dirty="0"/>
              <a:t>Η υλοποίηση της διασποράς φάσματος στο </a:t>
            </a:r>
            <a:r>
              <a:rPr lang="el-GR" b="1" dirty="0" err="1"/>
              <a:t>LoRa</a:t>
            </a:r>
            <a:r>
              <a:rPr lang="el-GR" b="1" dirty="0"/>
              <a:t>:</a:t>
            </a:r>
          </a:p>
          <a:p>
            <a:pPr marL="285750" indent="-285750" algn="just">
              <a:buFont typeface="Arial" panose="020B0604020202020204" pitchFamily="34" charset="0"/>
              <a:buChar char="•"/>
            </a:pPr>
            <a:r>
              <a:rPr lang="el-GR" dirty="0"/>
              <a:t>Το σήμα </a:t>
            </a:r>
            <a:r>
              <a:rPr lang="el-GR" b="1" dirty="0"/>
              <a:t>εξαπλώνεται στο πεδίο της συχνότητας χρησιμοποιώντας ένα ευρύτερο φάσμα από το αρχικό</a:t>
            </a:r>
            <a:r>
              <a:rPr lang="el-GR" dirty="0"/>
              <a:t>.</a:t>
            </a:r>
          </a:p>
          <a:p>
            <a:pPr marL="285750" indent="-285750" algn="just">
              <a:buFont typeface="Arial" panose="020B0604020202020204" pitchFamily="34" charset="0"/>
              <a:buChar char="•"/>
            </a:pPr>
            <a:r>
              <a:rPr lang="el-GR" dirty="0"/>
              <a:t>Η συχνότητα του μεταβάλλεται, </a:t>
            </a:r>
            <a:r>
              <a:rPr lang="el-GR" b="1" dirty="0"/>
              <a:t>με έναν προκαθορισμένο ρυθμό</a:t>
            </a:r>
            <a:r>
              <a:rPr lang="el-GR" dirty="0"/>
              <a:t>, γραμμικά ή εκθετικά και ονομάζεται </a:t>
            </a:r>
            <a:r>
              <a:rPr lang="el-GR" dirty="0" err="1"/>
              <a:t>chirp</a:t>
            </a:r>
            <a:r>
              <a:rPr lang="el-GR" dirty="0"/>
              <a:t> (</a:t>
            </a:r>
            <a:r>
              <a:rPr lang="el-GR" dirty="0" err="1"/>
              <a:t>Compressed</a:t>
            </a:r>
            <a:r>
              <a:rPr lang="el-GR" dirty="0"/>
              <a:t> High </a:t>
            </a:r>
            <a:r>
              <a:rPr lang="el-GR" dirty="0" err="1"/>
              <a:t>Intensity</a:t>
            </a:r>
            <a:r>
              <a:rPr lang="el-GR" dirty="0"/>
              <a:t> </a:t>
            </a:r>
            <a:r>
              <a:rPr lang="el-GR" dirty="0" err="1"/>
              <a:t>Radar</a:t>
            </a:r>
            <a:r>
              <a:rPr lang="el-GR" dirty="0"/>
              <a:t> </a:t>
            </a:r>
            <a:r>
              <a:rPr lang="el-GR" dirty="0" err="1"/>
              <a:t>Pulse</a:t>
            </a:r>
            <a:r>
              <a:rPr lang="el-GR" dirty="0"/>
              <a:t>)</a:t>
            </a:r>
          </a:p>
          <a:p>
            <a:pPr algn="just"/>
            <a:endParaRPr lang="el-GR" dirty="0"/>
          </a:p>
          <a:p>
            <a:pPr algn="just"/>
            <a:endParaRPr lang="el-GR" dirty="0"/>
          </a:p>
          <a:p>
            <a:pPr algn="just"/>
            <a:endParaRPr lang="el-GR" dirty="0"/>
          </a:p>
          <a:p>
            <a:pPr algn="just"/>
            <a:endParaRPr lang="el-GR" dirty="0"/>
          </a:p>
          <a:p>
            <a:pPr algn="just"/>
            <a:endParaRPr lang="el-GR" dirty="0"/>
          </a:p>
          <a:p>
            <a:pPr algn="just"/>
            <a:endParaRPr lang="el-GR" dirty="0"/>
          </a:p>
          <a:p>
            <a:pPr algn="just"/>
            <a:endParaRPr lang="el-GR" dirty="0"/>
          </a:p>
          <a:p>
            <a:pPr algn="just"/>
            <a:endParaRPr lang="el-GR" dirty="0"/>
          </a:p>
          <a:p>
            <a:pPr algn="just"/>
            <a:endParaRPr lang="el-GR" dirty="0"/>
          </a:p>
        </p:txBody>
      </p:sp>
      <p:pic>
        <p:nvPicPr>
          <p:cNvPr id="9" name="Εικόνα 8" descr="https://upload.wikimedia.org/wikipedia/commons/thumb/c/cf/Linear-chirp.svg/260px-Linear-chirp.svg.png"/>
          <p:cNvPicPr/>
          <p:nvPr/>
        </p:nvPicPr>
        <p:blipFill>
          <a:blip r:embed="rId2">
            <a:extLst>
              <a:ext uri="{28A0092B-C50C-407E-A947-70E740481C1C}">
                <a14:useLocalDpi xmlns:a14="http://schemas.microsoft.com/office/drawing/2010/main" val="0"/>
              </a:ext>
            </a:extLst>
          </a:blip>
          <a:srcRect/>
          <a:stretch>
            <a:fillRect/>
          </a:stretch>
        </p:blipFill>
        <p:spPr bwMode="auto">
          <a:xfrm>
            <a:off x="1717267" y="3875722"/>
            <a:ext cx="3298870" cy="2480630"/>
          </a:xfrm>
          <a:prstGeom prst="rect">
            <a:avLst/>
          </a:prstGeom>
          <a:noFill/>
          <a:ln>
            <a:noFill/>
          </a:ln>
        </p:spPr>
      </p:pic>
      <p:pic>
        <p:nvPicPr>
          <p:cNvPr id="10" name="Εικόνα 9" descr="File:Exponentialchirp.png - Wikimedia Commons"/>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46631" y="3914457"/>
            <a:ext cx="3159518" cy="2467182"/>
          </a:xfrm>
          <a:prstGeom prst="rect">
            <a:avLst/>
          </a:prstGeom>
          <a:noFill/>
          <a:ln>
            <a:noFill/>
          </a:ln>
        </p:spPr>
      </p:pic>
    </p:spTree>
    <p:extLst>
      <p:ext uri="{BB962C8B-B14F-4D97-AF65-F5344CB8AC3E}">
        <p14:creationId xmlns:p14="http://schemas.microsoft.com/office/powerpoint/2010/main" val="30734216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Θέση αριθμού διαφάνειας 2"/>
          <p:cNvSpPr>
            <a:spLocks noGrp="1"/>
          </p:cNvSpPr>
          <p:nvPr>
            <p:ph type="sldNum" sz="quarter" idx="12"/>
          </p:nvPr>
        </p:nvSpPr>
        <p:spPr/>
        <p:txBody>
          <a:bodyPr/>
          <a:lstStyle/>
          <a:p>
            <a:fld id="{B6F15528-21DE-4FAA-801E-634DDDAF4B2B}" type="slidenum">
              <a:rPr lang="en-US" smtClean="0">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pPr/>
              <a:t>3</a:t>
            </a:fld>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
        <p:nvSpPr>
          <p:cNvPr id="5" name="Πίτα 4"/>
          <p:cNvSpPr/>
          <p:nvPr/>
        </p:nvSpPr>
        <p:spPr>
          <a:xfrm>
            <a:off x="8410545" y="93859"/>
            <a:ext cx="400109" cy="400109"/>
          </a:xfrm>
          <a:prstGeom prst="pie">
            <a:avLst>
              <a:gd name="adj1" fmla="val 5400000"/>
              <a:gd name="adj2" fmla="val 1620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grpSp>
        <p:nvGrpSpPr>
          <p:cNvPr id="6" name="Ομάδα 5"/>
          <p:cNvGrpSpPr/>
          <p:nvPr/>
        </p:nvGrpSpPr>
        <p:grpSpPr>
          <a:xfrm>
            <a:off x="8610600" y="93859"/>
            <a:ext cx="3533745" cy="400109"/>
            <a:chOff x="200055" y="0"/>
            <a:chExt cx="3533745" cy="400109"/>
          </a:xfrm>
        </p:grpSpPr>
        <p:sp>
          <p:nvSpPr>
            <p:cNvPr id="7" name="Ορθογώνιο 6"/>
            <p:cNvSpPr/>
            <p:nvPr/>
          </p:nvSpPr>
          <p:spPr>
            <a:xfrm>
              <a:off x="200055" y="0"/>
              <a:ext cx="3533745" cy="400109"/>
            </a:xfrm>
            <a:prstGeom prst="rect">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8" name="TextBox 7"/>
            <p:cNvSpPr txBox="1"/>
            <p:nvPr/>
          </p:nvSpPr>
          <p:spPr>
            <a:xfrm>
              <a:off x="200055" y="0"/>
              <a:ext cx="3533745" cy="40010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8580" tIns="68580" rIns="68580" bIns="68580" numCol="1" spcCol="1270" anchor="ctr" anchorCtr="0">
              <a:noAutofit/>
            </a:bodyPr>
            <a:lstStyle/>
            <a:p>
              <a:r>
                <a:rPr lang="el-GR" b="1" dirty="0"/>
                <a:t>Διαμόρφωση </a:t>
              </a:r>
              <a:r>
                <a:rPr lang="en-US" b="1" dirty="0" err="1"/>
                <a:t>LoRa</a:t>
              </a:r>
              <a:endParaRPr lang="el-GR" b="1" dirty="0"/>
            </a:p>
          </p:txBody>
        </p:sp>
      </p:grpSp>
      <p:pic>
        <p:nvPicPr>
          <p:cNvPr id="9" name="Εικόνα 8"/>
          <p:cNvPicPr>
            <a:picLocks noChangeAspect="1"/>
          </p:cNvPicPr>
          <p:nvPr/>
        </p:nvPicPr>
        <p:blipFill>
          <a:blip r:embed="rId2"/>
          <a:stretch>
            <a:fillRect/>
          </a:stretch>
        </p:blipFill>
        <p:spPr>
          <a:xfrm>
            <a:off x="4891286" y="1313984"/>
            <a:ext cx="2719052" cy="1688738"/>
          </a:xfrm>
          <a:prstGeom prst="rect">
            <a:avLst/>
          </a:prstGeom>
        </p:spPr>
      </p:pic>
      <p:sp>
        <p:nvSpPr>
          <p:cNvPr id="10" name="Ορθογώνιο 9"/>
          <p:cNvSpPr/>
          <p:nvPr/>
        </p:nvSpPr>
        <p:spPr>
          <a:xfrm>
            <a:off x="250371" y="694398"/>
            <a:ext cx="11297195" cy="5632311"/>
          </a:xfrm>
          <a:prstGeom prst="rect">
            <a:avLst/>
          </a:prstGeom>
        </p:spPr>
        <p:txBody>
          <a:bodyPr wrap="square">
            <a:spAutoFit/>
          </a:bodyPr>
          <a:lstStyle/>
          <a:p>
            <a:pPr algn="just"/>
            <a:r>
              <a:rPr lang="el-GR" dirty="0"/>
              <a:t>Τα </a:t>
            </a:r>
            <a:r>
              <a:rPr lang="el-GR" dirty="0" err="1"/>
              <a:t>chirps</a:t>
            </a:r>
            <a:r>
              <a:rPr lang="el-GR" dirty="0"/>
              <a:t> περαιτέρω διαχωρίζονται σε </a:t>
            </a:r>
            <a:r>
              <a:rPr lang="el-GR" dirty="0" err="1"/>
              <a:t>up-chirps</a:t>
            </a:r>
            <a:r>
              <a:rPr lang="el-GR" dirty="0"/>
              <a:t> και </a:t>
            </a:r>
            <a:r>
              <a:rPr lang="el-GR" dirty="0" err="1"/>
              <a:t>down-chirps</a:t>
            </a:r>
            <a:r>
              <a:rPr lang="el-GR" dirty="0"/>
              <a:t> ανάλογα με το αν η συχνότητα μεταβάλλεται αυξανόμενη ή μειούμενη με την πάροδο του χρόνου. </a:t>
            </a:r>
          </a:p>
          <a:p>
            <a:endParaRPr lang="el-GR" dirty="0"/>
          </a:p>
          <a:p>
            <a:endParaRPr lang="el-GR" dirty="0"/>
          </a:p>
          <a:p>
            <a:endParaRPr lang="el-GR" dirty="0"/>
          </a:p>
          <a:p>
            <a:endParaRPr lang="el-GR" dirty="0"/>
          </a:p>
          <a:p>
            <a:endParaRPr lang="el-GR" dirty="0"/>
          </a:p>
          <a:p>
            <a:endParaRPr lang="el-GR" dirty="0"/>
          </a:p>
          <a:p>
            <a:endParaRPr lang="el-GR" dirty="0"/>
          </a:p>
          <a:p>
            <a:r>
              <a:rPr lang="el-GR" b="1" dirty="0"/>
              <a:t>Ομοιόμορφη κατανομή του σήματος σε όλο το διαθέσιμο φάσμα του καναλιού:</a:t>
            </a:r>
          </a:p>
          <a:p>
            <a:pPr marL="285750" indent="-285750">
              <a:buFont typeface="Arial" panose="020B0604020202020204" pitchFamily="34" charset="0"/>
              <a:buChar char="•"/>
            </a:pPr>
            <a:r>
              <a:rPr lang="el-GR" dirty="0"/>
              <a:t>Ανθεκτικότερο στο θόρυβο αυτού</a:t>
            </a:r>
          </a:p>
          <a:p>
            <a:pPr marL="285750" indent="-285750">
              <a:buFont typeface="Arial" panose="020B0604020202020204" pitchFamily="34" charset="0"/>
              <a:buChar char="•"/>
            </a:pPr>
            <a:r>
              <a:rPr lang="el-GR" dirty="0"/>
              <a:t>Μεγαλύτερη ανοχή σε συχνοτικά επιλεκτικό θόρυβο</a:t>
            </a:r>
          </a:p>
          <a:p>
            <a:pPr marL="285750" indent="-285750">
              <a:buFont typeface="Arial" panose="020B0604020202020204" pitchFamily="34" charset="0"/>
              <a:buChar char="•"/>
            </a:pPr>
            <a:r>
              <a:rPr lang="el-GR" dirty="0"/>
              <a:t>Μεγαλύτερη ανοχή σε παρεμβολές</a:t>
            </a:r>
          </a:p>
          <a:p>
            <a:pPr marL="285750" indent="-285750">
              <a:buFont typeface="Arial" panose="020B0604020202020204" pitchFamily="34" charset="0"/>
              <a:buChar char="•"/>
            </a:pPr>
            <a:r>
              <a:rPr lang="el-GR" dirty="0"/>
              <a:t>Ανθεκτικό στο φαινόμενο </a:t>
            </a:r>
            <a:r>
              <a:rPr lang="el-GR" dirty="0" err="1"/>
              <a:t>Doppler</a:t>
            </a:r>
            <a:r>
              <a:rPr lang="el-GR" dirty="0"/>
              <a:t> (συχνοτική μετατόπιση)</a:t>
            </a:r>
          </a:p>
          <a:p>
            <a:endParaRPr lang="el-GR" dirty="0"/>
          </a:p>
          <a:p>
            <a:r>
              <a:rPr lang="el-GR" b="1" dirty="0"/>
              <a:t>Δημιουργία των μεταδιδομένων σύμβολων</a:t>
            </a:r>
            <a:r>
              <a:rPr lang="el-GR" dirty="0"/>
              <a:t>:</a:t>
            </a:r>
          </a:p>
          <a:p>
            <a:pPr marL="285750" indent="-285750">
              <a:buFont typeface="Arial" panose="020B0604020202020204" pitchFamily="34" charset="0"/>
              <a:buChar char="•"/>
            </a:pPr>
            <a:r>
              <a:rPr lang="el-GR" dirty="0"/>
              <a:t>Ακολουθίες δυαδικών ψηφίων, σταθερού κάθε φορά μεγέθους , που θα αποτελέσουν τα μεταδιδόμενα σύμβολα – σήματα (</a:t>
            </a:r>
            <a:r>
              <a:rPr lang="el-GR" dirty="0" err="1"/>
              <a:t>chirps</a:t>
            </a:r>
            <a:r>
              <a:rPr lang="el-GR" dirty="0"/>
              <a:t>).</a:t>
            </a:r>
          </a:p>
          <a:p>
            <a:pPr marL="285750" indent="-285750">
              <a:buFont typeface="Arial" panose="020B0604020202020204" pitchFamily="34" charset="0"/>
              <a:buChar char="•"/>
            </a:pPr>
            <a:r>
              <a:rPr lang="el-GR" b="1" dirty="0"/>
              <a:t>Παράγοντας Διασποράς SF (</a:t>
            </a:r>
            <a:r>
              <a:rPr lang="el-GR" b="1" dirty="0" err="1"/>
              <a:t>Spreading</a:t>
            </a:r>
            <a:r>
              <a:rPr lang="el-GR" b="1" dirty="0"/>
              <a:t> </a:t>
            </a:r>
            <a:r>
              <a:rPr lang="el-GR" b="1" dirty="0" err="1"/>
              <a:t>Factor</a:t>
            </a:r>
            <a:r>
              <a:rPr lang="el-GR" b="1" dirty="0"/>
              <a:t>): </a:t>
            </a:r>
            <a:r>
              <a:rPr lang="el-GR" dirty="0"/>
              <a:t>Το πλήθος των </a:t>
            </a:r>
            <a:r>
              <a:rPr lang="el-GR" dirty="0" err="1"/>
              <a:t>bits</a:t>
            </a:r>
            <a:r>
              <a:rPr lang="el-GR" dirty="0"/>
              <a:t> που κωδικοποιούνται στο προς μετάδοση σύμβολο όπου παίρνει τιμές από το σύνολο {7, 8, …12}.</a:t>
            </a:r>
          </a:p>
        </p:txBody>
      </p:sp>
    </p:spTree>
    <p:extLst>
      <p:ext uri="{BB962C8B-B14F-4D97-AF65-F5344CB8AC3E}">
        <p14:creationId xmlns:p14="http://schemas.microsoft.com/office/powerpoint/2010/main" val="19331636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Θέση αριθμού διαφάνειας 2"/>
          <p:cNvSpPr>
            <a:spLocks noGrp="1"/>
          </p:cNvSpPr>
          <p:nvPr>
            <p:ph type="sldNum" sz="quarter" idx="12"/>
          </p:nvPr>
        </p:nvSpPr>
        <p:spPr/>
        <p:txBody>
          <a:bodyPr/>
          <a:lstStyle/>
          <a:p>
            <a:fld id="{B6F15528-21DE-4FAA-801E-634DDDAF4B2B}" type="slidenum">
              <a:rPr lang="en-US" smtClean="0">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pPr/>
              <a:t>4</a:t>
            </a:fld>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
        <p:nvSpPr>
          <p:cNvPr id="4" name="Ορθογώνιο 3"/>
          <p:cNvSpPr/>
          <p:nvPr/>
        </p:nvSpPr>
        <p:spPr>
          <a:xfrm>
            <a:off x="483325" y="691553"/>
            <a:ext cx="11168743" cy="5355312"/>
          </a:xfrm>
          <a:prstGeom prst="rect">
            <a:avLst/>
          </a:prstGeom>
        </p:spPr>
        <p:txBody>
          <a:bodyPr wrap="square">
            <a:spAutoFit/>
          </a:bodyPr>
          <a:lstStyle/>
          <a:p>
            <a:pPr algn="just"/>
            <a:r>
              <a:rPr lang="el-GR" dirty="0"/>
              <a:t>Κάθε ένα από τα σύμβολα αυτά, δεδομένου ενός καθορισμένου εύρους ζώνης (</a:t>
            </a:r>
            <a:r>
              <a:rPr lang="el-GR" dirty="0" err="1"/>
              <a:t>BW</a:t>
            </a:r>
            <a:r>
              <a:rPr lang="el-GR" dirty="0"/>
              <a:t>) μοιρασμένου συμμετρικά γύρω από μια φέρουσα συχνότητα [f0-BW/2,f0+BW/2], αναπαρίσταται με σήμα </a:t>
            </a:r>
            <a:r>
              <a:rPr lang="el-GR" b="1" dirty="0"/>
              <a:t>γραμμικά αυξανομένης συχνότητας </a:t>
            </a:r>
            <a:r>
              <a:rPr lang="el-GR" dirty="0"/>
              <a:t>ξεκινώντας από μια συγκεκριμένη (για το κάθε σύμβολο) συχνότητα, μέσα στο παραπάνω διαθέσιμο διάστημα συχνοτήτων, και ως την ανώτερη επιτρεπτή συχνότητα του διαστήματος οπότε και “πέφτει” στη κατώτερη συχνότητα του διαστήματος και συνεχίζει από εκεί με αυξανόμενη συχνότητα με τον ίδιο τρόπο έως την συχνότητα αφετηρίας.</a:t>
            </a:r>
          </a:p>
          <a:p>
            <a:pPr algn="just"/>
            <a:endParaRPr lang="el-GR" dirty="0"/>
          </a:p>
          <a:p>
            <a:pPr algn="just"/>
            <a:endParaRPr lang="el-GR" dirty="0"/>
          </a:p>
          <a:p>
            <a:pPr algn="just"/>
            <a:endParaRPr lang="el-GR" dirty="0"/>
          </a:p>
          <a:p>
            <a:pPr algn="just"/>
            <a:endParaRPr lang="el-GR" dirty="0"/>
          </a:p>
          <a:p>
            <a:pPr algn="just"/>
            <a:endParaRPr lang="el-GR" dirty="0"/>
          </a:p>
          <a:p>
            <a:pPr algn="just"/>
            <a:endParaRPr lang="el-GR" dirty="0"/>
          </a:p>
          <a:p>
            <a:pPr algn="just"/>
            <a:endParaRPr lang="el-GR" dirty="0"/>
          </a:p>
          <a:p>
            <a:pPr algn="just"/>
            <a:endParaRPr lang="el-GR" dirty="0"/>
          </a:p>
          <a:p>
            <a:pPr algn="just"/>
            <a:endParaRPr lang="el-GR" dirty="0"/>
          </a:p>
          <a:p>
            <a:pPr algn="just"/>
            <a:endParaRPr lang="el-GR" dirty="0"/>
          </a:p>
          <a:p>
            <a:pPr algn="just"/>
            <a:r>
              <a:rPr lang="el-GR" dirty="0"/>
              <a:t>Κωδικοποιώντας SF </a:t>
            </a:r>
            <a:r>
              <a:rPr lang="el-GR" dirty="0" err="1"/>
              <a:t>bits</a:t>
            </a:r>
            <a:r>
              <a:rPr lang="el-GR" dirty="0"/>
              <a:t> σε κάθε σύμβολο:</a:t>
            </a:r>
          </a:p>
          <a:p>
            <a:pPr marL="285750" indent="-285750" algn="just">
              <a:buFont typeface="Arial" panose="020B0604020202020204" pitchFamily="34" charset="0"/>
              <a:buChar char="•"/>
            </a:pPr>
            <a:r>
              <a:rPr lang="el-GR" dirty="0"/>
              <a:t>υπάρχουν 2</a:t>
            </a:r>
            <a:r>
              <a:rPr lang="el-GR" baseline="30000" dirty="0"/>
              <a:t>SF</a:t>
            </a:r>
            <a:r>
              <a:rPr lang="el-GR" dirty="0"/>
              <a:t> τέτοιες τιμές (</a:t>
            </a:r>
            <a:r>
              <a:rPr lang="el-GR" dirty="0" err="1"/>
              <a:t>chips</a:t>
            </a:r>
            <a:r>
              <a:rPr lang="el-GR" dirty="0"/>
              <a:t>)</a:t>
            </a:r>
          </a:p>
          <a:p>
            <a:pPr marL="285750" indent="-285750" algn="just">
              <a:buFont typeface="Arial" panose="020B0604020202020204" pitchFamily="34" charset="0"/>
              <a:buChar char="•"/>
            </a:pPr>
            <a:r>
              <a:rPr lang="el-GR" dirty="0"/>
              <a:t>2</a:t>
            </a:r>
            <a:r>
              <a:rPr lang="el-GR" baseline="30000" dirty="0"/>
              <a:t>SF </a:t>
            </a:r>
            <a:r>
              <a:rPr lang="el-GR" dirty="0"/>
              <a:t> συχνότητες αφετηρίας, μια για κάθε σύμβολο (</a:t>
            </a:r>
            <a:r>
              <a:rPr lang="el-GR" dirty="0" err="1"/>
              <a:t>chirp</a:t>
            </a:r>
            <a:r>
              <a:rPr lang="el-GR" dirty="0"/>
              <a:t>).</a:t>
            </a:r>
          </a:p>
        </p:txBody>
      </p:sp>
      <p:sp>
        <p:nvSpPr>
          <p:cNvPr id="5" name="Πίτα 4"/>
          <p:cNvSpPr/>
          <p:nvPr/>
        </p:nvSpPr>
        <p:spPr>
          <a:xfrm>
            <a:off x="8410545" y="93859"/>
            <a:ext cx="400109" cy="400109"/>
          </a:xfrm>
          <a:prstGeom prst="pie">
            <a:avLst>
              <a:gd name="adj1" fmla="val 5400000"/>
              <a:gd name="adj2" fmla="val 1620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grpSp>
        <p:nvGrpSpPr>
          <p:cNvPr id="6" name="Ομάδα 5"/>
          <p:cNvGrpSpPr/>
          <p:nvPr/>
        </p:nvGrpSpPr>
        <p:grpSpPr>
          <a:xfrm>
            <a:off x="8610600" y="93859"/>
            <a:ext cx="3533745" cy="400109"/>
            <a:chOff x="200055" y="0"/>
            <a:chExt cx="3533745" cy="400109"/>
          </a:xfrm>
        </p:grpSpPr>
        <p:sp>
          <p:nvSpPr>
            <p:cNvPr id="7" name="Ορθογώνιο 6"/>
            <p:cNvSpPr/>
            <p:nvPr/>
          </p:nvSpPr>
          <p:spPr>
            <a:xfrm>
              <a:off x="200055" y="0"/>
              <a:ext cx="3533745" cy="400109"/>
            </a:xfrm>
            <a:prstGeom prst="rect">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8" name="TextBox 7"/>
            <p:cNvSpPr txBox="1"/>
            <p:nvPr/>
          </p:nvSpPr>
          <p:spPr>
            <a:xfrm>
              <a:off x="200055" y="0"/>
              <a:ext cx="3533745" cy="40010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8580" tIns="68580" rIns="68580" bIns="68580" numCol="1" spcCol="1270" anchor="ctr" anchorCtr="0">
              <a:noAutofit/>
            </a:bodyPr>
            <a:lstStyle/>
            <a:p>
              <a:r>
                <a:rPr lang="el-GR" b="1" dirty="0"/>
                <a:t>Διαμόρφωση </a:t>
              </a:r>
              <a:r>
                <a:rPr lang="en-US" b="1" dirty="0" err="1"/>
                <a:t>LoRa</a:t>
              </a:r>
              <a:endParaRPr lang="el-GR" b="1" dirty="0"/>
            </a:p>
          </p:txBody>
        </p:sp>
      </p:grpSp>
      <p:pic>
        <p:nvPicPr>
          <p:cNvPr id="9" name="Εικόνα 8"/>
          <p:cNvPicPr>
            <a:picLocks noChangeAspect="1"/>
          </p:cNvPicPr>
          <p:nvPr/>
        </p:nvPicPr>
        <p:blipFill>
          <a:blip r:embed="rId2"/>
          <a:stretch>
            <a:fillRect/>
          </a:stretch>
        </p:blipFill>
        <p:spPr>
          <a:xfrm>
            <a:off x="3852477" y="2501882"/>
            <a:ext cx="4487045" cy="2115495"/>
          </a:xfrm>
          <a:prstGeom prst="rect">
            <a:avLst/>
          </a:prstGeom>
        </p:spPr>
      </p:pic>
    </p:spTree>
    <p:extLst>
      <p:ext uri="{BB962C8B-B14F-4D97-AF65-F5344CB8AC3E}">
        <p14:creationId xmlns:p14="http://schemas.microsoft.com/office/powerpoint/2010/main" val="28161015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Θέση αριθμού διαφάνειας 2"/>
          <p:cNvSpPr>
            <a:spLocks noGrp="1"/>
          </p:cNvSpPr>
          <p:nvPr>
            <p:ph type="sldNum" sz="quarter" idx="12"/>
          </p:nvPr>
        </p:nvSpPr>
        <p:spPr/>
        <p:txBody>
          <a:bodyPr/>
          <a:lstStyle/>
          <a:p>
            <a:fld id="{B6F15528-21DE-4FAA-801E-634DDDAF4B2B}" type="slidenum">
              <a:rPr lang="en-US" smtClean="0">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pPr/>
              <a:t>5</a:t>
            </a:fld>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
        <p:nvSpPr>
          <p:cNvPr id="4" name="Πίτα 3"/>
          <p:cNvSpPr/>
          <p:nvPr/>
        </p:nvSpPr>
        <p:spPr>
          <a:xfrm>
            <a:off x="8410545" y="93859"/>
            <a:ext cx="400109" cy="400109"/>
          </a:xfrm>
          <a:prstGeom prst="pie">
            <a:avLst>
              <a:gd name="adj1" fmla="val 5400000"/>
              <a:gd name="adj2" fmla="val 1620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grpSp>
        <p:nvGrpSpPr>
          <p:cNvPr id="5" name="Ομάδα 4"/>
          <p:cNvGrpSpPr/>
          <p:nvPr/>
        </p:nvGrpSpPr>
        <p:grpSpPr>
          <a:xfrm>
            <a:off x="8610600" y="93859"/>
            <a:ext cx="3533745" cy="400109"/>
            <a:chOff x="200055" y="0"/>
            <a:chExt cx="3533745" cy="400109"/>
          </a:xfrm>
        </p:grpSpPr>
        <p:sp>
          <p:nvSpPr>
            <p:cNvPr id="6" name="Ορθογώνιο 5"/>
            <p:cNvSpPr/>
            <p:nvPr/>
          </p:nvSpPr>
          <p:spPr>
            <a:xfrm>
              <a:off x="200055" y="0"/>
              <a:ext cx="3533745" cy="400109"/>
            </a:xfrm>
            <a:prstGeom prst="rect">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7" name="TextBox 6"/>
            <p:cNvSpPr txBox="1"/>
            <p:nvPr/>
          </p:nvSpPr>
          <p:spPr>
            <a:xfrm>
              <a:off x="200055" y="0"/>
              <a:ext cx="3533745" cy="40010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8580" tIns="68580" rIns="68580" bIns="68580" numCol="1" spcCol="1270" anchor="ctr" anchorCtr="0">
              <a:noAutofit/>
            </a:bodyPr>
            <a:lstStyle/>
            <a:p>
              <a:r>
                <a:rPr lang="el-GR" b="1" dirty="0"/>
                <a:t>Διαμόρφωση </a:t>
              </a:r>
              <a:r>
                <a:rPr lang="en-US" b="1" dirty="0" err="1"/>
                <a:t>LoRa</a:t>
              </a:r>
              <a:endParaRPr lang="el-GR" b="1" dirty="0"/>
            </a:p>
          </p:txBody>
        </p:sp>
      </p:grpSp>
      <mc:AlternateContent xmlns:mc="http://schemas.openxmlformats.org/markup-compatibility/2006" xmlns:a14="http://schemas.microsoft.com/office/drawing/2010/main">
        <mc:Choice Requires="a14">
          <p:sp>
            <p:nvSpPr>
              <p:cNvPr id="8" name="Ορθογώνιο 7"/>
              <p:cNvSpPr/>
              <p:nvPr/>
            </p:nvSpPr>
            <p:spPr>
              <a:xfrm>
                <a:off x="231409" y="592574"/>
                <a:ext cx="11616602" cy="6413102"/>
              </a:xfrm>
              <a:prstGeom prst="rect">
                <a:avLst/>
              </a:prstGeom>
            </p:spPr>
            <p:txBody>
              <a:bodyPr wrap="square">
                <a:spAutoFit/>
              </a:bodyPr>
              <a:lstStyle/>
              <a:p>
                <a:r>
                  <a:rPr lang="el-GR" b="1" dirty="0"/>
                  <a:t>Παράγοντας Διασποράς και Ρυθμός Μετάδοσης</a:t>
                </a:r>
              </a:p>
              <a:p>
                <a:endParaRPr lang="el-GR" b="1" dirty="0"/>
              </a:p>
              <a:p>
                <a:pPr marL="285750" indent="-285750" algn="just">
                  <a:buFont typeface="Arial" panose="020B0604020202020204" pitchFamily="34" charset="0"/>
                  <a:buChar char="•"/>
                </a:pPr>
                <a:r>
                  <a:rPr lang="el-GR" b="1" dirty="0"/>
                  <a:t>Ο ρυθμός </a:t>
                </a:r>
                <a:r>
                  <a:rPr lang="el-GR" dirty="0"/>
                  <a:t>του σήματος </a:t>
                </a:r>
                <a:r>
                  <a:rPr lang="el-GR" dirty="0" err="1"/>
                  <a:t>chirp</a:t>
                </a:r>
                <a:r>
                  <a:rPr lang="el-GR" dirty="0"/>
                  <a:t> αποτελεί συνάρτηση τόσο του παράγοντα διασποράς όσο και του εύρους ζώνης.</a:t>
                </a:r>
              </a:p>
              <a:p>
                <a:pPr marR="759460" indent="90170" algn="just">
                  <a:lnSpc>
                    <a:spcPct val="115000"/>
                  </a:lnSpc>
                  <a:spcAft>
                    <a:spcPts val="0"/>
                  </a:spcAft>
                </a:pPr>
                <a14:m>
                  <m:oMathPara xmlns:m="http://schemas.openxmlformats.org/officeDocument/2006/math">
                    <m:oMathParaPr>
                      <m:jc m:val="centerGroup"/>
                    </m:oMathParaPr>
                    <m:oMath xmlns:m="http://schemas.openxmlformats.org/officeDocument/2006/math">
                      <m:r>
                        <m:rPr>
                          <m:sty m:val="p"/>
                        </m:rPr>
                        <a:rPr lang="en-US">
                          <a:latin typeface="Cambria Math" panose="02040503050406030204" pitchFamily="18" charset="0"/>
                          <a:ea typeface="Microsoft Sans Serif" panose="020B0604020202020204" pitchFamily="34" charset="0"/>
                          <a:cs typeface="NimbusRomNo9L-ReguItal"/>
                        </a:rPr>
                        <m:t>chirp</m:t>
                      </m:r>
                      <m:r>
                        <a:rPr lang="en-US">
                          <a:latin typeface="Cambria Math" panose="02040503050406030204" pitchFamily="18" charset="0"/>
                          <a:ea typeface="Microsoft Sans Serif" panose="020B0604020202020204" pitchFamily="34" charset="0"/>
                          <a:cs typeface="NimbusRomNo9L-ReguItal"/>
                        </a:rPr>
                        <m:t> </m:t>
                      </m:r>
                      <m:r>
                        <m:rPr>
                          <m:sty m:val="p"/>
                        </m:rPr>
                        <a:rPr lang="en-US">
                          <a:latin typeface="Cambria Math" panose="02040503050406030204" pitchFamily="18" charset="0"/>
                          <a:ea typeface="Microsoft Sans Serif" panose="020B0604020202020204" pitchFamily="34" charset="0"/>
                          <a:cs typeface="NimbusRomNo9L-ReguItal"/>
                        </a:rPr>
                        <m:t>rate</m:t>
                      </m:r>
                      <m:r>
                        <a:rPr lang="en-US">
                          <a:latin typeface="Cambria Math" panose="02040503050406030204" pitchFamily="18" charset="0"/>
                          <a:ea typeface="Microsoft Sans Serif" panose="020B0604020202020204" pitchFamily="34" charset="0"/>
                          <a:cs typeface="NimbusRomNo9L-ReguItal"/>
                        </a:rPr>
                        <m:t>:</m:t>
                      </m:r>
                      <m:sSub>
                        <m:sSubPr>
                          <m:ctrlPr>
                            <a:rPr lang="el-GR" i="1">
                              <a:latin typeface="Cambria Math" panose="02040503050406030204" pitchFamily="18" charset="0"/>
                              <a:ea typeface="Microsoft Sans Serif" panose="020B0604020202020204" pitchFamily="34" charset="0"/>
                              <a:cs typeface="NimbusRomNo9L-ReguItal"/>
                            </a:rPr>
                          </m:ctrlPr>
                        </m:sSubPr>
                        <m:e>
                          <m:r>
                            <a:rPr lang="en-US" i="1">
                              <a:latin typeface="Cambria Math" panose="02040503050406030204" pitchFamily="18" charset="0"/>
                              <a:ea typeface="Microsoft Sans Serif" panose="020B0604020202020204" pitchFamily="34" charset="0"/>
                              <a:cs typeface="NimbusRomNo9L-ReguItal"/>
                            </a:rPr>
                            <m:t>𝑅</m:t>
                          </m:r>
                        </m:e>
                        <m:sub>
                          <m:r>
                            <a:rPr lang="en-US" i="1">
                              <a:latin typeface="Cambria Math" panose="02040503050406030204" pitchFamily="18" charset="0"/>
                              <a:ea typeface="Microsoft Sans Serif" panose="020B0604020202020204" pitchFamily="34" charset="0"/>
                              <a:cs typeface="NimbusRomNo9L-ReguItal"/>
                            </a:rPr>
                            <m:t>𝑐h𝑖𝑟𝑝</m:t>
                          </m:r>
                        </m:sub>
                      </m:sSub>
                      <m:r>
                        <a:rPr lang="en-US">
                          <a:latin typeface="Cambria Math" panose="02040503050406030204" pitchFamily="18" charset="0"/>
                          <a:ea typeface="Microsoft Sans Serif" panose="020B0604020202020204" pitchFamily="34" charset="0"/>
                          <a:cs typeface="NimbusRomNo9L-ReguItal"/>
                        </a:rPr>
                        <m:t>= </m:t>
                      </m:r>
                      <m:f>
                        <m:fPr>
                          <m:ctrlPr>
                            <a:rPr lang="el-GR" i="1">
                              <a:latin typeface="Cambria Math" panose="02040503050406030204" pitchFamily="18" charset="0"/>
                              <a:ea typeface="Microsoft Sans Serif" panose="020B0604020202020204" pitchFamily="34" charset="0"/>
                              <a:cs typeface="NimbusRomNo9L-ReguItal"/>
                            </a:rPr>
                          </m:ctrlPr>
                        </m:fPr>
                        <m:num>
                          <m:r>
                            <a:rPr lang="en-US" i="1">
                              <a:latin typeface="Cambria Math" panose="02040503050406030204" pitchFamily="18" charset="0"/>
                              <a:ea typeface="Microsoft Sans Serif" panose="020B0604020202020204" pitchFamily="34" charset="0"/>
                              <a:cs typeface="NimbusRomNo9L-ReguItal"/>
                            </a:rPr>
                            <m:t>𝐵𝑊</m:t>
                          </m:r>
                        </m:num>
                        <m:den>
                          <m:sSup>
                            <m:sSupPr>
                              <m:ctrlPr>
                                <a:rPr lang="el-GR" i="1">
                                  <a:latin typeface="Cambria Math" panose="02040503050406030204" pitchFamily="18" charset="0"/>
                                  <a:ea typeface="Microsoft Sans Serif" panose="020B0604020202020204" pitchFamily="34" charset="0"/>
                                  <a:cs typeface="NimbusRomNo9L-ReguItal"/>
                                </a:rPr>
                              </m:ctrlPr>
                            </m:sSupPr>
                            <m:e>
                              <m:r>
                                <a:rPr lang="en-US" i="1">
                                  <a:latin typeface="Cambria Math" panose="02040503050406030204" pitchFamily="18" charset="0"/>
                                  <a:ea typeface="Microsoft Sans Serif" panose="020B0604020202020204" pitchFamily="34" charset="0"/>
                                  <a:cs typeface="NimbusRomNo9L-ReguItal"/>
                                </a:rPr>
                                <m:t>2</m:t>
                              </m:r>
                            </m:e>
                            <m:sup>
                              <m:r>
                                <a:rPr lang="en-US" i="1">
                                  <a:latin typeface="Cambria Math" panose="02040503050406030204" pitchFamily="18" charset="0"/>
                                  <a:ea typeface="Microsoft Sans Serif" panose="020B0604020202020204" pitchFamily="34" charset="0"/>
                                  <a:cs typeface="NimbusRomNo9L-ReguItal"/>
                                </a:rPr>
                                <m:t>𝑆𝐹</m:t>
                              </m:r>
                            </m:sup>
                          </m:sSup>
                        </m:den>
                      </m:f>
                    </m:oMath>
                  </m:oMathPara>
                </a14:m>
                <a:endParaRPr lang="el-GR" sz="2400" dirty="0">
                  <a:effectLst/>
                  <a:latin typeface="Microsoft Sans Serif" panose="020B0604020202020204" pitchFamily="34" charset="0"/>
                  <a:ea typeface="Microsoft Sans Serif" panose="020B0604020202020204" pitchFamily="34" charset="0"/>
                </a:endParaRPr>
              </a:p>
              <a:p>
                <a:pPr marL="285750" indent="-285750" algn="just">
                  <a:buFont typeface="Arial" panose="020B0604020202020204" pitchFamily="34" charset="0"/>
                  <a:buChar char="•"/>
                </a:pPr>
                <a:r>
                  <a:rPr lang="el-GR" dirty="0"/>
                  <a:t>Η </a:t>
                </a:r>
                <a:r>
                  <a:rPr lang="el-GR" b="1" dirty="0"/>
                  <a:t>διάρκεια του συμβόλου </a:t>
                </a:r>
                <a:r>
                  <a:rPr lang="el-GR" dirty="0" err="1"/>
                  <a:t>LoRa</a:t>
                </a:r>
                <a:r>
                  <a:rPr lang="el-GR" dirty="0"/>
                  <a:t> που προκύπτει αντιστρέφοντας την παραπάνω σχέση θα είναι:</a:t>
                </a:r>
              </a:p>
              <a:p>
                <a:pPr indent="90170" algn="just">
                  <a:lnSpc>
                    <a:spcPct val="115000"/>
                  </a:lnSpc>
                  <a:spcAft>
                    <a:spcPts val="0"/>
                  </a:spcAft>
                </a:pPr>
                <a14:m>
                  <m:oMathPara xmlns:m="http://schemas.openxmlformats.org/officeDocument/2006/math">
                    <m:oMathParaPr>
                      <m:jc m:val="centerGroup"/>
                    </m:oMathParaPr>
                    <m:oMath xmlns:m="http://schemas.openxmlformats.org/officeDocument/2006/math">
                      <m:sSub>
                        <m:sSubPr>
                          <m:ctrlPr>
                            <a:rPr lang="el-GR" i="1">
                              <a:latin typeface="Cambria Math" panose="02040503050406030204" pitchFamily="18" charset="0"/>
                              <a:ea typeface="Calibri" panose="020F0502020204030204" pitchFamily="34" charset="0"/>
                              <a:cs typeface="NimbusRomNo9L-ReguItal"/>
                            </a:rPr>
                          </m:ctrlPr>
                        </m:sSubPr>
                        <m:e>
                          <m:r>
                            <a:rPr lang="en-US" i="1">
                              <a:latin typeface="Cambria Math" panose="02040503050406030204" pitchFamily="18" charset="0"/>
                              <a:ea typeface="Calibri" panose="020F0502020204030204" pitchFamily="34" charset="0"/>
                              <a:cs typeface="NimbusRomNo9L-ReguItal"/>
                            </a:rPr>
                            <m:t>𝑇</m:t>
                          </m:r>
                        </m:e>
                        <m:sub>
                          <m:r>
                            <a:rPr lang="en-US" i="1">
                              <a:latin typeface="Cambria Math" panose="02040503050406030204" pitchFamily="18" charset="0"/>
                              <a:ea typeface="Calibri" panose="020F0502020204030204" pitchFamily="34" charset="0"/>
                              <a:cs typeface="NimbusRomNo9L-ReguItal"/>
                            </a:rPr>
                            <m:t>𝑠</m:t>
                          </m:r>
                        </m:sub>
                      </m:sSub>
                      <m:r>
                        <a:rPr lang="en-US">
                          <a:latin typeface="Cambria Math" panose="02040503050406030204" pitchFamily="18" charset="0"/>
                          <a:ea typeface="Calibri" panose="020F0502020204030204" pitchFamily="34" charset="0"/>
                          <a:cs typeface="NimbusRomNo9L-ReguItal"/>
                        </a:rPr>
                        <m:t>=</m:t>
                      </m:r>
                      <m:f>
                        <m:fPr>
                          <m:ctrlPr>
                            <a:rPr lang="el-GR" i="1">
                              <a:latin typeface="Cambria Math" panose="02040503050406030204" pitchFamily="18" charset="0"/>
                              <a:ea typeface="Calibri" panose="020F0502020204030204" pitchFamily="34" charset="0"/>
                              <a:cs typeface="NimbusRomNo9L-ReguItal"/>
                            </a:rPr>
                          </m:ctrlPr>
                        </m:fPr>
                        <m:num>
                          <m:r>
                            <a:rPr lang="en-US" i="1">
                              <a:latin typeface="Cambria Math" panose="02040503050406030204" pitchFamily="18" charset="0"/>
                              <a:ea typeface="Calibri" panose="020F0502020204030204" pitchFamily="34" charset="0"/>
                              <a:cs typeface="NimbusRomNo9L-ReguItal"/>
                            </a:rPr>
                            <m:t>1</m:t>
                          </m:r>
                        </m:num>
                        <m:den>
                          <m:sSub>
                            <m:sSubPr>
                              <m:ctrlPr>
                                <a:rPr lang="el-GR" i="1">
                                  <a:latin typeface="Cambria Math" panose="02040503050406030204" pitchFamily="18" charset="0"/>
                                  <a:ea typeface="Microsoft Sans Serif" panose="020B0604020202020204" pitchFamily="34" charset="0"/>
                                  <a:cs typeface="NimbusRomNo9L-ReguItal"/>
                                </a:rPr>
                              </m:ctrlPr>
                            </m:sSubPr>
                            <m:e>
                              <m:r>
                                <a:rPr lang="en-US" i="1">
                                  <a:latin typeface="Cambria Math" panose="02040503050406030204" pitchFamily="18" charset="0"/>
                                  <a:ea typeface="Calibri" panose="020F0502020204030204" pitchFamily="34" charset="0"/>
                                  <a:cs typeface="NimbusRomNo9L-ReguItal"/>
                                </a:rPr>
                                <m:t>𝑅</m:t>
                              </m:r>
                            </m:e>
                            <m:sub>
                              <m:r>
                                <a:rPr lang="en-US" i="1">
                                  <a:latin typeface="Cambria Math" panose="02040503050406030204" pitchFamily="18" charset="0"/>
                                  <a:ea typeface="Calibri" panose="020F0502020204030204" pitchFamily="34" charset="0"/>
                                  <a:cs typeface="NimbusRomNo9L-ReguItal"/>
                                </a:rPr>
                                <m:t>𝑐h𝑖𝑟𝑝</m:t>
                              </m:r>
                            </m:sub>
                          </m:sSub>
                        </m:den>
                      </m:f>
                      <m:r>
                        <a:rPr lang="en-US">
                          <a:latin typeface="Cambria Math" panose="02040503050406030204" pitchFamily="18" charset="0"/>
                          <a:ea typeface="Calibri" panose="020F0502020204030204" pitchFamily="34" charset="0"/>
                          <a:cs typeface="NimbusRomNo9L-ReguItal"/>
                        </a:rPr>
                        <m:t>= </m:t>
                      </m:r>
                      <m:f>
                        <m:fPr>
                          <m:ctrlPr>
                            <a:rPr lang="el-GR" i="1">
                              <a:latin typeface="Cambria Math" panose="02040503050406030204" pitchFamily="18" charset="0"/>
                              <a:ea typeface="Microsoft Sans Serif" panose="020B0604020202020204" pitchFamily="34" charset="0"/>
                              <a:cs typeface="NimbusRomNo9L-ReguItal"/>
                            </a:rPr>
                          </m:ctrlPr>
                        </m:fPr>
                        <m:num>
                          <m:sSup>
                            <m:sSupPr>
                              <m:ctrlPr>
                                <a:rPr lang="el-GR" i="1">
                                  <a:latin typeface="Cambria Math" panose="02040503050406030204" pitchFamily="18" charset="0"/>
                                  <a:ea typeface="Microsoft Sans Serif" panose="020B0604020202020204" pitchFamily="34" charset="0"/>
                                  <a:cs typeface="NimbusRomNo9L-ReguItal"/>
                                </a:rPr>
                              </m:ctrlPr>
                            </m:sSupPr>
                            <m:e>
                              <m:r>
                                <a:rPr lang="en-US" i="1">
                                  <a:latin typeface="Cambria Math" panose="02040503050406030204" pitchFamily="18" charset="0"/>
                                  <a:ea typeface="Calibri" panose="020F0502020204030204" pitchFamily="34" charset="0"/>
                                  <a:cs typeface="NimbusRomNo9L-ReguItal"/>
                                </a:rPr>
                                <m:t>2</m:t>
                              </m:r>
                            </m:e>
                            <m:sup>
                              <m:r>
                                <a:rPr lang="en-US" i="1">
                                  <a:latin typeface="Cambria Math" panose="02040503050406030204" pitchFamily="18" charset="0"/>
                                  <a:ea typeface="Calibri" panose="020F0502020204030204" pitchFamily="34" charset="0"/>
                                  <a:cs typeface="NimbusRomNo9L-ReguItal"/>
                                </a:rPr>
                                <m:t>𝑆𝐹</m:t>
                              </m:r>
                            </m:sup>
                          </m:sSup>
                        </m:num>
                        <m:den>
                          <m:r>
                            <a:rPr lang="en-US" i="1">
                              <a:latin typeface="Cambria Math" panose="02040503050406030204" pitchFamily="18" charset="0"/>
                              <a:ea typeface="Calibri" panose="020F0502020204030204" pitchFamily="34" charset="0"/>
                              <a:cs typeface="NimbusRomNo9L-ReguItal"/>
                            </a:rPr>
                            <m:t>𝐵𝑊</m:t>
                          </m:r>
                        </m:den>
                      </m:f>
                    </m:oMath>
                  </m:oMathPara>
                </a14:m>
                <a:endParaRPr lang="el-GR" sz="2400" dirty="0">
                  <a:effectLst/>
                  <a:latin typeface="Calibri" panose="020F0502020204030204" pitchFamily="34" charset="0"/>
                  <a:ea typeface="Calibri" panose="020F0502020204030204" pitchFamily="34" charset="0"/>
                  <a:cs typeface="Times New Roman" panose="02020603050405020304" pitchFamily="18" charset="0"/>
                </a:endParaRPr>
              </a:p>
              <a:p>
                <a:pPr algn="just"/>
                <a:r>
                  <a:rPr lang="el-GR" dirty="0"/>
                  <a:t>από όπου φαίνεται ότι ο παράγοντας διασποράς είναι υπεύθυνος και για την διάρκεια του συμβόλου </a:t>
                </a:r>
                <a:r>
                  <a:rPr lang="el-GR" dirty="0" err="1"/>
                  <a:t>LoRa</a:t>
                </a:r>
                <a:r>
                  <a:rPr lang="el-GR" dirty="0"/>
                  <a:t>. Έτσι μια αύξηση του </a:t>
                </a:r>
                <a:r>
                  <a:rPr lang="el-GR" dirty="0" err="1"/>
                  <a:t>SF</a:t>
                </a:r>
                <a:r>
                  <a:rPr lang="el-GR" dirty="0"/>
                  <a:t> κατά μια μονάδα συνεπάγεται διπλασιασμό του χρόνου διάρκειας του συμβόλου.</a:t>
                </a:r>
              </a:p>
              <a:p>
                <a:pPr algn="just"/>
                <a:endParaRPr lang="el-GR" dirty="0"/>
              </a:p>
              <a:p>
                <a:endParaRPr lang="el-GR" dirty="0"/>
              </a:p>
              <a:p>
                <a:endParaRPr lang="el-GR" dirty="0"/>
              </a:p>
              <a:p>
                <a:endParaRPr lang="el-GR" dirty="0"/>
              </a:p>
              <a:p>
                <a:endParaRPr lang="el-GR" dirty="0"/>
              </a:p>
              <a:p>
                <a:endParaRPr lang="el-GR" dirty="0"/>
              </a:p>
              <a:p>
                <a:endParaRPr lang="el-GR" dirty="0"/>
              </a:p>
              <a:p>
                <a:endParaRPr lang="el-GR" dirty="0"/>
              </a:p>
              <a:p>
                <a:endParaRPr lang="el-GR" dirty="0"/>
              </a:p>
              <a:p>
                <a:endParaRPr lang="el-GR" dirty="0"/>
              </a:p>
              <a:p>
                <a:endParaRPr lang="el-GR" dirty="0"/>
              </a:p>
              <a:p>
                <a:endParaRPr lang="el-GR" dirty="0"/>
              </a:p>
            </p:txBody>
          </p:sp>
        </mc:Choice>
        <mc:Fallback xmlns="">
          <p:sp>
            <p:nvSpPr>
              <p:cNvPr id="8" name="Ορθογώνιο 7"/>
              <p:cNvSpPr>
                <a:spLocks noRot="1" noChangeAspect="1" noMove="1" noResize="1" noEditPoints="1" noAdjustHandles="1" noChangeArrowheads="1" noChangeShapeType="1" noTextEdit="1"/>
              </p:cNvSpPr>
              <p:nvPr/>
            </p:nvSpPr>
            <p:spPr>
              <a:xfrm>
                <a:off x="231409" y="592574"/>
                <a:ext cx="11616602" cy="6413102"/>
              </a:xfrm>
              <a:prstGeom prst="rect">
                <a:avLst/>
              </a:prstGeom>
              <a:blipFill rotWithShape="1">
                <a:blip r:embed="rId2"/>
                <a:stretch>
                  <a:fillRect l="-472" t="-475" r="-420"/>
                </a:stretch>
              </a:blipFill>
            </p:spPr>
            <p:txBody>
              <a:bodyPr/>
              <a:lstStyle/>
              <a:p>
                <a:r>
                  <a:rPr lang="el-GR">
                    <a:noFill/>
                  </a:rPr>
                  <a:t> </a:t>
                </a:r>
              </a:p>
            </p:txBody>
          </p:sp>
        </mc:Fallback>
      </mc:AlternateContent>
      <p:pic>
        <p:nvPicPr>
          <p:cNvPr id="2" name="Εικόνα 1"/>
          <p:cNvPicPr>
            <a:picLocks noChangeAspect="1"/>
          </p:cNvPicPr>
          <p:nvPr/>
        </p:nvPicPr>
        <p:blipFill>
          <a:blip r:embed="rId3"/>
          <a:stretch>
            <a:fillRect/>
          </a:stretch>
        </p:blipFill>
        <p:spPr>
          <a:xfrm>
            <a:off x="3537157" y="3929267"/>
            <a:ext cx="5273497" cy="2792210"/>
          </a:xfrm>
          <a:prstGeom prst="rect">
            <a:avLst/>
          </a:prstGeom>
        </p:spPr>
      </p:pic>
    </p:spTree>
    <p:extLst>
      <p:ext uri="{BB962C8B-B14F-4D97-AF65-F5344CB8AC3E}">
        <p14:creationId xmlns:p14="http://schemas.microsoft.com/office/powerpoint/2010/main" val="28732257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Θέση αριθμού διαφάνειας 2"/>
          <p:cNvSpPr>
            <a:spLocks noGrp="1"/>
          </p:cNvSpPr>
          <p:nvPr>
            <p:ph type="sldNum" sz="quarter" idx="12"/>
          </p:nvPr>
        </p:nvSpPr>
        <p:spPr/>
        <p:txBody>
          <a:bodyPr/>
          <a:lstStyle/>
          <a:p>
            <a:fld id="{B6F15528-21DE-4FAA-801E-634DDDAF4B2B}" type="slidenum">
              <a:rPr lang="en-US" smtClean="0">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pPr/>
              <a:t>6</a:t>
            </a:fld>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
        <p:nvSpPr>
          <p:cNvPr id="5" name="Πίτα 4"/>
          <p:cNvSpPr/>
          <p:nvPr/>
        </p:nvSpPr>
        <p:spPr>
          <a:xfrm>
            <a:off x="8410545" y="93859"/>
            <a:ext cx="400109" cy="400109"/>
          </a:xfrm>
          <a:prstGeom prst="pie">
            <a:avLst>
              <a:gd name="adj1" fmla="val 5400000"/>
              <a:gd name="adj2" fmla="val 1620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grpSp>
        <p:nvGrpSpPr>
          <p:cNvPr id="6" name="Ομάδα 5"/>
          <p:cNvGrpSpPr/>
          <p:nvPr/>
        </p:nvGrpSpPr>
        <p:grpSpPr>
          <a:xfrm>
            <a:off x="8610600" y="93859"/>
            <a:ext cx="3533745" cy="400109"/>
            <a:chOff x="200055" y="0"/>
            <a:chExt cx="3533745" cy="400109"/>
          </a:xfrm>
        </p:grpSpPr>
        <p:sp>
          <p:nvSpPr>
            <p:cNvPr id="7" name="Ορθογώνιο 6"/>
            <p:cNvSpPr/>
            <p:nvPr/>
          </p:nvSpPr>
          <p:spPr>
            <a:xfrm>
              <a:off x="200055" y="0"/>
              <a:ext cx="3533745" cy="400109"/>
            </a:xfrm>
            <a:prstGeom prst="rect">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8" name="TextBox 7"/>
            <p:cNvSpPr txBox="1"/>
            <p:nvPr/>
          </p:nvSpPr>
          <p:spPr>
            <a:xfrm>
              <a:off x="200055" y="0"/>
              <a:ext cx="3533745" cy="40010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8580" tIns="68580" rIns="68580" bIns="68580" numCol="1" spcCol="1270" anchor="ctr" anchorCtr="0">
              <a:noAutofit/>
            </a:bodyPr>
            <a:lstStyle/>
            <a:p>
              <a:r>
                <a:rPr lang="el-GR" b="1" dirty="0"/>
                <a:t>Διαμόρφωση </a:t>
              </a:r>
              <a:r>
                <a:rPr lang="en-US" b="1" dirty="0" err="1"/>
                <a:t>LoRa</a:t>
              </a:r>
              <a:endParaRPr lang="el-GR" b="1" dirty="0"/>
            </a:p>
          </p:txBody>
        </p:sp>
      </p:grpSp>
      <mc:AlternateContent xmlns:mc="http://schemas.openxmlformats.org/markup-compatibility/2006" xmlns:a14="http://schemas.microsoft.com/office/drawing/2010/main">
        <mc:Choice Requires="a14">
          <p:sp>
            <p:nvSpPr>
              <p:cNvPr id="9" name="Ορθογώνιο 8"/>
              <p:cNvSpPr/>
              <p:nvPr/>
            </p:nvSpPr>
            <p:spPr>
              <a:xfrm>
                <a:off x="378822" y="594921"/>
                <a:ext cx="11351623" cy="4345613"/>
              </a:xfrm>
              <a:prstGeom prst="rect">
                <a:avLst/>
              </a:prstGeom>
            </p:spPr>
            <p:txBody>
              <a:bodyPr wrap="square">
                <a:spAutoFit/>
              </a:bodyPr>
              <a:lstStyle/>
              <a:p>
                <a:pPr algn="just"/>
                <a:r>
                  <a:rPr lang="el-GR" b="1" dirty="0"/>
                  <a:t>Ο ρυθμός μετάδοσης δεδομένων </a:t>
                </a:r>
                <a:r>
                  <a:rPr lang="el-GR" dirty="0"/>
                  <a:t>(</a:t>
                </a:r>
                <a:r>
                  <a:rPr lang="el-GR" dirty="0" err="1"/>
                  <a:t>Bitrate</a:t>
                </a:r>
                <a:r>
                  <a:rPr lang="el-GR" dirty="0"/>
                  <a:t> [</a:t>
                </a:r>
                <a:r>
                  <a:rPr lang="el-GR" dirty="0" err="1"/>
                  <a:t>bits</a:t>
                </a:r>
                <a:r>
                  <a:rPr lang="el-GR" dirty="0"/>
                  <a:t>/s]) δίνεται από την εξίσωση:</a:t>
                </a:r>
              </a:p>
              <a:p>
                <a:pPr indent="90170" algn="just">
                  <a:lnSpc>
                    <a:spcPct val="115000"/>
                  </a:lnSpc>
                  <a:spcAft>
                    <a:spcPts val="0"/>
                  </a:spcAft>
                </a:pPr>
                <a14:m>
                  <m:oMathPara xmlns:m="http://schemas.openxmlformats.org/officeDocument/2006/math">
                    <m:oMathParaPr>
                      <m:jc m:val="centerGroup"/>
                    </m:oMathParaPr>
                    <m:oMath xmlns:m="http://schemas.openxmlformats.org/officeDocument/2006/math">
                      <m:sSub>
                        <m:sSubPr>
                          <m:ctrlPr>
                            <a:rPr lang="el-GR" i="1">
                              <a:latin typeface="Cambria Math" panose="02040503050406030204" pitchFamily="18" charset="0"/>
                              <a:ea typeface="Calibri" panose="020F0502020204030204" pitchFamily="34" charset="0"/>
                              <a:cs typeface="Times New Roman" panose="02020603050405020304" pitchFamily="18" charset="0"/>
                            </a:rPr>
                          </m:ctrlPr>
                        </m:sSubPr>
                        <m:e>
                          <m:r>
                            <a:rPr lang="el-GR" i="1">
                              <a:latin typeface="Cambria Math" panose="02040503050406030204" pitchFamily="18" charset="0"/>
                              <a:ea typeface="Calibri" panose="020F0502020204030204" pitchFamily="34" charset="0"/>
                              <a:cs typeface="Times New Roman" panose="02020603050405020304" pitchFamily="18" charset="0"/>
                            </a:rPr>
                            <m:t>𝑅</m:t>
                          </m:r>
                        </m:e>
                        <m:sub>
                          <m:r>
                            <a:rPr lang="el-GR" i="1">
                              <a:latin typeface="Cambria Math" panose="02040503050406030204" pitchFamily="18" charset="0"/>
                              <a:ea typeface="Calibri" panose="020F0502020204030204" pitchFamily="34" charset="0"/>
                              <a:cs typeface="Times New Roman" panose="02020603050405020304" pitchFamily="18" charset="0"/>
                            </a:rPr>
                            <m:t>𝑏</m:t>
                          </m:r>
                        </m:sub>
                      </m:sSub>
                      <m:r>
                        <a:rPr lang="el-GR" i="1">
                          <a:latin typeface="Cambria Math" panose="02040503050406030204" pitchFamily="18" charset="0"/>
                          <a:ea typeface="Calibri" panose="020F0502020204030204" pitchFamily="34" charset="0"/>
                          <a:cs typeface="Times New Roman" panose="02020603050405020304" pitchFamily="18" charset="0"/>
                        </a:rPr>
                        <m:t>=</m:t>
                      </m:r>
                      <m:r>
                        <a:rPr lang="el-GR" i="1">
                          <a:latin typeface="Cambria Math" panose="02040503050406030204" pitchFamily="18" charset="0"/>
                          <a:ea typeface="Calibri" panose="020F0502020204030204" pitchFamily="34" charset="0"/>
                          <a:cs typeface="Times New Roman" panose="02020603050405020304" pitchFamily="18" charset="0"/>
                        </a:rPr>
                        <m:t>𝑆𝐹</m:t>
                      </m:r>
                      <m:r>
                        <a:rPr lang="el-GR" i="1">
                          <a:latin typeface="Cambria Math" panose="02040503050406030204" pitchFamily="18" charset="0"/>
                          <a:ea typeface="Calibri" panose="020F0502020204030204" pitchFamily="34" charset="0"/>
                          <a:cs typeface="Times New Roman" panose="02020603050405020304" pitchFamily="18" charset="0"/>
                        </a:rPr>
                        <m:t>∗</m:t>
                      </m:r>
                      <m:f>
                        <m:fPr>
                          <m:ctrlPr>
                            <a:rPr lang="el-GR" i="1">
                              <a:latin typeface="Cambria Math" panose="02040503050406030204" pitchFamily="18" charset="0"/>
                              <a:ea typeface="Calibri" panose="020F0502020204030204" pitchFamily="34" charset="0"/>
                              <a:cs typeface="Times New Roman" panose="02020603050405020304" pitchFamily="18" charset="0"/>
                            </a:rPr>
                          </m:ctrlPr>
                        </m:fPr>
                        <m:num>
                          <m:r>
                            <a:rPr lang="el-GR" i="1">
                              <a:latin typeface="Cambria Math" panose="02040503050406030204" pitchFamily="18" charset="0"/>
                              <a:ea typeface="Calibri" panose="020F0502020204030204" pitchFamily="34" charset="0"/>
                              <a:cs typeface="Times New Roman" panose="02020603050405020304" pitchFamily="18" charset="0"/>
                            </a:rPr>
                            <m:t>1</m:t>
                          </m:r>
                        </m:num>
                        <m:den>
                          <m:sSub>
                            <m:sSubPr>
                              <m:ctrlPr>
                                <a:rPr lang="el-GR" i="1">
                                  <a:latin typeface="Cambria Math" panose="02040503050406030204" pitchFamily="18" charset="0"/>
                                  <a:ea typeface="Calibri" panose="020F0502020204030204" pitchFamily="34" charset="0"/>
                                  <a:cs typeface="Times New Roman" panose="02020603050405020304" pitchFamily="18" charset="0"/>
                                </a:rPr>
                              </m:ctrlPr>
                            </m:sSubPr>
                            <m:e>
                              <m:r>
                                <a:rPr lang="el-GR" i="1">
                                  <a:latin typeface="Cambria Math" panose="02040503050406030204" pitchFamily="18" charset="0"/>
                                  <a:ea typeface="Calibri" panose="020F0502020204030204" pitchFamily="34" charset="0"/>
                                  <a:cs typeface="Times New Roman" panose="02020603050405020304" pitchFamily="18" charset="0"/>
                                </a:rPr>
                                <m:t>𝑇</m:t>
                              </m:r>
                            </m:e>
                            <m:sub>
                              <m:r>
                                <a:rPr lang="el-GR" i="1">
                                  <a:latin typeface="Cambria Math" panose="02040503050406030204" pitchFamily="18" charset="0"/>
                                  <a:ea typeface="Calibri" panose="020F0502020204030204" pitchFamily="34" charset="0"/>
                                  <a:cs typeface="Times New Roman" panose="02020603050405020304" pitchFamily="18" charset="0"/>
                                </a:rPr>
                                <m:t>𝑠</m:t>
                              </m:r>
                            </m:sub>
                          </m:sSub>
                        </m:den>
                      </m:f>
                    </m:oMath>
                  </m:oMathPara>
                </a14:m>
                <a:endParaRPr lang="el-GR"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r>
                  <a:rPr lang="el-GR" dirty="0"/>
                  <a:t>Παρουσιάζεται ενδεικτικός Πίνακας με το πώς διαμορφώνεται, σύμφωνα με τις παραπάνω εξισώσεις, ο ρυθμός δεδομένων για κάθε </a:t>
                </a:r>
                <a:r>
                  <a:rPr lang="el-GR" dirty="0" err="1"/>
                  <a:t>SF</a:t>
                </a:r>
                <a:r>
                  <a:rPr lang="el-GR" dirty="0"/>
                  <a:t> γνωρίζοντας το διαθέσιμο κάθε φορά </a:t>
                </a:r>
                <a:r>
                  <a:rPr lang="el-GR" dirty="0" err="1"/>
                  <a:t>bandwith</a:t>
                </a:r>
                <a:r>
                  <a:rPr lang="el-GR" dirty="0"/>
                  <a:t>.</a:t>
                </a:r>
              </a:p>
              <a:p>
                <a:pPr algn="just"/>
                <a:endParaRPr lang="el-GR" dirty="0"/>
              </a:p>
              <a:p>
                <a:pPr algn="just"/>
                <a:endParaRPr lang="el-GR" dirty="0"/>
              </a:p>
              <a:p>
                <a:pPr algn="just"/>
                <a:endParaRPr lang="el-GR" dirty="0"/>
              </a:p>
              <a:p>
                <a:pPr algn="just"/>
                <a:endParaRPr lang="el-GR" dirty="0"/>
              </a:p>
              <a:p>
                <a:pPr algn="just"/>
                <a:endParaRPr lang="el-GR" dirty="0"/>
              </a:p>
              <a:p>
                <a:pPr algn="just"/>
                <a:endParaRPr lang="el-GR" dirty="0"/>
              </a:p>
              <a:p>
                <a:pPr algn="just"/>
                <a:endParaRPr lang="el-GR" dirty="0"/>
              </a:p>
              <a:p>
                <a:pPr algn="just"/>
                <a:endParaRPr lang="el-GR" dirty="0"/>
              </a:p>
              <a:p>
                <a:pPr algn="just"/>
                <a:endParaRPr lang="el-GR" dirty="0"/>
              </a:p>
              <a:p>
                <a:pPr algn="just"/>
                <a:endParaRPr lang="el-GR" dirty="0"/>
              </a:p>
            </p:txBody>
          </p:sp>
        </mc:Choice>
        <mc:Fallback xmlns="">
          <p:sp>
            <p:nvSpPr>
              <p:cNvPr id="9" name="Ορθογώνιο 8"/>
              <p:cNvSpPr>
                <a:spLocks noRot="1" noChangeAspect="1" noMove="1" noResize="1" noEditPoints="1" noAdjustHandles="1" noChangeArrowheads="1" noChangeShapeType="1" noTextEdit="1"/>
              </p:cNvSpPr>
              <p:nvPr/>
            </p:nvSpPr>
            <p:spPr>
              <a:xfrm>
                <a:off x="378822" y="594921"/>
                <a:ext cx="11351623" cy="4345613"/>
              </a:xfrm>
              <a:prstGeom prst="rect">
                <a:avLst/>
              </a:prstGeom>
              <a:blipFill rotWithShape="1">
                <a:blip r:embed="rId2"/>
                <a:stretch>
                  <a:fillRect l="-430" t="-702" r="-483"/>
                </a:stretch>
              </a:blipFill>
            </p:spPr>
            <p:txBody>
              <a:bodyPr/>
              <a:lstStyle/>
              <a:p>
                <a:r>
                  <a:rPr lang="el-GR">
                    <a:noFill/>
                  </a:rPr>
                  <a:t> </a:t>
                </a:r>
              </a:p>
            </p:txBody>
          </p:sp>
        </mc:Fallback>
      </mc:AlternateContent>
      <p:graphicFrame>
        <p:nvGraphicFramePr>
          <p:cNvPr id="10" name="Πίνακας 9"/>
          <p:cNvGraphicFramePr>
            <a:graphicFrameLocks noGrp="1"/>
          </p:cNvGraphicFramePr>
          <p:nvPr>
            <p:extLst>
              <p:ext uri="{D42A27DB-BD31-4B8C-83A1-F6EECF244321}">
                <p14:modId xmlns:p14="http://schemas.microsoft.com/office/powerpoint/2010/main" val="2727327514"/>
              </p:ext>
            </p:extLst>
          </p:nvPr>
        </p:nvGraphicFramePr>
        <p:xfrm>
          <a:off x="4130534" y="2374774"/>
          <a:ext cx="4480064" cy="3217760"/>
        </p:xfrm>
        <a:graphic>
          <a:graphicData uri="http://schemas.openxmlformats.org/drawingml/2006/table">
            <a:tbl>
              <a:tblPr firstRow="1" firstCol="1" bandRow="1">
                <a:tableStyleId>{5C22544A-7EE6-4342-B048-85BDC9FD1C3A}</a:tableStyleId>
              </a:tblPr>
              <a:tblGrid>
                <a:gridCol w="1120016">
                  <a:extLst>
                    <a:ext uri="{9D8B030D-6E8A-4147-A177-3AD203B41FA5}">
                      <a16:colId xmlns:a16="http://schemas.microsoft.com/office/drawing/2014/main" val="684584914"/>
                    </a:ext>
                  </a:extLst>
                </a:gridCol>
                <a:gridCol w="1120016">
                  <a:extLst>
                    <a:ext uri="{9D8B030D-6E8A-4147-A177-3AD203B41FA5}">
                      <a16:colId xmlns:a16="http://schemas.microsoft.com/office/drawing/2014/main" val="168032097"/>
                    </a:ext>
                  </a:extLst>
                </a:gridCol>
                <a:gridCol w="1120016">
                  <a:extLst>
                    <a:ext uri="{9D8B030D-6E8A-4147-A177-3AD203B41FA5}">
                      <a16:colId xmlns:a16="http://schemas.microsoft.com/office/drawing/2014/main" val="2549200336"/>
                    </a:ext>
                  </a:extLst>
                </a:gridCol>
                <a:gridCol w="1120016">
                  <a:extLst>
                    <a:ext uri="{9D8B030D-6E8A-4147-A177-3AD203B41FA5}">
                      <a16:colId xmlns:a16="http://schemas.microsoft.com/office/drawing/2014/main" val="4200075088"/>
                    </a:ext>
                  </a:extLst>
                </a:gridCol>
              </a:tblGrid>
              <a:tr h="459680">
                <a:tc>
                  <a:txBody>
                    <a:bodyPr/>
                    <a:lstStyle/>
                    <a:p>
                      <a:pPr algn="ctr">
                        <a:lnSpc>
                          <a:spcPct val="115000"/>
                        </a:lnSpc>
                        <a:spcAft>
                          <a:spcPts val="1000"/>
                        </a:spcAft>
                      </a:pPr>
                      <a:r>
                        <a:rPr lang="el-GR" sz="1000" dirty="0" err="1">
                          <a:effectLst/>
                        </a:rPr>
                        <a:t>SF</a:t>
                      </a:r>
                      <a:endParaRPr lang="el-G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l-GR" sz="1000" dirty="0">
                          <a:effectLst/>
                        </a:rPr>
                        <a:t>125 </a:t>
                      </a:r>
                      <a:r>
                        <a:rPr lang="el-GR" sz="1000" dirty="0" err="1">
                          <a:effectLst/>
                        </a:rPr>
                        <a:t>kHz</a:t>
                      </a:r>
                      <a:endParaRPr lang="el-G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l-GR" sz="1000">
                          <a:effectLst/>
                        </a:rPr>
                        <a:t>250 kHz</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l-GR" sz="1000">
                          <a:effectLst/>
                        </a:rPr>
                        <a:t>500 kHz</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512482366"/>
                  </a:ext>
                </a:extLst>
              </a:tr>
              <a:tr h="459680">
                <a:tc>
                  <a:txBody>
                    <a:bodyPr/>
                    <a:lstStyle/>
                    <a:p>
                      <a:pPr algn="ctr">
                        <a:lnSpc>
                          <a:spcPct val="115000"/>
                        </a:lnSpc>
                        <a:spcAft>
                          <a:spcPts val="1000"/>
                        </a:spcAft>
                      </a:pPr>
                      <a:r>
                        <a:rPr lang="el-GR" sz="1000">
                          <a:effectLst/>
                        </a:rPr>
                        <a:t>7</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l-GR" sz="1000">
                          <a:effectLst/>
                        </a:rPr>
                        <a:t>6835</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l-GR" sz="1000">
                          <a:effectLst/>
                        </a:rPr>
                        <a:t>13671</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l-GR" sz="1000">
                          <a:effectLst/>
                        </a:rPr>
                        <a:t>27343</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270087508"/>
                  </a:ext>
                </a:extLst>
              </a:tr>
              <a:tr h="459680">
                <a:tc>
                  <a:txBody>
                    <a:bodyPr/>
                    <a:lstStyle/>
                    <a:p>
                      <a:pPr algn="ctr">
                        <a:lnSpc>
                          <a:spcPct val="115000"/>
                        </a:lnSpc>
                        <a:spcAft>
                          <a:spcPts val="1000"/>
                        </a:spcAft>
                      </a:pPr>
                      <a:r>
                        <a:rPr lang="el-GR" sz="1000">
                          <a:effectLst/>
                        </a:rPr>
                        <a:t>8</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l-GR" sz="1000">
                          <a:effectLst/>
                        </a:rPr>
                        <a:t>3906</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l-GR" sz="1000">
                          <a:effectLst/>
                        </a:rPr>
                        <a:t>7812</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l-GR" sz="1000">
                          <a:effectLst/>
                        </a:rPr>
                        <a:t>15625</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859804733"/>
                  </a:ext>
                </a:extLst>
              </a:tr>
              <a:tr h="459680">
                <a:tc>
                  <a:txBody>
                    <a:bodyPr/>
                    <a:lstStyle/>
                    <a:p>
                      <a:pPr algn="ctr">
                        <a:lnSpc>
                          <a:spcPct val="115000"/>
                        </a:lnSpc>
                        <a:spcAft>
                          <a:spcPts val="1000"/>
                        </a:spcAft>
                      </a:pPr>
                      <a:r>
                        <a:rPr lang="el-GR" sz="1000" dirty="0">
                          <a:effectLst/>
                        </a:rPr>
                        <a:t>9</a:t>
                      </a:r>
                      <a:endParaRPr lang="el-G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l-GR" sz="1000">
                          <a:effectLst/>
                        </a:rPr>
                        <a:t>2197</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l-GR" sz="1000">
                          <a:effectLst/>
                        </a:rPr>
                        <a:t>4396</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l-GR" sz="1000">
                          <a:effectLst/>
                        </a:rPr>
                        <a:t>8793</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88993865"/>
                  </a:ext>
                </a:extLst>
              </a:tr>
              <a:tr h="459680">
                <a:tc>
                  <a:txBody>
                    <a:bodyPr/>
                    <a:lstStyle/>
                    <a:p>
                      <a:pPr algn="ctr">
                        <a:lnSpc>
                          <a:spcPct val="115000"/>
                        </a:lnSpc>
                        <a:spcAft>
                          <a:spcPts val="1000"/>
                        </a:spcAft>
                      </a:pPr>
                      <a:r>
                        <a:rPr lang="el-GR" sz="1000">
                          <a:effectLst/>
                        </a:rPr>
                        <a:t>10</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l-GR" sz="1000">
                          <a:effectLst/>
                        </a:rPr>
                        <a:t>1220</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l-GR" sz="1000">
                          <a:effectLst/>
                        </a:rPr>
                        <a:t>2441</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l-GR" sz="1000">
                          <a:effectLst/>
                        </a:rPr>
                        <a:t>4882</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231254923"/>
                  </a:ext>
                </a:extLst>
              </a:tr>
              <a:tr h="459680">
                <a:tc>
                  <a:txBody>
                    <a:bodyPr/>
                    <a:lstStyle/>
                    <a:p>
                      <a:pPr algn="ctr">
                        <a:lnSpc>
                          <a:spcPct val="115000"/>
                        </a:lnSpc>
                        <a:spcAft>
                          <a:spcPts val="1000"/>
                        </a:spcAft>
                      </a:pPr>
                      <a:r>
                        <a:rPr lang="el-GR" sz="1000">
                          <a:effectLst/>
                        </a:rPr>
                        <a:t>11</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l-GR" sz="1000">
                          <a:effectLst/>
                        </a:rPr>
                        <a:t>671</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l-GR" sz="1000">
                          <a:effectLst/>
                        </a:rPr>
                        <a:t>1342</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l-GR" sz="1000">
                          <a:effectLst/>
                        </a:rPr>
                        <a:t>2685</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70789163"/>
                  </a:ext>
                </a:extLst>
              </a:tr>
              <a:tr h="459680">
                <a:tc>
                  <a:txBody>
                    <a:bodyPr/>
                    <a:lstStyle/>
                    <a:p>
                      <a:pPr algn="ctr">
                        <a:lnSpc>
                          <a:spcPct val="115000"/>
                        </a:lnSpc>
                        <a:spcAft>
                          <a:spcPts val="1000"/>
                        </a:spcAft>
                      </a:pPr>
                      <a:r>
                        <a:rPr lang="el-GR" sz="1000">
                          <a:effectLst/>
                        </a:rPr>
                        <a:t>12</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l-GR" sz="1000">
                          <a:effectLst/>
                        </a:rPr>
                        <a:t>366</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l-GR" sz="1000" dirty="0">
                          <a:effectLst/>
                        </a:rPr>
                        <a:t>732</a:t>
                      </a:r>
                      <a:endParaRPr lang="el-G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l-GR" sz="1000" dirty="0">
                          <a:effectLst/>
                        </a:rPr>
                        <a:t>1464</a:t>
                      </a:r>
                      <a:endParaRPr lang="el-G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108471041"/>
                  </a:ext>
                </a:extLst>
              </a:tr>
            </a:tbl>
          </a:graphicData>
        </a:graphic>
      </p:graphicFrame>
    </p:spTree>
    <p:extLst>
      <p:ext uri="{BB962C8B-B14F-4D97-AF65-F5344CB8AC3E}">
        <p14:creationId xmlns:p14="http://schemas.microsoft.com/office/powerpoint/2010/main" val="8021061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Θέση αριθμού διαφάνειας 2"/>
          <p:cNvSpPr>
            <a:spLocks noGrp="1"/>
          </p:cNvSpPr>
          <p:nvPr>
            <p:ph type="sldNum" sz="quarter" idx="12"/>
          </p:nvPr>
        </p:nvSpPr>
        <p:spPr/>
        <p:txBody>
          <a:bodyPr/>
          <a:lstStyle/>
          <a:p>
            <a:fld id="{B6F15528-21DE-4FAA-801E-634DDDAF4B2B}" type="slidenum">
              <a:rPr lang="en-US" smtClean="0">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pPr/>
              <a:t>7</a:t>
            </a:fld>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
        <p:nvSpPr>
          <p:cNvPr id="4" name="Πίτα 3"/>
          <p:cNvSpPr/>
          <p:nvPr/>
        </p:nvSpPr>
        <p:spPr>
          <a:xfrm>
            <a:off x="8410545" y="93859"/>
            <a:ext cx="400109" cy="400109"/>
          </a:xfrm>
          <a:prstGeom prst="pie">
            <a:avLst>
              <a:gd name="adj1" fmla="val 5400000"/>
              <a:gd name="adj2" fmla="val 1620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grpSp>
        <p:nvGrpSpPr>
          <p:cNvPr id="5" name="Ομάδα 4"/>
          <p:cNvGrpSpPr/>
          <p:nvPr/>
        </p:nvGrpSpPr>
        <p:grpSpPr>
          <a:xfrm>
            <a:off x="8610600" y="93859"/>
            <a:ext cx="3533745" cy="400109"/>
            <a:chOff x="200055" y="0"/>
            <a:chExt cx="3533745" cy="400109"/>
          </a:xfrm>
        </p:grpSpPr>
        <p:sp>
          <p:nvSpPr>
            <p:cNvPr id="6" name="Ορθογώνιο 5"/>
            <p:cNvSpPr/>
            <p:nvPr/>
          </p:nvSpPr>
          <p:spPr>
            <a:xfrm>
              <a:off x="200055" y="0"/>
              <a:ext cx="3533745" cy="400109"/>
            </a:xfrm>
            <a:prstGeom prst="rect">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7" name="TextBox 6"/>
            <p:cNvSpPr txBox="1"/>
            <p:nvPr/>
          </p:nvSpPr>
          <p:spPr>
            <a:xfrm>
              <a:off x="200055" y="0"/>
              <a:ext cx="3533745" cy="40010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8580" tIns="68580" rIns="68580" bIns="68580" numCol="1" spcCol="1270" anchor="ctr" anchorCtr="0">
              <a:noAutofit/>
            </a:bodyPr>
            <a:lstStyle/>
            <a:p>
              <a:r>
                <a:rPr lang="el-GR" b="1" dirty="0"/>
                <a:t>Διαμόρφωση </a:t>
              </a:r>
              <a:r>
                <a:rPr lang="en-US" b="1" dirty="0" err="1"/>
                <a:t>LoRa</a:t>
              </a:r>
              <a:endParaRPr lang="el-GR" b="1" dirty="0"/>
            </a:p>
          </p:txBody>
        </p:sp>
      </p:grpSp>
      <p:sp>
        <p:nvSpPr>
          <p:cNvPr id="9" name="Ορθογώνιο 8"/>
          <p:cNvSpPr/>
          <p:nvPr/>
        </p:nvSpPr>
        <p:spPr>
          <a:xfrm>
            <a:off x="548640" y="626073"/>
            <a:ext cx="11090366" cy="2516073"/>
          </a:xfrm>
          <a:prstGeom prst="rect">
            <a:avLst/>
          </a:prstGeom>
        </p:spPr>
        <p:txBody>
          <a:bodyPr wrap="square">
            <a:spAutoFit/>
          </a:bodyPr>
          <a:lstStyle/>
          <a:p>
            <a:pPr algn="just"/>
            <a:r>
              <a:rPr lang="el-GR" b="1" dirty="0"/>
              <a:t>Μεγαλώνοντας ο SF έχει ως αποτέλεσμα:</a:t>
            </a:r>
          </a:p>
          <a:p>
            <a:pPr marL="285750" indent="-285750" algn="just">
              <a:buFont typeface="Arial" panose="020B0604020202020204" pitchFamily="34" charset="0"/>
              <a:buChar char="•"/>
            </a:pPr>
            <a:r>
              <a:rPr lang="el-GR" dirty="0"/>
              <a:t>Υψηλότερη ανθεκτικότητα σε παρεμβολές και θόρυβο</a:t>
            </a:r>
          </a:p>
          <a:p>
            <a:pPr marL="285750" indent="-285750" algn="just">
              <a:buFont typeface="Arial" panose="020B0604020202020204" pitchFamily="34" charset="0"/>
              <a:buChar char="•"/>
            </a:pPr>
            <a:r>
              <a:rPr lang="el-GR" dirty="0"/>
              <a:t>Αύξηση  της ευαισθησίας του δέκτη</a:t>
            </a:r>
          </a:p>
          <a:p>
            <a:pPr algn="just">
              <a:lnSpc>
                <a:spcPct val="115000"/>
              </a:lnSpc>
              <a:spcAft>
                <a:spcPts val="0"/>
              </a:spcAft>
            </a:pPr>
            <a:endParaRPr lang="el-GR" dirty="0"/>
          </a:p>
          <a:p>
            <a:pPr algn="just">
              <a:lnSpc>
                <a:spcPct val="115000"/>
              </a:lnSpc>
              <a:spcAft>
                <a:spcPts val="0"/>
              </a:spcAft>
            </a:pPr>
            <a:endParaRPr lang="el-GR" dirty="0"/>
          </a:p>
          <a:p>
            <a:pPr algn="just">
              <a:lnSpc>
                <a:spcPct val="115000"/>
              </a:lnSpc>
              <a:spcAft>
                <a:spcPts val="0"/>
              </a:spcAft>
            </a:pPr>
            <a:r>
              <a:rPr lang="el-GR" dirty="0"/>
              <a:t>Ο όρος SNR (</a:t>
            </a:r>
            <a:r>
              <a:rPr lang="el-GR" dirty="0" err="1"/>
              <a:t>Signal</a:t>
            </a:r>
            <a:r>
              <a:rPr lang="el-GR" dirty="0"/>
              <a:t> </a:t>
            </a:r>
            <a:r>
              <a:rPr lang="el-GR" dirty="0" err="1"/>
              <a:t>to</a:t>
            </a:r>
            <a:r>
              <a:rPr lang="el-GR" dirty="0"/>
              <a:t> </a:t>
            </a:r>
            <a:r>
              <a:rPr lang="el-GR" dirty="0" err="1"/>
              <a:t>Noise</a:t>
            </a:r>
            <a:r>
              <a:rPr lang="el-GR" dirty="0"/>
              <a:t> </a:t>
            </a:r>
            <a:r>
              <a:rPr lang="el-GR" dirty="0" err="1"/>
              <a:t>Ratio</a:t>
            </a:r>
            <a:r>
              <a:rPr lang="el-GR" dirty="0"/>
              <a:t>)  αποτελεί την τιμή του απαιτούμενου λόγου σήματος προς θόρυβο  στον αποδιαμορφωτή για αξιόπιστη λήψη του σήματος και εξαρτάται από την υλοποιούμενη κάθε φορά διαμόρφωση όπως φαίνεται στο πίνακα που ακολουθεί:</a:t>
            </a:r>
          </a:p>
        </p:txBody>
      </p:sp>
      <p:pic>
        <p:nvPicPr>
          <p:cNvPr id="10" name="Εικόνα 9"/>
          <p:cNvPicPr>
            <a:picLocks noChangeAspect="1"/>
          </p:cNvPicPr>
          <p:nvPr/>
        </p:nvPicPr>
        <p:blipFill>
          <a:blip r:embed="rId2"/>
          <a:stretch>
            <a:fillRect/>
          </a:stretch>
        </p:blipFill>
        <p:spPr>
          <a:xfrm>
            <a:off x="4796753" y="3142146"/>
            <a:ext cx="2381867" cy="2293649"/>
          </a:xfrm>
          <a:prstGeom prst="rect">
            <a:avLst/>
          </a:prstGeom>
        </p:spPr>
      </p:pic>
    </p:spTree>
    <p:extLst>
      <p:ext uri="{BB962C8B-B14F-4D97-AF65-F5344CB8AC3E}">
        <p14:creationId xmlns:p14="http://schemas.microsoft.com/office/powerpoint/2010/main" val="20712143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Θέση αριθμού διαφάνειας 2"/>
          <p:cNvSpPr>
            <a:spLocks noGrp="1"/>
          </p:cNvSpPr>
          <p:nvPr>
            <p:ph type="sldNum" sz="quarter" idx="12"/>
          </p:nvPr>
        </p:nvSpPr>
        <p:spPr/>
        <p:txBody>
          <a:bodyPr/>
          <a:lstStyle/>
          <a:p>
            <a:fld id="{B6F15528-21DE-4FAA-801E-634DDDAF4B2B}" type="slidenum">
              <a:rPr lang="en-US" smtClean="0">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pPr/>
              <a:t>8</a:t>
            </a:fld>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
        <p:nvSpPr>
          <p:cNvPr id="4" name="Ορθογώνιο 3"/>
          <p:cNvSpPr/>
          <p:nvPr/>
        </p:nvSpPr>
        <p:spPr>
          <a:xfrm>
            <a:off x="248193" y="652990"/>
            <a:ext cx="11573693" cy="1877437"/>
          </a:xfrm>
          <a:prstGeom prst="rect">
            <a:avLst/>
          </a:prstGeom>
        </p:spPr>
        <p:txBody>
          <a:bodyPr wrap="square">
            <a:spAutoFit/>
          </a:bodyPr>
          <a:lstStyle/>
          <a:p>
            <a:r>
              <a:rPr lang="el-GR" b="1" dirty="0"/>
              <a:t>Ορθογωνιότητα </a:t>
            </a:r>
            <a:r>
              <a:rPr lang="en-US" b="1" dirty="0"/>
              <a:t>Spreading Factor</a:t>
            </a:r>
          </a:p>
          <a:p>
            <a:endParaRPr lang="el-GR" sz="800" b="1" dirty="0"/>
          </a:p>
          <a:p>
            <a:pPr marL="285750" indent="-285750" algn="just">
              <a:buFont typeface="Arial" panose="020B0604020202020204" pitchFamily="34" charset="0"/>
              <a:buChar char="•"/>
            </a:pPr>
            <a:r>
              <a:rPr lang="el-GR" dirty="0"/>
              <a:t>Τα σήματα με </a:t>
            </a:r>
            <a:r>
              <a:rPr lang="el-GR" b="1" dirty="0"/>
              <a:t>διαφορετικούς παράγοντες διασποράς</a:t>
            </a:r>
            <a:r>
              <a:rPr lang="el-GR" dirty="0"/>
              <a:t>, είναι </a:t>
            </a:r>
            <a:r>
              <a:rPr lang="el-GR" b="1" dirty="0" err="1"/>
              <a:t>ψευδοορθογώνια</a:t>
            </a:r>
            <a:r>
              <a:rPr lang="el-GR" dirty="0"/>
              <a:t> μεταξύ τους ακόμη κι αν έχουν την ιδία κεντρική συχνότητα και το ίδιο </a:t>
            </a:r>
            <a:r>
              <a:rPr lang="el-GR" dirty="0" err="1"/>
              <a:t>bandwidth</a:t>
            </a:r>
            <a:r>
              <a:rPr lang="el-GR" dirty="0"/>
              <a:t>. </a:t>
            </a:r>
          </a:p>
          <a:p>
            <a:pPr marL="285750" indent="-285750" algn="just">
              <a:buFont typeface="Arial" panose="020B0604020202020204" pitchFamily="34" charset="0"/>
              <a:buChar char="•"/>
            </a:pPr>
            <a:r>
              <a:rPr lang="el-GR" dirty="0"/>
              <a:t>Δίνεται η δυνατότητα στο δέκτη να </a:t>
            </a:r>
            <a:r>
              <a:rPr lang="el-GR" b="1" dirty="0"/>
              <a:t>ανιχνεύει και αποκωδικοποιεί ένα σήμα ακόμη κι αν επικαλύπτεται χρονικά από κάποιο άλλο μεταδιδόμενο σήμα με διαφορετικό παράγοντα διασποράς</a:t>
            </a:r>
            <a:r>
              <a:rPr lang="el-GR" dirty="0"/>
              <a:t>. </a:t>
            </a:r>
            <a:endParaRPr lang="en-US" dirty="0"/>
          </a:p>
          <a:p>
            <a:pPr marL="285750" indent="-285750" algn="just">
              <a:buFont typeface="Arial" panose="020B0604020202020204" pitchFamily="34" charset="0"/>
              <a:buChar char="•"/>
            </a:pPr>
            <a:endParaRPr lang="el-GR" dirty="0"/>
          </a:p>
        </p:txBody>
      </p:sp>
      <p:sp>
        <p:nvSpPr>
          <p:cNvPr id="5" name="Πίτα 4"/>
          <p:cNvSpPr/>
          <p:nvPr/>
        </p:nvSpPr>
        <p:spPr>
          <a:xfrm>
            <a:off x="8410545" y="93859"/>
            <a:ext cx="400109" cy="400109"/>
          </a:xfrm>
          <a:prstGeom prst="pie">
            <a:avLst>
              <a:gd name="adj1" fmla="val 5400000"/>
              <a:gd name="adj2" fmla="val 1620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grpSp>
        <p:nvGrpSpPr>
          <p:cNvPr id="6" name="Ομάδα 5"/>
          <p:cNvGrpSpPr/>
          <p:nvPr/>
        </p:nvGrpSpPr>
        <p:grpSpPr>
          <a:xfrm>
            <a:off x="8610600" y="93859"/>
            <a:ext cx="3533745" cy="400109"/>
            <a:chOff x="200055" y="0"/>
            <a:chExt cx="3533745" cy="400109"/>
          </a:xfrm>
        </p:grpSpPr>
        <p:sp>
          <p:nvSpPr>
            <p:cNvPr id="7" name="Ορθογώνιο 6"/>
            <p:cNvSpPr/>
            <p:nvPr/>
          </p:nvSpPr>
          <p:spPr>
            <a:xfrm>
              <a:off x="200055" y="0"/>
              <a:ext cx="3533745" cy="400109"/>
            </a:xfrm>
            <a:prstGeom prst="rect">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8" name="TextBox 7"/>
            <p:cNvSpPr txBox="1"/>
            <p:nvPr/>
          </p:nvSpPr>
          <p:spPr>
            <a:xfrm>
              <a:off x="200055" y="0"/>
              <a:ext cx="3533745" cy="40010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8580" tIns="68580" rIns="68580" bIns="68580" numCol="1" spcCol="1270" anchor="ctr" anchorCtr="0">
              <a:noAutofit/>
            </a:bodyPr>
            <a:lstStyle/>
            <a:p>
              <a:r>
                <a:rPr lang="el-GR" b="1" dirty="0"/>
                <a:t>Διαμόρφωση </a:t>
              </a:r>
              <a:r>
                <a:rPr lang="en-US" b="1" dirty="0" err="1"/>
                <a:t>LoRa</a:t>
              </a:r>
              <a:endParaRPr lang="el-GR" b="1" dirty="0"/>
            </a:p>
          </p:txBody>
        </p:sp>
      </p:gr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9353" y="2530427"/>
            <a:ext cx="8211372" cy="2936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505102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Θέση αριθμού διαφάνειας 2"/>
          <p:cNvSpPr>
            <a:spLocks noGrp="1"/>
          </p:cNvSpPr>
          <p:nvPr>
            <p:ph type="sldNum" sz="quarter" idx="12"/>
          </p:nvPr>
        </p:nvSpPr>
        <p:spPr/>
        <p:txBody>
          <a:bodyPr/>
          <a:lstStyle/>
          <a:p>
            <a:fld id="{B6F15528-21DE-4FAA-801E-634DDDAF4B2B}" type="slidenum">
              <a:rPr lang="en-US" smtClean="0">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pPr/>
              <a:t>9</a:t>
            </a:fld>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
        <p:nvSpPr>
          <p:cNvPr id="4" name="Πίτα 3"/>
          <p:cNvSpPr/>
          <p:nvPr/>
        </p:nvSpPr>
        <p:spPr>
          <a:xfrm>
            <a:off x="8410545" y="93859"/>
            <a:ext cx="400109" cy="400109"/>
          </a:xfrm>
          <a:prstGeom prst="pie">
            <a:avLst>
              <a:gd name="adj1" fmla="val 5400000"/>
              <a:gd name="adj2" fmla="val 1620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grpSp>
        <p:nvGrpSpPr>
          <p:cNvPr id="5" name="Ομάδα 4"/>
          <p:cNvGrpSpPr/>
          <p:nvPr/>
        </p:nvGrpSpPr>
        <p:grpSpPr>
          <a:xfrm>
            <a:off x="8610600" y="93859"/>
            <a:ext cx="3533745" cy="400109"/>
            <a:chOff x="200055" y="0"/>
            <a:chExt cx="3533745" cy="400109"/>
          </a:xfrm>
        </p:grpSpPr>
        <p:sp>
          <p:nvSpPr>
            <p:cNvPr id="6" name="Ορθογώνιο 5"/>
            <p:cNvSpPr/>
            <p:nvPr/>
          </p:nvSpPr>
          <p:spPr>
            <a:xfrm>
              <a:off x="200055" y="0"/>
              <a:ext cx="3533745" cy="400109"/>
            </a:xfrm>
            <a:prstGeom prst="rect">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7" name="TextBox 6"/>
            <p:cNvSpPr txBox="1"/>
            <p:nvPr/>
          </p:nvSpPr>
          <p:spPr>
            <a:xfrm>
              <a:off x="200055" y="0"/>
              <a:ext cx="3533745" cy="40010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8580" tIns="68580" rIns="68580" bIns="68580" numCol="1" spcCol="1270" anchor="ctr" anchorCtr="0">
              <a:noAutofit/>
            </a:bodyPr>
            <a:lstStyle/>
            <a:p>
              <a:r>
                <a:rPr lang="el-GR" b="1" dirty="0"/>
                <a:t>Διαμόρφωση </a:t>
              </a:r>
              <a:r>
                <a:rPr lang="en-US" b="1" dirty="0" err="1"/>
                <a:t>LoRa</a:t>
              </a:r>
              <a:endParaRPr lang="el-GR" b="1" dirty="0"/>
            </a:p>
          </p:txBody>
        </p:sp>
      </p:grpSp>
      <p:sp>
        <p:nvSpPr>
          <p:cNvPr id="8" name="Ορθογώνιο 7"/>
          <p:cNvSpPr/>
          <p:nvPr/>
        </p:nvSpPr>
        <p:spPr>
          <a:xfrm>
            <a:off x="391886" y="712653"/>
            <a:ext cx="11430000" cy="6186309"/>
          </a:xfrm>
          <a:prstGeom prst="rect">
            <a:avLst/>
          </a:prstGeom>
        </p:spPr>
        <p:txBody>
          <a:bodyPr wrap="square">
            <a:spAutoFit/>
          </a:bodyPr>
          <a:lstStyle/>
          <a:p>
            <a:pPr algn="just"/>
            <a:r>
              <a:rPr lang="el-GR" b="1" dirty="0"/>
              <a:t>Δομή Πακέτου </a:t>
            </a:r>
            <a:r>
              <a:rPr lang="el-GR" b="1" dirty="0" err="1"/>
              <a:t>LoRa</a:t>
            </a:r>
            <a:endParaRPr lang="el-GR" b="1" dirty="0"/>
          </a:p>
          <a:p>
            <a:pPr algn="just"/>
            <a:r>
              <a:rPr lang="el-GR" dirty="0"/>
              <a:t> Ένα πακέτο </a:t>
            </a:r>
            <a:r>
              <a:rPr lang="el-GR" dirty="0" err="1"/>
              <a:t>LoRa</a:t>
            </a:r>
            <a:r>
              <a:rPr lang="el-GR" dirty="0"/>
              <a:t> αποτελείται από 2 βασικά τμήματα:</a:t>
            </a:r>
          </a:p>
          <a:p>
            <a:pPr marL="285750" indent="-285750" algn="just">
              <a:buFont typeface="Arial" panose="020B0604020202020204" pitchFamily="34" charset="0"/>
              <a:buChar char="•"/>
            </a:pPr>
            <a:r>
              <a:rPr lang="el-GR" dirty="0"/>
              <a:t>το προοίμιο  (</a:t>
            </a:r>
            <a:r>
              <a:rPr lang="el-GR" dirty="0" err="1"/>
              <a:t>preamble</a:t>
            </a:r>
            <a:r>
              <a:rPr lang="el-GR" dirty="0"/>
              <a:t>)</a:t>
            </a:r>
          </a:p>
          <a:p>
            <a:pPr marL="285750" indent="-285750" algn="just">
              <a:buFont typeface="Arial" panose="020B0604020202020204" pitchFamily="34" charset="0"/>
              <a:buChar char="•"/>
            </a:pPr>
            <a:r>
              <a:rPr lang="el-GR" dirty="0"/>
              <a:t>το κυρίως τμήμα.</a:t>
            </a:r>
          </a:p>
          <a:p>
            <a:pPr algn="just"/>
            <a:endParaRPr lang="el-GR" dirty="0"/>
          </a:p>
          <a:p>
            <a:pPr algn="just"/>
            <a:endParaRPr lang="el-GR" dirty="0"/>
          </a:p>
          <a:p>
            <a:pPr algn="just"/>
            <a:endParaRPr lang="el-GR" dirty="0"/>
          </a:p>
          <a:p>
            <a:pPr algn="just"/>
            <a:endParaRPr lang="el-GR" dirty="0"/>
          </a:p>
          <a:p>
            <a:pPr algn="just"/>
            <a:endParaRPr lang="el-GR" dirty="0"/>
          </a:p>
          <a:p>
            <a:pPr algn="just"/>
            <a:endParaRPr lang="el-GR" dirty="0"/>
          </a:p>
          <a:p>
            <a:pPr algn="just"/>
            <a:endParaRPr lang="el-GR" dirty="0"/>
          </a:p>
          <a:p>
            <a:pPr algn="just"/>
            <a:endParaRPr lang="el-GR" dirty="0"/>
          </a:p>
          <a:p>
            <a:pPr algn="just"/>
            <a:endParaRPr lang="el-GR" dirty="0"/>
          </a:p>
          <a:p>
            <a:pPr algn="just"/>
            <a:r>
              <a:rPr lang="el-GR" dirty="0"/>
              <a:t>Το προοίμιο βρίσκεται στην αρχή του πακέτου και περιέχει:</a:t>
            </a:r>
          </a:p>
          <a:p>
            <a:pPr marL="285750" indent="-285750" algn="just">
              <a:buFont typeface="Arial" panose="020B0604020202020204" pitchFamily="34" charset="0"/>
              <a:buChar char="•"/>
            </a:pPr>
            <a:r>
              <a:rPr lang="el-GR" dirty="0"/>
              <a:t>Μία σειρά από διαδοχικά </a:t>
            </a:r>
            <a:r>
              <a:rPr lang="el-GR" dirty="0" err="1"/>
              <a:t>up¬chirps</a:t>
            </a:r>
            <a:r>
              <a:rPr lang="el-GR" dirty="0"/>
              <a:t>, εκ των οποίων τα δύο τελευταία αποτελούν την λέξη συγχρονισμού (</a:t>
            </a:r>
            <a:r>
              <a:rPr lang="el-GR" dirty="0" err="1"/>
              <a:t>sync</a:t>
            </a:r>
            <a:r>
              <a:rPr lang="el-GR" dirty="0"/>
              <a:t> </a:t>
            </a:r>
            <a:r>
              <a:rPr lang="el-GR" dirty="0" err="1"/>
              <a:t>word</a:t>
            </a:r>
            <a:r>
              <a:rPr lang="el-GR" dirty="0"/>
              <a:t>) που χρησιμοποιείται για να διαφοροποιούνται τα δίκτυα </a:t>
            </a:r>
            <a:r>
              <a:rPr lang="el-GR" dirty="0" err="1"/>
              <a:t>LoRa</a:t>
            </a:r>
            <a:r>
              <a:rPr lang="el-GR" dirty="0"/>
              <a:t> που λειτουργούν στις ίδιες συχνότητες.</a:t>
            </a:r>
          </a:p>
          <a:p>
            <a:pPr marL="285750" indent="-285750" algn="just">
              <a:buFont typeface="Arial" panose="020B0604020202020204" pitchFamily="34" charset="0"/>
              <a:buChar char="•"/>
            </a:pPr>
            <a:r>
              <a:rPr lang="el-GR" dirty="0"/>
              <a:t>Δύο και ένα τέταρτο (2 1/4) </a:t>
            </a:r>
            <a:r>
              <a:rPr lang="el-GR" dirty="0" err="1"/>
              <a:t>down</a:t>
            </a:r>
            <a:r>
              <a:rPr lang="el-GR" dirty="0"/>
              <a:t> </a:t>
            </a:r>
            <a:r>
              <a:rPr lang="el-GR" dirty="0" err="1"/>
              <a:t>chirps</a:t>
            </a:r>
            <a:r>
              <a:rPr lang="el-GR" dirty="0"/>
              <a:t> που υποδηλώνουν το τέλος του </a:t>
            </a:r>
            <a:r>
              <a:rPr lang="el-GR" dirty="0" err="1"/>
              <a:t>preamble</a:t>
            </a:r>
            <a:r>
              <a:rPr lang="el-GR" dirty="0"/>
              <a:t>.</a:t>
            </a:r>
          </a:p>
          <a:p>
            <a:pPr algn="just"/>
            <a:endParaRPr lang="en-US" sz="800" dirty="0"/>
          </a:p>
          <a:p>
            <a:pPr algn="just"/>
            <a:r>
              <a:rPr lang="el-GR" dirty="0"/>
              <a:t>Το υποχρεωτικό (ελάχιστο) </a:t>
            </a:r>
            <a:r>
              <a:rPr lang="el-GR" dirty="0" err="1"/>
              <a:t>preamble</a:t>
            </a:r>
            <a:r>
              <a:rPr lang="el-GR" dirty="0"/>
              <a:t> έχει μήκος 4,25 σύμβολα (2 σύμβολα </a:t>
            </a:r>
            <a:r>
              <a:rPr lang="el-GR" dirty="0" err="1"/>
              <a:t>sync</a:t>
            </a:r>
            <a:r>
              <a:rPr lang="el-GR" dirty="0"/>
              <a:t> </a:t>
            </a:r>
            <a:r>
              <a:rPr lang="el-GR" dirty="0" err="1"/>
              <a:t>word</a:t>
            </a:r>
            <a:r>
              <a:rPr lang="el-GR" dirty="0"/>
              <a:t> και 2,25 το τέλος του </a:t>
            </a:r>
            <a:r>
              <a:rPr lang="el-GR" dirty="0" err="1"/>
              <a:t>preamble</a:t>
            </a:r>
            <a:r>
              <a:rPr lang="el-GR" dirty="0"/>
              <a:t>) </a:t>
            </a:r>
          </a:p>
          <a:p>
            <a:pPr algn="just"/>
            <a:endParaRPr lang="el-GR" dirty="0"/>
          </a:p>
          <a:p>
            <a:pPr algn="just"/>
            <a:endParaRPr lang="el-GR" dirty="0"/>
          </a:p>
          <a:p>
            <a:pPr algn="just"/>
            <a:endParaRPr lang="el-GR" dirty="0"/>
          </a:p>
        </p:txBody>
      </p:sp>
      <p:pic>
        <p:nvPicPr>
          <p:cNvPr id="9" name="Εικόνα 8"/>
          <p:cNvPicPr>
            <a:picLocks noChangeAspect="1"/>
          </p:cNvPicPr>
          <p:nvPr/>
        </p:nvPicPr>
        <p:blipFill>
          <a:blip r:embed="rId2"/>
          <a:stretch>
            <a:fillRect/>
          </a:stretch>
        </p:blipFill>
        <p:spPr>
          <a:xfrm>
            <a:off x="2904249" y="2151700"/>
            <a:ext cx="5706351" cy="1865538"/>
          </a:xfrm>
          <a:prstGeom prst="rect">
            <a:avLst/>
          </a:prstGeom>
        </p:spPr>
      </p:pic>
    </p:spTree>
    <p:extLst>
      <p:ext uri="{BB962C8B-B14F-4D97-AF65-F5344CB8AC3E}">
        <p14:creationId xmlns:p14="http://schemas.microsoft.com/office/powerpoint/2010/main" val="19349626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Θέση αριθμού διαφάνειας 2"/>
          <p:cNvSpPr>
            <a:spLocks noGrp="1"/>
          </p:cNvSpPr>
          <p:nvPr>
            <p:ph type="sldNum" sz="quarter" idx="12"/>
          </p:nvPr>
        </p:nvSpPr>
        <p:spPr/>
        <p:txBody>
          <a:bodyPr/>
          <a:lstStyle/>
          <a:p>
            <a:fld id="{B6F15528-21DE-4FAA-801E-634DDDAF4B2B}" type="slidenum">
              <a:rPr lang="en-US" smtClean="0">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pPr/>
              <a:t>10</a:t>
            </a:fld>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
        <p:nvSpPr>
          <p:cNvPr id="4" name="Πίτα 3"/>
          <p:cNvSpPr/>
          <p:nvPr/>
        </p:nvSpPr>
        <p:spPr>
          <a:xfrm>
            <a:off x="8410545" y="93859"/>
            <a:ext cx="400109" cy="400109"/>
          </a:xfrm>
          <a:prstGeom prst="pie">
            <a:avLst>
              <a:gd name="adj1" fmla="val 5400000"/>
              <a:gd name="adj2" fmla="val 1620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grpSp>
        <p:nvGrpSpPr>
          <p:cNvPr id="5" name="Ομάδα 4"/>
          <p:cNvGrpSpPr/>
          <p:nvPr/>
        </p:nvGrpSpPr>
        <p:grpSpPr>
          <a:xfrm>
            <a:off x="8610600" y="93859"/>
            <a:ext cx="3533745" cy="400109"/>
            <a:chOff x="200055" y="0"/>
            <a:chExt cx="3533745" cy="400109"/>
          </a:xfrm>
        </p:grpSpPr>
        <p:sp>
          <p:nvSpPr>
            <p:cNvPr id="6" name="Ορθογώνιο 5"/>
            <p:cNvSpPr/>
            <p:nvPr/>
          </p:nvSpPr>
          <p:spPr>
            <a:xfrm>
              <a:off x="200055" y="0"/>
              <a:ext cx="3533745" cy="400109"/>
            </a:xfrm>
            <a:prstGeom prst="rect">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7" name="TextBox 6"/>
            <p:cNvSpPr txBox="1"/>
            <p:nvPr/>
          </p:nvSpPr>
          <p:spPr>
            <a:xfrm>
              <a:off x="200055" y="0"/>
              <a:ext cx="3533745" cy="40010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8580" tIns="68580" rIns="68580" bIns="68580" numCol="1" spcCol="1270" anchor="ctr" anchorCtr="0">
              <a:noAutofit/>
            </a:bodyPr>
            <a:lstStyle/>
            <a:p>
              <a:r>
                <a:rPr lang="el-GR" b="1" dirty="0"/>
                <a:t>Διαμόρφωση </a:t>
              </a:r>
              <a:r>
                <a:rPr lang="en-US" b="1" dirty="0" err="1"/>
                <a:t>LoRa</a:t>
              </a:r>
              <a:endParaRPr lang="el-GR" b="1" dirty="0"/>
            </a:p>
          </p:txBody>
        </p:sp>
      </p:grpSp>
      <p:sp>
        <p:nvSpPr>
          <p:cNvPr id="8" name="Ορθογώνιο 7"/>
          <p:cNvSpPr/>
          <p:nvPr/>
        </p:nvSpPr>
        <p:spPr>
          <a:xfrm>
            <a:off x="535577" y="702104"/>
            <a:ext cx="11273246" cy="3785652"/>
          </a:xfrm>
          <a:prstGeom prst="rect">
            <a:avLst/>
          </a:prstGeom>
        </p:spPr>
        <p:txBody>
          <a:bodyPr wrap="square">
            <a:spAutoFit/>
          </a:bodyPr>
          <a:lstStyle/>
          <a:p>
            <a:pPr algn="just"/>
            <a:r>
              <a:rPr lang="el-GR" dirty="0"/>
              <a:t>Το κυρίως τμήμα ενός πακέτου </a:t>
            </a:r>
            <a:r>
              <a:rPr lang="el-GR" dirty="0" err="1"/>
              <a:t>LoRa</a:t>
            </a:r>
            <a:r>
              <a:rPr lang="el-GR" dirty="0"/>
              <a:t> μπορεί να έχει δύο μορφές ανάλογα με την ύπαρξη ή όχι μιας κεφαλίδας που περιλαμβάνει κάποιες πληροφορίες για το πακέτο :</a:t>
            </a:r>
          </a:p>
          <a:p>
            <a:pPr algn="just"/>
            <a:endParaRPr lang="el-GR" sz="800" dirty="0"/>
          </a:p>
          <a:p>
            <a:pPr marL="285750" indent="-285750" algn="just">
              <a:buFont typeface="Arial" panose="020B0604020202020204" pitchFamily="34" charset="0"/>
              <a:buChar char="•"/>
            </a:pPr>
            <a:r>
              <a:rPr lang="el-GR" dirty="0"/>
              <a:t>Την </a:t>
            </a:r>
            <a:r>
              <a:rPr lang="el-GR" dirty="0" err="1"/>
              <a:t>implicit</a:t>
            </a:r>
            <a:r>
              <a:rPr lang="el-GR" dirty="0"/>
              <a:t> όπου η χρήση της κεφαλίδας δεν είναι απαραίτητη διότι οι πληροφορίες είναι εκ των προτέρων γνωστές. </a:t>
            </a:r>
          </a:p>
          <a:p>
            <a:pPr marL="285750" indent="-285750" algn="just">
              <a:buFont typeface="Arial" panose="020B0604020202020204" pitchFamily="34" charset="0"/>
              <a:buChar char="•"/>
            </a:pPr>
            <a:r>
              <a:rPr lang="el-GR" dirty="0"/>
              <a:t>Την </a:t>
            </a:r>
            <a:r>
              <a:rPr lang="el-GR" dirty="0" err="1"/>
              <a:t>explicit</a:t>
            </a:r>
            <a:r>
              <a:rPr lang="el-GR" dirty="0"/>
              <a:t> όπου περιλαμβάνεται η κεφαλίδα με πληροφορίες για το μέγεθος των δεδομένων  (</a:t>
            </a:r>
            <a:r>
              <a:rPr lang="el-GR" dirty="0" err="1"/>
              <a:t>payload</a:t>
            </a:r>
            <a:r>
              <a:rPr lang="el-GR" dirty="0"/>
              <a:t>), τον λόγο κωδικοποίησης που χρησιμοποιήθηκε καθώς και αν υπάρχει στο τέλος του πακέτου CRC (</a:t>
            </a:r>
            <a:r>
              <a:rPr lang="el-GR" dirty="0" err="1"/>
              <a:t>Cyclic</a:t>
            </a:r>
            <a:r>
              <a:rPr lang="el-GR" dirty="0"/>
              <a:t> </a:t>
            </a:r>
            <a:r>
              <a:rPr lang="el-GR" dirty="0" err="1"/>
              <a:t>Redundancy</a:t>
            </a:r>
            <a:r>
              <a:rPr lang="el-GR" dirty="0"/>
              <a:t> </a:t>
            </a:r>
            <a:r>
              <a:rPr lang="el-GR" dirty="0" err="1"/>
              <a:t>Check</a:t>
            </a:r>
            <a:r>
              <a:rPr lang="el-GR" dirty="0"/>
              <a:t>)</a:t>
            </a:r>
          </a:p>
          <a:p>
            <a:pPr algn="just"/>
            <a:endParaRPr lang="el-GR" dirty="0"/>
          </a:p>
          <a:p>
            <a:pPr algn="just"/>
            <a:r>
              <a:rPr lang="el-GR" dirty="0"/>
              <a:t>Το βασικό μήνυμα εντοπίζεται στο </a:t>
            </a:r>
            <a:r>
              <a:rPr lang="el-GR" dirty="0" err="1"/>
              <a:t>payload</a:t>
            </a:r>
            <a:r>
              <a:rPr lang="el-GR" dirty="0"/>
              <a:t>, το οποίο έχει μεταβλητό μήκος που μπορεί να φτάσει τα 255 </a:t>
            </a:r>
            <a:r>
              <a:rPr lang="el-GR" dirty="0" err="1"/>
              <a:t>bytes</a:t>
            </a:r>
            <a:r>
              <a:rPr lang="el-GR" dirty="0"/>
              <a:t>.</a:t>
            </a:r>
            <a:endParaRPr lang="en-US" dirty="0"/>
          </a:p>
          <a:p>
            <a:pPr algn="just"/>
            <a:endParaRPr lang="en-US" sz="800" dirty="0"/>
          </a:p>
          <a:p>
            <a:pPr algn="just"/>
            <a:r>
              <a:rPr lang="el-GR" dirty="0"/>
              <a:t>Στο τέλος του μηνύματος βρίσκεται προαιρετικά το CRC, που βοηθάει στην ανίχνευση σφαλμάτων του </a:t>
            </a:r>
            <a:r>
              <a:rPr lang="el-GR" dirty="0" err="1"/>
              <a:t>payload</a:t>
            </a:r>
            <a:r>
              <a:rPr lang="el-GR" dirty="0"/>
              <a:t>.</a:t>
            </a:r>
          </a:p>
          <a:p>
            <a:pPr algn="just"/>
            <a:endParaRPr lang="el-GR" dirty="0"/>
          </a:p>
          <a:p>
            <a:pPr algn="just"/>
            <a:r>
              <a:rPr lang="el-GR" dirty="0"/>
              <a:t>Η δομή του πακέτου φαίνεται στο παρακάτω Σχήμα.</a:t>
            </a:r>
          </a:p>
          <a:p>
            <a:pPr algn="just"/>
            <a:endParaRPr lang="el-GR" sz="800" dirty="0"/>
          </a:p>
        </p:txBody>
      </p:sp>
      <p:pic>
        <p:nvPicPr>
          <p:cNvPr id="9" name="Εικόνα 8" descr="Sensors | Free Full-Text | A Study of LoRa: Long Range &amp;amp; Low Power  Networks for the Internet of Things | HTML"/>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58845" y="4487756"/>
            <a:ext cx="5840276" cy="1489795"/>
          </a:xfrm>
          <a:prstGeom prst="rect">
            <a:avLst/>
          </a:prstGeom>
          <a:noFill/>
          <a:ln>
            <a:noFill/>
          </a:ln>
        </p:spPr>
      </p:pic>
    </p:spTree>
    <p:extLst>
      <p:ext uri="{BB962C8B-B14F-4D97-AF65-F5344CB8AC3E}">
        <p14:creationId xmlns:p14="http://schemas.microsoft.com/office/powerpoint/2010/main" val="16326172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Θέση αριθμού διαφάνειας 2"/>
          <p:cNvSpPr>
            <a:spLocks noGrp="1"/>
          </p:cNvSpPr>
          <p:nvPr>
            <p:ph type="sldNum" sz="quarter" idx="12"/>
          </p:nvPr>
        </p:nvSpPr>
        <p:spPr/>
        <p:txBody>
          <a:bodyPr/>
          <a:lstStyle/>
          <a:p>
            <a:fld id="{B6F15528-21DE-4FAA-801E-634DDDAF4B2B}" type="slidenum">
              <a:rPr lang="en-US" smtClean="0">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pPr/>
              <a:t>11</a:t>
            </a:fld>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
        <p:nvSpPr>
          <p:cNvPr id="4" name="Πίτα 3"/>
          <p:cNvSpPr/>
          <p:nvPr/>
        </p:nvSpPr>
        <p:spPr>
          <a:xfrm>
            <a:off x="8410545" y="93859"/>
            <a:ext cx="400109" cy="400109"/>
          </a:xfrm>
          <a:prstGeom prst="pie">
            <a:avLst>
              <a:gd name="adj1" fmla="val 5400000"/>
              <a:gd name="adj2" fmla="val 1620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grpSp>
        <p:nvGrpSpPr>
          <p:cNvPr id="5" name="Ομάδα 4"/>
          <p:cNvGrpSpPr/>
          <p:nvPr/>
        </p:nvGrpSpPr>
        <p:grpSpPr>
          <a:xfrm>
            <a:off x="8610600" y="93859"/>
            <a:ext cx="3533745" cy="400109"/>
            <a:chOff x="200055" y="0"/>
            <a:chExt cx="3533745" cy="400109"/>
          </a:xfrm>
        </p:grpSpPr>
        <p:sp>
          <p:nvSpPr>
            <p:cNvPr id="6" name="Ορθογώνιο 5"/>
            <p:cNvSpPr/>
            <p:nvPr/>
          </p:nvSpPr>
          <p:spPr>
            <a:xfrm>
              <a:off x="200055" y="0"/>
              <a:ext cx="3533745" cy="400109"/>
            </a:xfrm>
            <a:prstGeom prst="rect">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7" name="TextBox 6"/>
            <p:cNvSpPr txBox="1"/>
            <p:nvPr/>
          </p:nvSpPr>
          <p:spPr>
            <a:xfrm>
              <a:off x="200055" y="0"/>
              <a:ext cx="3533745" cy="40010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8580" tIns="68580" rIns="68580" bIns="68580" numCol="1" spcCol="1270" anchor="ctr" anchorCtr="0">
              <a:noAutofit/>
            </a:bodyPr>
            <a:lstStyle/>
            <a:p>
              <a:r>
                <a:rPr lang="el-GR" b="1" dirty="0"/>
                <a:t>Διαμόρφωση </a:t>
              </a:r>
              <a:r>
                <a:rPr lang="en-US" b="1" dirty="0" err="1"/>
                <a:t>LoRa</a:t>
              </a:r>
              <a:endParaRPr lang="el-GR" b="1" dirty="0"/>
            </a:p>
          </p:txBody>
        </p:sp>
      </p:grpSp>
      <p:sp>
        <p:nvSpPr>
          <p:cNvPr id="8" name="Ορθογώνιο 7"/>
          <p:cNvSpPr/>
          <p:nvPr/>
        </p:nvSpPr>
        <p:spPr>
          <a:xfrm>
            <a:off x="378823" y="604464"/>
            <a:ext cx="11390811" cy="1877437"/>
          </a:xfrm>
          <a:prstGeom prst="rect">
            <a:avLst/>
          </a:prstGeom>
        </p:spPr>
        <p:txBody>
          <a:bodyPr wrap="square">
            <a:spAutoFit/>
          </a:bodyPr>
          <a:lstStyle/>
          <a:p>
            <a:pPr algn="just"/>
            <a:r>
              <a:rPr lang="el-GR" b="1" dirty="0"/>
              <a:t>Αποδιαμόρφωση </a:t>
            </a:r>
            <a:r>
              <a:rPr lang="el-GR" b="1" dirty="0" err="1"/>
              <a:t>LoRa</a:t>
            </a:r>
            <a:r>
              <a:rPr lang="el-GR" b="1" dirty="0"/>
              <a:t> </a:t>
            </a:r>
          </a:p>
          <a:p>
            <a:pPr algn="just"/>
            <a:endParaRPr lang="el-GR" sz="800" b="1" dirty="0"/>
          </a:p>
          <a:p>
            <a:pPr algn="just"/>
            <a:r>
              <a:rPr lang="el-GR" dirty="0"/>
              <a:t>Η Διαδικασία  για την αποδιαμόρφωση του λαμβανόμενου σήματος αποτελείτε από τρία στάδια: </a:t>
            </a:r>
          </a:p>
          <a:p>
            <a:pPr marL="342900" indent="-342900" algn="just">
              <a:buFont typeface="+mj-lt"/>
              <a:buAutoNum type="arabicPeriod"/>
            </a:pPr>
            <a:r>
              <a:rPr lang="el-GR" b="1" dirty="0"/>
              <a:t>Αναγνώριση της εκκίνησης του πακέτου</a:t>
            </a:r>
            <a:r>
              <a:rPr lang="el-GR" dirty="0"/>
              <a:t>, δηλαδή της αρχής του </a:t>
            </a:r>
            <a:r>
              <a:rPr lang="el-GR" dirty="0" err="1"/>
              <a:t>preamble</a:t>
            </a:r>
            <a:r>
              <a:rPr lang="el-GR" dirty="0"/>
              <a:t>.</a:t>
            </a:r>
          </a:p>
          <a:p>
            <a:pPr marL="342900" indent="-342900" algn="just">
              <a:buFont typeface="+mj-lt"/>
              <a:buAutoNum type="arabicPeriod"/>
            </a:pPr>
            <a:r>
              <a:rPr lang="el-GR" b="1" dirty="0"/>
              <a:t>Προσδιορισμός της έναρξης των συμβόλων της κωδικοποιημένης πληροφορίας</a:t>
            </a:r>
          </a:p>
          <a:p>
            <a:pPr marL="342900" indent="-342900" algn="just">
              <a:buFont typeface="+mj-lt"/>
              <a:buAutoNum type="arabicPeriod"/>
            </a:pPr>
            <a:r>
              <a:rPr lang="el-GR" b="1" dirty="0"/>
              <a:t>Εξαγωγή κωδικοποιημένης πληροφορίας </a:t>
            </a:r>
            <a:r>
              <a:rPr lang="el-GR" dirty="0"/>
              <a:t>βάσει των μεταβολών στις συχνότητες των λαμβανόμενων συμβόλων.</a:t>
            </a:r>
          </a:p>
        </p:txBody>
      </p:sp>
      <p:pic>
        <p:nvPicPr>
          <p:cNvPr id="9" name="Εικόνα 8"/>
          <p:cNvPicPr>
            <a:picLocks noChangeAspect="1"/>
          </p:cNvPicPr>
          <p:nvPr/>
        </p:nvPicPr>
        <p:blipFill>
          <a:blip r:embed="rId2"/>
          <a:stretch>
            <a:fillRect/>
          </a:stretch>
        </p:blipFill>
        <p:spPr>
          <a:xfrm>
            <a:off x="3188983" y="2635789"/>
            <a:ext cx="5421616" cy="4063948"/>
          </a:xfrm>
          <a:prstGeom prst="rect">
            <a:avLst/>
          </a:prstGeom>
        </p:spPr>
      </p:pic>
    </p:spTree>
    <p:extLst>
      <p:ext uri="{BB962C8B-B14F-4D97-AF65-F5344CB8AC3E}">
        <p14:creationId xmlns:p14="http://schemas.microsoft.com/office/powerpoint/2010/main" val="1311828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8788" y="3648756"/>
            <a:ext cx="3078162" cy="3151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Θέση αριθμού διαφάνειας 2"/>
          <p:cNvSpPr>
            <a:spLocks noGrp="1"/>
          </p:cNvSpPr>
          <p:nvPr>
            <p:ph type="sldNum" sz="quarter" idx="12"/>
          </p:nvPr>
        </p:nvSpPr>
        <p:spPr/>
        <p:txBody>
          <a:bodyPr/>
          <a:lstStyle/>
          <a:p>
            <a:fld id="{B6F15528-21DE-4FAA-801E-634DDDAF4B2B}" type="slidenum">
              <a:rPr lang="en-US" smtClean="0">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pPr/>
              <a:t>12</a:t>
            </a:fld>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
        <p:nvSpPr>
          <p:cNvPr id="4" name="Πίτα 3"/>
          <p:cNvSpPr/>
          <p:nvPr/>
        </p:nvSpPr>
        <p:spPr>
          <a:xfrm>
            <a:off x="8410545" y="93859"/>
            <a:ext cx="400109" cy="400109"/>
          </a:xfrm>
          <a:prstGeom prst="pie">
            <a:avLst>
              <a:gd name="adj1" fmla="val 5400000"/>
              <a:gd name="adj2" fmla="val 1620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grpSp>
        <p:nvGrpSpPr>
          <p:cNvPr id="5" name="Ομάδα 4"/>
          <p:cNvGrpSpPr/>
          <p:nvPr/>
        </p:nvGrpSpPr>
        <p:grpSpPr>
          <a:xfrm>
            <a:off x="8610600" y="93859"/>
            <a:ext cx="3533745" cy="400109"/>
            <a:chOff x="200055" y="0"/>
            <a:chExt cx="3533745" cy="400109"/>
          </a:xfrm>
        </p:grpSpPr>
        <p:sp>
          <p:nvSpPr>
            <p:cNvPr id="6" name="Ορθογώνιο 5"/>
            <p:cNvSpPr/>
            <p:nvPr/>
          </p:nvSpPr>
          <p:spPr>
            <a:xfrm>
              <a:off x="200055" y="0"/>
              <a:ext cx="3533745" cy="400109"/>
            </a:xfrm>
            <a:prstGeom prst="rect">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7" name="TextBox 6"/>
            <p:cNvSpPr txBox="1"/>
            <p:nvPr/>
          </p:nvSpPr>
          <p:spPr>
            <a:xfrm>
              <a:off x="200055" y="0"/>
              <a:ext cx="3533745" cy="40010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8580" tIns="68580" rIns="68580" bIns="68580" numCol="1" spcCol="1270" anchor="ctr" anchorCtr="0">
              <a:noAutofit/>
            </a:bodyPr>
            <a:lstStyle/>
            <a:p>
              <a:r>
                <a:rPr lang="el-GR" b="1" dirty="0"/>
                <a:t>Πρωτόκολλο LoRaWAN</a:t>
              </a:r>
            </a:p>
          </p:txBody>
        </p:sp>
      </p:grpSp>
      <p:sp>
        <p:nvSpPr>
          <p:cNvPr id="8" name="Ορθογώνιο 7"/>
          <p:cNvSpPr/>
          <p:nvPr/>
        </p:nvSpPr>
        <p:spPr>
          <a:xfrm>
            <a:off x="562707" y="658233"/>
            <a:ext cx="11099409" cy="2831544"/>
          </a:xfrm>
          <a:prstGeom prst="rect">
            <a:avLst/>
          </a:prstGeom>
        </p:spPr>
        <p:txBody>
          <a:bodyPr wrap="square">
            <a:spAutoFit/>
          </a:bodyPr>
          <a:lstStyle/>
          <a:p>
            <a:pPr algn="just"/>
            <a:r>
              <a:rPr lang="el-GR" dirty="0"/>
              <a:t>Το πρωτόκολλο </a:t>
            </a:r>
            <a:r>
              <a:rPr lang="el-GR" dirty="0" err="1"/>
              <a:t>LoRaWAN</a:t>
            </a:r>
            <a:r>
              <a:rPr lang="el-GR" dirty="0"/>
              <a:t> αποτελεί ένα ανοιχτό δικτυακό πρωτόκολλο που αναπτύχθηκε από την </a:t>
            </a:r>
            <a:r>
              <a:rPr lang="el-GR" b="1" dirty="0"/>
              <a:t>«Συμμαχία </a:t>
            </a:r>
            <a:r>
              <a:rPr lang="el-GR" b="1" dirty="0" err="1"/>
              <a:t>LoRa</a:t>
            </a:r>
            <a:r>
              <a:rPr lang="el-GR" b="1" dirty="0"/>
              <a:t>» (</a:t>
            </a:r>
            <a:r>
              <a:rPr lang="el-GR" b="1" dirty="0" err="1"/>
              <a:t>LoRa</a:t>
            </a:r>
            <a:r>
              <a:rPr lang="el-GR" b="1" dirty="0"/>
              <a:t> </a:t>
            </a:r>
            <a:r>
              <a:rPr lang="el-GR" b="1" dirty="0" err="1"/>
              <a:t>Alliance</a:t>
            </a:r>
            <a:r>
              <a:rPr lang="el-GR" b="1" dirty="0"/>
              <a:t>), στην οποία συμμετέχουν μεγάλες εταιρείες (</a:t>
            </a:r>
            <a:r>
              <a:rPr lang="el-GR" b="1" dirty="0" err="1"/>
              <a:t>Semtech</a:t>
            </a:r>
            <a:r>
              <a:rPr lang="el-GR" b="1" dirty="0"/>
              <a:t>, ΙΒΜ, </a:t>
            </a:r>
            <a:r>
              <a:rPr lang="el-GR" b="1" dirty="0" err="1"/>
              <a:t>STMicro</a:t>
            </a:r>
            <a:r>
              <a:rPr lang="el-GR" b="1" dirty="0"/>
              <a:t> κλπ.) και ερευνητικά ιδρύματα.</a:t>
            </a:r>
          </a:p>
          <a:p>
            <a:pPr algn="just"/>
            <a:endParaRPr lang="el-GR" sz="800" b="1" dirty="0"/>
          </a:p>
          <a:p>
            <a:pPr algn="just"/>
            <a:r>
              <a:rPr lang="el-GR" dirty="0"/>
              <a:t>Βασίζεται στην τεχνολογία φυσικού επιπέδου </a:t>
            </a:r>
            <a:r>
              <a:rPr lang="el-GR" dirty="0" err="1"/>
              <a:t>LoRa</a:t>
            </a:r>
            <a:r>
              <a:rPr lang="el-GR" dirty="0"/>
              <a:t>, ώστε να παρέχει ασφαλή επικοινωνία ανάμεσα σε συσκευές καθορίζοντας με τον καλύτερο δυνατό τρόπο διάφορες παραμέτρους προκειμένου να επιτυγχάνεται χαμηλή ενεργειακή κατανάλωση, καλή απόδοση του δικτύου, εκτεταμένο εύρος κάλυψης και </a:t>
            </a:r>
            <a:r>
              <a:rPr lang="el-GR" dirty="0" err="1"/>
              <a:t>QoS</a:t>
            </a:r>
            <a:r>
              <a:rPr lang="el-GR" dirty="0"/>
              <a:t> .</a:t>
            </a:r>
          </a:p>
          <a:p>
            <a:pPr algn="just"/>
            <a:endParaRPr lang="el-GR" sz="800" dirty="0"/>
          </a:p>
          <a:p>
            <a:pPr algn="just"/>
            <a:r>
              <a:rPr lang="el-GR" b="1" dirty="0"/>
              <a:t>Τοπολογία και Υποδομή Δικτύου </a:t>
            </a:r>
            <a:r>
              <a:rPr lang="el-GR" b="1" dirty="0" err="1"/>
              <a:t>LoRaWAN</a:t>
            </a:r>
            <a:endParaRPr lang="el-GR" b="1" dirty="0"/>
          </a:p>
          <a:p>
            <a:pPr algn="just"/>
            <a:r>
              <a:rPr lang="el-GR" dirty="0"/>
              <a:t>Τα δίκτυα </a:t>
            </a:r>
            <a:r>
              <a:rPr lang="el-GR" dirty="0" err="1"/>
              <a:t>LoRaWAN</a:t>
            </a:r>
            <a:r>
              <a:rPr lang="el-GR" dirty="0"/>
              <a:t> συνήθως αναπτύσσονται σε </a:t>
            </a:r>
            <a:r>
              <a:rPr lang="el-GR" b="1" dirty="0"/>
              <a:t>τοπολογία αστέρα-αστέρων </a:t>
            </a:r>
            <a:r>
              <a:rPr lang="el-GR" dirty="0"/>
              <a:t>(</a:t>
            </a:r>
            <a:r>
              <a:rPr lang="el-GR" dirty="0" err="1"/>
              <a:t>stars</a:t>
            </a:r>
            <a:r>
              <a:rPr lang="el-GR" dirty="0"/>
              <a:t>-of-</a:t>
            </a:r>
            <a:r>
              <a:rPr lang="el-GR" dirty="0" err="1"/>
              <a:t>stars</a:t>
            </a:r>
            <a:r>
              <a:rPr lang="el-GR" dirty="0"/>
              <a:t> </a:t>
            </a:r>
            <a:r>
              <a:rPr lang="el-GR" dirty="0" err="1"/>
              <a:t>topology</a:t>
            </a:r>
            <a:r>
              <a:rPr lang="el-GR" dirty="0"/>
              <a:t>), καθιστώντας εύκολα διαχειρίσιμη την επέκταση του δικτύου. </a:t>
            </a:r>
          </a:p>
        </p:txBody>
      </p:sp>
    </p:spTree>
    <p:extLst>
      <p:ext uri="{BB962C8B-B14F-4D97-AF65-F5344CB8AC3E}">
        <p14:creationId xmlns:p14="http://schemas.microsoft.com/office/powerpoint/2010/main" val="38078359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Θέση αριθμού διαφάνειας 2"/>
          <p:cNvSpPr>
            <a:spLocks noGrp="1"/>
          </p:cNvSpPr>
          <p:nvPr>
            <p:ph type="sldNum" sz="quarter" idx="12"/>
          </p:nvPr>
        </p:nvSpPr>
        <p:spPr/>
        <p:txBody>
          <a:bodyPr/>
          <a:lstStyle/>
          <a:p>
            <a:fld id="{B6F15528-21DE-4FAA-801E-634DDDAF4B2B}" type="slidenum">
              <a:rPr lang="en-US" smtClean="0">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pPr/>
              <a:t>13</a:t>
            </a:fld>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
        <p:nvSpPr>
          <p:cNvPr id="4" name="Πίτα 3"/>
          <p:cNvSpPr/>
          <p:nvPr/>
        </p:nvSpPr>
        <p:spPr>
          <a:xfrm>
            <a:off x="8410545" y="93859"/>
            <a:ext cx="400109" cy="400109"/>
          </a:xfrm>
          <a:prstGeom prst="pie">
            <a:avLst>
              <a:gd name="adj1" fmla="val 5400000"/>
              <a:gd name="adj2" fmla="val 1620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grpSp>
        <p:nvGrpSpPr>
          <p:cNvPr id="5" name="Ομάδα 4"/>
          <p:cNvGrpSpPr/>
          <p:nvPr/>
        </p:nvGrpSpPr>
        <p:grpSpPr>
          <a:xfrm>
            <a:off x="8610600" y="93859"/>
            <a:ext cx="3533745" cy="400109"/>
            <a:chOff x="200055" y="0"/>
            <a:chExt cx="3533745" cy="400109"/>
          </a:xfrm>
        </p:grpSpPr>
        <p:sp>
          <p:nvSpPr>
            <p:cNvPr id="6" name="Ορθογώνιο 5"/>
            <p:cNvSpPr/>
            <p:nvPr/>
          </p:nvSpPr>
          <p:spPr>
            <a:xfrm>
              <a:off x="200055" y="0"/>
              <a:ext cx="3533745" cy="400109"/>
            </a:xfrm>
            <a:prstGeom prst="rect">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7" name="TextBox 6"/>
            <p:cNvSpPr txBox="1"/>
            <p:nvPr/>
          </p:nvSpPr>
          <p:spPr>
            <a:xfrm>
              <a:off x="200055" y="0"/>
              <a:ext cx="3533745" cy="40010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8580" tIns="68580" rIns="68580" bIns="68580" numCol="1" spcCol="1270" anchor="ctr" anchorCtr="0">
              <a:noAutofit/>
            </a:bodyPr>
            <a:lstStyle/>
            <a:p>
              <a:r>
                <a:rPr lang="el-GR" b="1" dirty="0"/>
                <a:t>Πρωτόκολλο LoRaWAN</a:t>
              </a:r>
            </a:p>
          </p:txBody>
        </p:sp>
      </p:grpSp>
      <p:sp>
        <p:nvSpPr>
          <p:cNvPr id="8" name="Ορθογώνιο 7"/>
          <p:cNvSpPr/>
          <p:nvPr/>
        </p:nvSpPr>
        <p:spPr>
          <a:xfrm>
            <a:off x="351692" y="634276"/>
            <a:ext cx="11380763" cy="6186309"/>
          </a:xfrm>
          <a:prstGeom prst="rect">
            <a:avLst/>
          </a:prstGeom>
        </p:spPr>
        <p:txBody>
          <a:bodyPr wrap="square">
            <a:spAutoFit/>
          </a:bodyPr>
          <a:lstStyle/>
          <a:p>
            <a:r>
              <a:rPr lang="el-GR" b="1" dirty="0"/>
              <a:t>Αρχιτεκτονική δικτύου </a:t>
            </a:r>
            <a:r>
              <a:rPr lang="el-GR" b="1" dirty="0" err="1"/>
              <a:t>LoRaWAN</a:t>
            </a:r>
            <a:r>
              <a:rPr lang="el-GR" b="1" dirty="0"/>
              <a:t>  </a:t>
            </a:r>
          </a:p>
          <a:p>
            <a:pPr algn="just"/>
            <a:r>
              <a:rPr lang="el-GR" dirty="0"/>
              <a:t>Ένα δίκτυο που βασίζεται στο πρωτόκολλο </a:t>
            </a:r>
            <a:r>
              <a:rPr lang="el-GR" dirty="0" err="1"/>
              <a:t>LoRaWAN</a:t>
            </a:r>
            <a:r>
              <a:rPr lang="el-GR" dirty="0"/>
              <a:t>, όπως φαίνεται στο παρακάτω σχήμα, εκτείνεται  σε 5 επίπεδα και περιλαμβάνει τα ακόλουθα συστατικά:</a:t>
            </a:r>
          </a:p>
          <a:p>
            <a:pPr algn="just"/>
            <a:endParaRPr lang="el-GR" dirty="0"/>
          </a:p>
          <a:p>
            <a:pPr algn="just"/>
            <a:endParaRPr lang="el-GR" dirty="0"/>
          </a:p>
          <a:p>
            <a:pPr algn="just"/>
            <a:endParaRPr lang="el-GR" dirty="0"/>
          </a:p>
          <a:p>
            <a:pPr algn="just"/>
            <a:endParaRPr lang="el-GR" dirty="0"/>
          </a:p>
          <a:p>
            <a:pPr algn="just"/>
            <a:endParaRPr lang="el-GR" dirty="0"/>
          </a:p>
          <a:p>
            <a:pPr algn="just"/>
            <a:endParaRPr lang="el-GR" dirty="0"/>
          </a:p>
          <a:p>
            <a:pPr algn="just"/>
            <a:endParaRPr lang="el-GR" dirty="0"/>
          </a:p>
          <a:p>
            <a:pPr algn="just"/>
            <a:endParaRPr lang="el-GR" dirty="0"/>
          </a:p>
          <a:p>
            <a:pPr algn="just"/>
            <a:endParaRPr lang="el-GR" dirty="0"/>
          </a:p>
          <a:p>
            <a:pPr algn="just"/>
            <a:endParaRPr lang="el-GR" dirty="0"/>
          </a:p>
          <a:p>
            <a:pPr algn="just"/>
            <a:endParaRPr lang="el-GR" dirty="0"/>
          </a:p>
          <a:p>
            <a:pPr algn="just"/>
            <a:endParaRPr lang="el-GR" dirty="0"/>
          </a:p>
          <a:p>
            <a:pPr algn="just"/>
            <a:endParaRPr lang="el-GR" dirty="0"/>
          </a:p>
          <a:p>
            <a:pPr algn="just"/>
            <a:endParaRPr lang="el-GR" dirty="0"/>
          </a:p>
          <a:p>
            <a:pPr marL="342900" indent="-342900" algn="just">
              <a:buAutoNum type="arabicPeriod"/>
            </a:pPr>
            <a:r>
              <a:rPr lang="el-GR" b="1" dirty="0"/>
              <a:t>Τερματικές συσκευές </a:t>
            </a:r>
            <a:r>
              <a:rPr lang="el-GR" b="1" dirty="0" err="1"/>
              <a:t>LoRa</a:t>
            </a:r>
            <a:endParaRPr lang="el-GR" b="1" dirty="0"/>
          </a:p>
          <a:p>
            <a:pPr marL="342900" indent="-342900" algn="just">
              <a:buAutoNum type="arabicPeriod"/>
            </a:pPr>
            <a:r>
              <a:rPr lang="el-GR" b="1" dirty="0"/>
              <a:t>Πύλες</a:t>
            </a:r>
          </a:p>
          <a:p>
            <a:pPr marL="342900" indent="-342900" algn="just">
              <a:buAutoNum type="arabicPeriod"/>
            </a:pPr>
            <a:r>
              <a:rPr lang="el-GR" b="1" dirty="0" err="1"/>
              <a:t>Network</a:t>
            </a:r>
            <a:r>
              <a:rPr lang="el-GR" b="1" dirty="0"/>
              <a:t> Server</a:t>
            </a:r>
          </a:p>
          <a:p>
            <a:pPr marL="342900" indent="-342900" algn="just">
              <a:buAutoNum type="arabicPeriod"/>
            </a:pPr>
            <a:r>
              <a:rPr lang="el-GR" b="1" dirty="0" err="1"/>
              <a:t>Application</a:t>
            </a:r>
            <a:r>
              <a:rPr lang="el-GR" b="1" dirty="0"/>
              <a:t> Server</a:t>
            </a:r>
          </a:p>
          <a:p>
            <a:pPr marL="342900" indent="-342900" algn="just">
              <a:buAutoNum type="arabicPeriod"/>
            </a:pPr>
            <a:r>
              <a:rPr lang="el-GR" b="1" dirty="0" err="1"/>
              <a:t>Join</a:t>
            </a:r>
            <a:r>
              <a:rPr lang="el-GR" b="1" dirty="0"/>
              <a:t> Server</a:t>
            </a:r>
            <a:endParaRPr lang="el-GR" dirty="0"/>
          </a:p>
        </p:txBody>
      </p:sp>
      <p:pic>
        <p:nvPicPr>
          <p:cNvPr id="9" name="Εικόνα 8"/>
          <p:cNvPicPr>
            <a:picLocks noChangeAspect="1"/>
          </p:cNvPicPr>
          <p:nvPr/>
        </p:nvPicPr>
        <p:blipFill>
          <a:blip r:embed="rId2"/>
          <a:stretch>
            <a:fillRect/>
          </a:stretch>
        </p:blipFill>
        <p:spPr>
          <a:xfrm>
            <a:off x="1924291" y="1623535"/>
            <a:ext cx="8235564" cy="3617936"/>
          </a:xfrm>
          <a:prstGeom prst="rect">
            <a:avLst/>
          </a:prstGeom>
        </p:spPr>
      </p:pic>
    </p:spTree>
    <p:extLst>
      <p:ext uri="{BB962C8B-B14F-4D97-AF65-F5344CB8AC3E}">
        <p14:creationId xmlns:p14="http://schemas.microsoft.com/office/powerpoint/2010/main" val="39216680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Θέση αριθμού διαφάνειας 2"/>
          <p:cNvSpPr>
            <a:spLocks noGrp="1"/>
          </p:cNvSpPr>
          <p:nvPr>
            <p:ph type="sldNum" sz="quarter" idx="12"/>
          </p:nvPr>
        </p:nvSpPr>
        <p:spPr/>
        <p:txBody>
          <a:bodyPr/>
          <a:lstStyle/>
          <a:p>
            <a:fld id="{B6F15528-21DE-4FAA-801E-634DDDAF4B2B}" type="slidenum">
              <a:rPr lang="en-US" smtClean="0">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pPr/>
              <a:t>14</a:t>
            </a:fld>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
        <p:nvSpPr>
          <p:cNvPr id="4" name="Πίτα 3"/>
          <p:cNvSpPr/>
          <p:nvPr/>
        </p:nvSpPr>
        <p:spPr>
          <a:xfrm>
            <a:off x="8410545" y="93859"/>
            <a:ext cx="400109" cy="400109"/>
          </a:xfrm>
          <a:prstGeom prst="pie">
            <a:avLst>
              <a:gd name="adj1" fmla="val 5400000"/>
              <a:gd name="adj2" fmla="val 1620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grpSp>
        <p:nvGrpSpPr>
          <p:cNvPr id="5" name="Ομάδα 4"/>
          <p:cNvGrpSpPr/>
          <p:nvPr/>
        </p:nvGrpSpPr>
        <p:grpSpPr>
          <a:xfrm>
            <a:off x="8610600" y="93859"/>
            <a:ext cx="3533745" cy="400109"/>
            <a:chOff x="200055" y="0"/>
            <a:chExt cx="3533745" cy="400109"/>
          </a:xfrm>
        </p:grpSpPr>
        <p:sp>
          <p:nvSpPr>
            <p:cNvPr id="6" name="Ορθογώνιο 5"/>
            <p:cNvSpPr/>
            <p:nvPr/>
          </p:nvSpPr>
          <p:spPr>
            <a:xfrm>
              <a:off x="200055" y="0"/>
              <a:ext cx="3533745" cy="400109"/>
            </a:xfrm>
            <a:prstGeom prst="rect">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7" name="TextBox 6"/>
            <p:cNvSpPr txBox="1"/>
            <p:nvPr/>
          </p:nvSpPr>
          <p:spPr>
            <a:xfrm>
              <a:off x="200055" y="0"/>
              <a:ext cx="3533745" cy="40010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8580" tIns="68580" rIns="68580" bIns="68580" numCol="1" spcCol="1270" anchor="ctr" anchorCtr="0">
              <a:noAutofit/>
            </a:bodyPr>
            <a:lstStyle/>
            <a:p>
              <a:r>
                <a:rPr lang="el-GR" b="1" dirty="0"/>
                <a:t>Πρωτόκολλο LoRaWAN</a:t>
              </a:r>
            </a:p>
          </p:txBody>
        </p:sp>
      </p:grpSp>
      <p:sp>
        <p:nvSpPr>
          <p:cNvPr id="8" name="Ορθογώνιο 7"/>
          <p:cNvSpPr/>
          <p:nvPr/>
        </p:nvSpPr>
        <p:spPr>
          <a:xfrm>
            <a:off x="339633" y="470505"/>
            <a:ext cx="11443063" cy="2677656"/>
          </a:xfrm>
          <a:prstGeom prst="rect">
            <a:avLst/>
          </a:prstGeom>
        </p:spPr>
        <p:txBody>
          <a:bodyPr wrap="square">
            <a:spAutoFit/>
          </a:bodyPr>
          <a:lstStyle/>
          <a:p>
            <a:r>
              <a:rPr lang="el-GR" b="1" dirty="0"/>
              <a:t>Ενεργοποίηση συσκευών</a:t>
            </a:r>
          </a:p>
          <a:p>
            <a:endParaRPr lang="el-GR" sz="800" b="1" dirty="0"/>
          </a:p>
          <a:p>
            <a:r>
              <a:rPr lang="el-GR" dirty="0"/>
              <a:t>Κατά την ένταξη των συσκευών στο </a:t>
            </a:r>
            <a:r>
              <a:rPr lang="el-GR" dirty="0" err="1"/>
              <a:t>LoRaWAN</a:t>
            </a:r>
            <a:r>
              <a:rPr lang="el-GR" dirty="0"/>
              <a:t>  δίκτυο και προκειμένου να εξασφαλιστεί η ασφάλεια και η ποιότητα της επικοινωνίας πρέπει να γίνεται ενεργοποίηση και ανάθεση σ’ αυτές ειδικών παραμέτρων όπως αναγνωριστικά, κλειδιά κρυπτογράφησης και τοποθεσίες των εξυπηρετητών. Το πρότυπο </a:t>
            </a:r>
            <a:r>
              <a:rPr lang="el-GR" dirty="0" err="1"/>
              <a:t>LoRaWAN</a:t>
            </a:r>
            <a:r>
              <a:rPr lang="el-GR" dirty="0"/>
              <a:t>  επιτρέπει </a:t>
            </a:r>
            <a:r>
              <a:rPr lang="el-GR" b="1" dirty="0"/>
              <a:t>δυο τρόπους ενεργοποίησης </a:t>
            </a:r>
            <a:r>
              <a:rPr lang="el-GR" dirty="0"/>
              <a:t>των τελικών συσκευών:</a:t>
            </a:r>
          </a:p>
          <a:p>
            <a:endParaRPr lang="el-GR" sz="800" dirty="0"/>
          </a:p>
          <a:p>
            <a:pPr marL="285750" indent="-285750">
              <a:buFont typeface="Arial" panose="020B0604020202020204" pitchFamily="34" charset="0"/>
              <a:buChar char="•"/>
            </a:pPr>
            <a:r>
              <a:rPr lang="el-GR" b="1" dirty="0" err="1"/>
              <a:t>Over</a:t>
            </a:r>
            <a:r>
              <a:rPr lang="el-GR" b="1" dirty="0"/>
              <a:t> </a:t>
            </a:r>
            <a:r>
              <a:rPr lang="el-GR" b="1" dirty="0" err="1"/>
              <a:t>Τhe</a:t>
            </a:r>
            <a:r>
              <a:rPr lang="el-GR" b="1" dirty="0"/>
              <a:t> Air </a:t>
            </a:r>
            <a:r>
              <a:rPr lang="el-GR" b="1" dirty="0" err="1"/>
              <a:t>Activation</a:t>
            </a:r>
            <a:r>
              <a:rPr lang="el-GR" b="1" dirty="0"/>
              <a:t> (OTAA) </a:t>
            </a:r>
            <a:r>
              <a:rPr lang="el-GR" dirty="0"/>
              <a:t>όπου</a:t>
            </a:r>
            <a:r>
              <a:rPr lang="el-GR" b="1" dirty="0"/>
              <a:t> η ενεργοποίηση συνίσταται σε μία διαδικασία σύνδεσης.</a:t>
            </a:r>
          </a:p>
          <a:p>
            <a:endParaRPr lang="el-GR" sz="800" b="1" dirty="0"/>
          </a:p>
          <a:p>
            <a:pPr marL="285750" indent="-285750">
              <a:buFont typeface="Arial" panose="020B0604020202020204" pitchFamily="34" charset="0"/>
              <a:buChar char="•"/>
            </a:pPr>
            <a:r>
              <a:rPr lang="el-GR" b="1" dirty="0" err="1"/>
              <a:t>Activation</a:t>
            </a:r>
            <a:r>
              <a:rPr lang="el-GR" b="1" dirty="0"/>
              <a:t> </a:t>
            </a:r>
            <a:r>
              <a:rPr lang="el-GR" b="1" dirty="0" err="1"/>
              <a:t>by</a:t>
            </a:r>
            <a:r>
              <a:rPr lang="el-GR" b="1" dirty="0"/>
              <a:t> </a:t>
            </a:r>
            <a:r>
              <a:rPr lang="el-GR" b="1" dirty="0" err="1"/>
              <a:t>Personalization</a:t>
            </a:r>
            <a:r>
              <a:rPr lang="el-GR" b="1" dirty="0"/>
              <a:t> (ABP). Οι συσκευές είναι πλήρως λειτουργικές από την αρχή και δεν χρειάζεται να ενταχθούν στο δίκτυο μέσω αντίστοιχου αιτήματος στον </a:t>
            </a:r>
            <a:r>
              <a:rPr lang="el-GR" b="1" dirty="0" err="1"/>
              <a:t>Join</a:t>
            </a:r>
            <a:r>
              <a:rPr lang="el-GR" b="1" dirty="0"/>
              <a:t> Server</a:t>
            </a:r>
            <a:r>
              <a:rPr lang="el-GR" dirty="0"/>
              <a:t>. </a:t>
            </a:r>
            <a:endParaRPr lang="el-GR" b="1" dirty="0"/>
          </a:p>
        </p:txBody>
      </p:sp>
    </p:spTree>
    <p:extLst>
      <p:ext uri="{BB962C8B-B14F-4D97-AF65-F5344CB8AC3E}">
        <p14:creationId xmlns:p14="http://schemas.microsoft.com/office/powerpoint/2010/main" val="26751143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Θέση αριθμού διαφάνειας 2"/>
          <p:cNvSpPr>
            <a:spLocks noGrp="1"/>
          </p:cNvSpPr>
          <p:nvPr>
            <p:ph type="sldNum" sz="quarter" idx="12"/>
          </p:nvPr>
        </p:nvSpPr>
        <p:spPr/>
        <p:txBody>
          <a:bodyPr/>
          <a:lstStyle/>
          <a:p>
            <a:fld id="{B6F15528-21DE-4FAA-801E-634DDDAF4B2B}" type="slidenum">
              <a:rPr lang="en-US" smtClean="0">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pPr/>
              <a:t>15</a:t>
            </a:fld>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
        <p:nvSpPr>
          <p:cNvPr id="4" name="Πίτα 3"/>
          <p:cNvSpPr/>
          <p:nvPr/>
        </p:nvSpPr>
        <p:spPr>
          <a:xfrm>
            <a:off x="8410545" y="93859"/>
            <a:ext cx="400109" cy="400109"/>
          </a:xfrm>
          <a:prstGeom prst="pie">
            <a:avLst>
              <a:gd name="adj1" fmla="val 5400000"/>
              <a:gd name="adj2" fmla="val 1620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grpSp>
        <p:nvGrpSpPr>
          <p:cNvPr id="5" name="Ομάδα 4"/>
          <p:cNvGrpSpPr/>
          <p:nvPr/>
        </p:nvGrpSpPr>
        <p:grpSpPr>
          <a:xfrm>
            <a:off x="8610600" y="93859"/>
            <a:ext cx="3533745" cy="400109"/>
            <a:chOff x="200055" y="0"/>
            <a:chExt cx="3533745" cy="400109"/>
          </a:xfrm>
        </p:grpSpPr>
        <p:sp>
          <p:nvSpPr>
            <p:cNvPr id="6" name="Ορθογώνιο 5"/>
            <p:cNvSpPr/>
            <p:nvPr/>
          </p:nvSpPr>
          <p:spPr>
            <a:xfrm>
              <a:off x="200055" y="0"/>
              <a:ext cx="3533745" cy="400109"/>
            </a:xfrm>
            <a:prstGeom prst="rect">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7" name="TextBox 6"/>
            <p:cNvSpPr txBox="1"/>
            <p:nvPr/>
          </p:nvSpPr>
          <p:spPr>
            <a:xfrm>
              <a:off x="200055" y="0"/>
              <a:ext cx="3533745" cy="40010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8580" tIns="68580" rIns="68580" bIns="68580" numCol="1" spcCol="1270" anchor="ctr" anchorCtr="0">
              <a:noAutofit/>
            </a:bodyPr>
            <a:lstStyle/>
            <a:p>
              <a:r>
                <a:rPr lang="el-GR" b="1" dirty="0"/>
                <a:t>Πρωτόκολλο LoRaWAN</a:t>
              </a:r>
            </a:p>
          </p:txBody>
        </p:sp>
      </p:grpSp>
      <p:sp>
        <p:nvSpPr>
          <p:cNvPr id="8" name="Ορθογώνιο 7"/>
          <p:cNvSpPr/>
          <p:nvPr/>
        </p:nvSpPr>
        <p:spPr>
          <a:xfrm>
            <a:off x="483325" y="722540"/>
            <a:ext cx="11403874" cy="2308324"/>
          </a:xfrm>
          <a:prstGeom prst="rect">
            <a:avLst/>
          </a:prstGeom>
        </p:spPr>
        <p:txBody>
          <a:bodyPr wrap="square">
            <a:spAutoFit/>
          </a:bodyPr>
          <a:lstStyle/>
          <a:p>
            <a:pPr algn="just"/>
            <a:r>
              <a:rPr lang="el-GR" b="1" dirty="0"/>
              <a:t>Κλάσεις Συσκευών</a:t>
            </a:r>
          </a:p>
          <a:p>
            <a:pPr algn="just"/>
            <a:r>
              <a:rPr lang="el-GR" dirty="0"/>
              <a:t>Οι τερματικές συσκευές που υλοποιούν το πρωτόκολλο </a:t>
            </a:r>
            <a:r>
              <a:rPr lang="el-GR" dirty="0" err="1"/>
              <a:t>LoRaWAN</a:t>
            </a:r>
            <a:r>
              <a:rPr lang="el-GR" dirty="0"/>
              <a:t> εντάσσονται </a:t>
            </a:r>
            <a:r>
              <a:rPr lang="el-GR" b="1" dirty="0"/>
              <a:t>σε τρεις κατηγορίες – κλάσεις</a:t>
            </a:r>
            <a:r>
              <a:rPr lang="el-GR" dirty="0"/>
              <a:t>, ανάλογα με τον τρόπο που επικοινωνούν με το δίκτυο, οι οποίες αναφέρονται ως A, B και C.</a:t>
            </a:r>
          </a:p>
          <a:p>
            <a:pPr marL="285750" indent="-285750" algn="just">
              <a:buFont typeface="Arial" panose="020B0604020202020204" pitchFamily="34" charset="0"/>
              <a:buChar char="•"/>
            </a:pPr>
            <a:r>
              <a:rPr lang="el-GR" b="1" dirty="0"/>
              <a:t>Δεν υπάρχει διαφοροποίηση στον τρόπο αποστολής μηνυμάτων προς τον εξυπηρετητή (</a:t>
            </a:r>
            <a:r>
              <a:rPr lang="el-GR" b="1" dirty="0" err="1"/>
              <a:t>uplink</a:t>
            </a:r>
            <a:r>
              <a:rPr lang="el-GR" b="1" dirty="0"/>
              <a:t>)</a:t>
            </a:r>
          </a:p>
          <a:p>
            <a:pPr marL="285750" indent="-285750" algn="just">
              <a:buFont typeface="Arial" panose="020B0604020202020204" pitchFamily="34" charset="0"/>
              <a:buChar char="•"/>
            </a:pPr>
            <a:r>
              <a:rPr lang="el-GR" b="1" dirty="0"/>
              <a:t>Η διαφοροποίηση έγκειται στο πως και πότε αυτές λαμβάνουν κατερχόμενα μηνύματα (</a:t>
            </a:r>
            <a:r>
              <a:rPr lang="el-GR" b="1" dirty="0" err="1"/>
              <a:t>downlink</a:t>
            </a:r>
            <a:r>
              <a:rPr lang="el-GR" b="1" dirty="0"/>
              <a:t>) από τον LNS.</a:t>
            </a:r>
          </a:p>
          <a:p>
            <a:pPr marL="285750" indent="-285750" algn="just">
              <a:buFont typeface="Arial" panose="020B0604020202020204" pitchFamily="34" charset="0"/>
              <a:buChar char="•"/>
            </a:pPr>
            <a:r>
              <a:rPr lang="el-GR" b="1" dirty="0"/>
              <a:t>Η διαφοροποίηση της κλάσης έχει επιπτώσεις κυρίως στην απαιτούμενη κατανάλωση ενέργειας για τη λειτουργία της συσκευής</a:t>
            </a:r>
            <a:r>
              <a:rPr lang="el-GR" dirty="0"/>
              <a:t>.</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1102" y="3030862"/>
            <a:ext cx="6711017" cy="36965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540407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Θέση αριθμού διαφάνειας 2"/>
          <p:cNvSpPr>
            <a:spLocks noGrp="1"/>
          </p:cNvSpPr>
          <p:nvPr>
            <p:ph type="sldNum" sz="quarter" idx="12"/>
          </p:nvPr>
        </p:nvSpPr>
        <p:spPr/>
        <p:txBody>
          <a:bodyPr/>
          <a:lstStyle/>
          <a:p>
            <a:fld id="{B6F15528-21DE-4FAA-801E-634DDDAF4B2B}" type="slidenum">
              <a:rPr lang="en-US" smtClean="0">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pPr/>
              <a:t>16</a:t>
            </a:fld>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
        <p:nvSpPr>
          <p:cNvPr id="4" name="Πίτα 3"/>
          <p:cNvSpPr/>
          <p:nvPr/>
        </p:nvSpPr>
        <p:spPr>
          <a:xfrm>
            <a:off x="8410545" y="93859"/>
            <a:ext cx="400109" cy="400109"/>
          </a:xfrm>
          <a:prstGeom prst="pie">
            <a:avLst>
              <a:gd name="adj1" fmla="val 5400000"/>
              <a:gd name="adj2" fmla="val 1620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grpSp>
        <p:nvGrpSpPr>
          <p:cNvPr id="5" name="Ομάδα 4"/>
          <p:cNvGrpSpPr/>
          <p:nvPr/>
        </p:nvGrpSpPr>
        <p:grpSpPr>
          <a:xfrm>
            <a:off x="8610600" y="93859"/>
            <a:ext cx="3533745" cy="400109"/>
            <a:chOff x="200055" y="0"/>
            <a:chExt cx="3533745" cy="400109"/>
          </a:xfrm>
        </p:grpSpPr>
        <p:sp>
          <p:nvSpPr>
            <p:cNvPr id="6" name="Ορθογώνιο 5"/>
            <p:cNvSpPr/>
            <p:nvPr/>
          </p:nvSpPr>
          <p:spPr>
            <a:xfrm>
              <a:off x="200055" y="0"/>
              <a:ext cx="3533745" cy="400109"/>
            </a:xfrm>
            <a:prstGeom prst="rect">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7" name="TextBox 6"/>
            <p:cNvSpPr txBox="1"/>
            <p:nvPr/>
          </p:nvSpPr>
          <p:spPr>
            <a:xfrm>
              <a:off x="200055" y="0"/>
              <a:ext cx="3533745" cy="40010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8580" tIns="68580" rIns="68580" bIns="68580" numCol="1" spcCol="1270" anchor="ctr" anchorCtr="0">
              <a:noAutofit/>
            </a:bodyPr>
            <a:lstStyle/>
            <a:p>
              <a:r>
                <a:rPr lang="el-GR" b="1" dirty="0"/>
                <a:t>Πρωτόκολλο LoRaWAN</a:t>
              </a:r>
            </a:p>
          </p:txBody>
        </p:sp>
      </p:grpSp>
      <p:sp>
        <p:nvSpPr>
          <p:cNvPr id="2" name="Ορθογώνιο 1"/>
          <p:cNvSpPr/>
          <p:nvPr/>
        </p:nvSpPr>
        <p:spPr>
          <a:xfrm>
            <a:off x="444137" y="493968"/>
            <a:ext cx="11364686" cy="2677656"/>
          </a:xfrm>
          <a:prstGeom prst="rect">
            <a:avLst/>
          </a:prstGeom>
        </p:spPr>
        <p:txBody>
          <a:bodyPr wrap="square">
            <a:spAutoFit/>
          </a:bodyPr>
          <a:lstStyle/>
          <a:p>
            <a:pPr algn="just"/>
            <a:r>
              <a:rPr lang="el-GR" b="1" dirty="0"/>
              <a:t>Πρόσβαση στο Δίκτυο (</a:t>
            </a:r>
            <a:r>
              <a:rPr lang="el-GR" b="1" dirty="0" err="1"/>
              <a:t>Multiple</a:t>
            </a:r>
            <a:r>
              <a:rPr lang="el-GR" b="1" dirty="0"/>
              <a:t> Access)</a:t>
            </a:r>
          </a:p>
          <a:p>
            <a:pPr algn="just"/>
            <a:endParaRPr lang="el-GR" sz="800" dirty="0"/>
          </a:p>
          <a:p>
            <a:pPr algn="just"/>
            <a:r>
              <a:rPr lang="el-GR" dirty="0"/>
              <a:t>Ένα δίκτυο </a:t>
            </a:r>
            <a:r>
              <a:rPr lang="el-GR" dirty="0" err="1"/>
              <a:t>LoRaWAN</a:t>
            </a:r>
            <a:r>
              <a:rPr lang="el-GR" dirty="0"/>
              <a:t> συνήθως </a:t>
            </a:r>
            <a:r>
              <a:rPr lang="el-GR" b="1" dirty="0"/>
              <a:t>λειτουργεί σε πολλαπλές συχνότητες, δημιουργώντας έτσι διαφορετικά κανάλια</a:t>
            </a:r>
            <a:r>
              <a:rPr lang="el-GR" dirty="0"/>
              <a:t>, που το πλήθος τους ρυθμίζεται και παρακολουθείται από τις πύλες κι εξαρτάται από τους τοπικούς περιορισμούς που υπάρχουν καθώς και τις απαιτήσεις του δικτύου.</a:t>
            </a:r>
          </a:p>
          <a:p>
            <a:pPr algn="just"/>
            <a:endParaRPr lang="el-GR" sz="800" dirty="0"/>
          </a:p>
          <a:p>
            <a:pPr algn="just"/>
            <a:r>
              <a:rPr lang="el-GR" dirty="0"/>
              <a:t>Για την Ευρώπη το ISM φάσμα καθορίζεται από το Ευρωπαϊκό πρότυπο ETSI, το οποίο για την Ελλάδα εξειδικεύεται με τον «Κανονισμό Όρων Χρήσης Μεμονωμένων Ραδιοσυχνοτήτων ή Ζωνών Ραδιοσυχνοτήτων» από την Εθνική Επιτροπή Τηλεπικοινωνιών και Ταχυδρομείων (ΕΕΤΤ) που αποτελεί την αρμόδια αρχή.</a:t>
            </a:r>
          </a:p>
          <a:p>
            <a:pPr algn="just"/>
            <a:endParaRPr lang="el-GR" sz="800" dirty="0"/>
          </a:p>
          <a:p>
            <a:pPr algn="just"/>
            <a:r>
              <a:rPr lang="el-GR" dirty="0"/>
              <a:t>Η παραπάνω προδιαγραφή ορίζει τα παρακάτω κανάλια και  τους σχετικούς περιορισμούς σε DR &amp; </a:t>
            </a:r>
            <a:r>
              <a:rPr lang="el-GR" dirty="0" err="1"/>
              <a:t>Bandwith</a:t>
            </a:r>
            <a:r>
              <a:rPr lang="el-GR" dirty="0"/>
              <a:t>:</a:t>
            </a:r>
          </a:p>
        </p:txBody>
      </p:sp>
      <p:graphicFrame>
        <p:nvGraphicFramePr>
          <p:cNvPr id="8" name="Πίνακας 7"/>
          <p:cNvGraphicFramePr>
            <a:graphicFrameLocks noGrp="1"/>
          </p:cNvGraphicFramePr>
          <p:nvPr>
            <p:extLst>
              <p:ext uri="{D42A27DB-BD31-4B8C-83A1-F6EECF244321}">
                <p14:modId xmlns:p14="http://schemas.microsoft.com/office/powerpoint/2010/main" val="456301769"/>
              </p:ext>
            </p:extLst>
          </p:nvPr>
        </p:nvGraphicFramePr>
        <p:xfrm>
          <a:off x="2856018" y="3258346"/>
          <a:ext cx="6540924" cy="3333175"/>
        </p:xfrm>
        <a:graphic>
          <a:graphicData uri="http://schemas.openxmlformats.org/drawingml/2006/table">
            <a:tbl>
              <a:tblPr firstRow="1" firstCol="1" bandRow="1">
                <a:tableStyleId>{5C22544A-7EE6-4342-B048-85BDC9FD1C3A}</a:tableStyleId>
              </a:tblPr>
              <a:tblGrid>
                <a:gridCol w="712252">
                  <a:extLst>
                    <a:ext uri="{9D8B030D-6E8A-4147-A177-3AD203B41FA5}">
                      <a16:colId xmlns:a16="http://schemas.microsoft.com/office/drawing/2014/main" val="4109090105"/>
                    </a:ext>
                  </a:extLst>
                </a:gridCol>
                <a:gridCol w="1529869">
                  <a:extLst>
                    <a:ext uri="{9D8B030D-6E8A-4147-A177-3AD203B41FA5}">
                      <a16:colId xmlns:a16="http://schemas.microsoft.com/office/drawing/2014/main" val="2507382212"/>
                    </a:ext>
                  </a:extLst>
                </a:gridCol>
                <a:gridCol w="2389629">
                  <a:extLst>
                    <a:ext uri="{9D8B030D-6E8A-4147-A177-3AD203B41FA5}">
                      <a16:colId xmlns:a16="http://schemas.microsoft.com/office/drawing/2014/main" val="1736830935"/>
                    </a:ext>
                  </a:extLst>
                </a:gridCol>
                <a:gridCol w="1909174">
                  <a:extLst>
                    <a:ext uri="{9D8B030D-6E8A-4147-A177-3AD203B41FA5}">
                      <a16:colId xmlns:a16="http://schemas.microsoft.com/office/drawing/2014/main" val="3422583352"/>
                    </a:ext>
                  </a:extLst>
                </a:gridCol>
              </a:tblGrid>
              <a:tr h="282808">
                <a:tc>
                  <a:txBody>
                    <a:bodyPr/>
                    <a:lstStyle/>
                    <a:p>
                      <a:pPr algn="ctr">
                        <a:lnSpc>
                          <a:spcPct val="115000"/>
                        </a:lnSpc>
                        <a:spcAft>
                          <a:spcPts val="0"/>
                        </a:spcAft>
                      </a:pPr>
                      <a:r>
                        <a:rPr lang="el-GR" sz="1000" dirty="0">
                          <a:effectLst/>
                        </a:rPr>
                        <a:t>Κανάλι</a:t>
                      </a:r>
                      <a:endParaRPr lang="el-G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l-GR" sz="1000">
                          <a:effectLst/>
                        </a:rPr>
                        <a:t>Συχνότητα (MHz)</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US" sz="1000">
                          <a:effectLst/>
                        </a:rPr>
                        <a:t>DR</a:t>
                      </a:r>
                      <a:r>
                        <a:rPr lang="el-GR" sz="1000">
                          <a:effectLst/>
                        </a:rPr>
                        <a:t> &amp; </a:t>
                      </a:r>
                      <a:r>
                        <a:rPr lang="en-US" sz="1000">
                          <a:effectLst/>
                        </a:rPr>
                        <a:t>Bandwith</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l-GR" sz="1000">
                          <a:effectLst/>
                        </a:rPr>
                        <a:t>Ζεύξη</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68272822"/>
                  </a:ext>
                </a:extLst>
              </a:tr>
              <a:tr h="282808">
                <a:tc>
                  <a:txBody>
                    <a:bodyPr/>
                    <a:lstStyle/>
                    <a:p>
                      <a:pPr algn="ctr">
                        <a:lnSpc>
                          <a:spcPct val="115000"/>
                        </a:lnSpc>
                        <a:spcAft>
                          <a:spcPts val="0"/>
                        </a:spcAft>
                      </a:pPr>
                      <a:r>
                        <a:rPr lang="el-GR" sz="1000" dirty="0">
                          <a:effectLst/>
                        </a:rPr>
                        <a:t>1</a:t>
                      </a:r>
                      <a:endParaRPr lang="el-G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l-GR" sz="1000">
                          <a:effectLst/>
                        </a:rPr>
                        <a:t>868.1</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l-GR" sz="1000" dirty="0">
                          <a:effectLst/>
                        </a:rPr>
                        <a:t>SF7 BW125 έως SF12 BW125</a:t>
                      </a:r>
                      <a:endParaRPr lang="el-G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l-GR" sz="1000">
                          <a:effectLst/>
                        </a:rPr>
                        <a:t>uplink &amp; RX1 downlink</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019743641"/>
                  </a:ext>
                </a:extLst>
              </a:tr>
              <a:tr h="505095">
                <a:tc>
                  <a:txBody>
                    <a:bodyPr/>
                    <a:lstStyle/>
                    <a:p>
                      <a:pPr algn="ctr">
                        <a:lnSpc>
                          <a:spcPct val="115000"/>
                        </a:lnSpc>
                        <a:spcAft>
                          <a:spcPts val="0"/>
                        </a:spcAft>
                      </a:pPr>
                      <a:r>
                        <a:rPr lang="el-GR" sz="1000">
                          <a:effectLst/>
                        </a:rPr>
                        <a:t>2</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l-GR" sz="1000">
                          <a:effectLst/>
                        </a:rPr>
                        <a:t>868.3</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l-GR" sz="1000" dirty="0">
                          <a:effectLst/>
                        </a:rPr>
                        <a:t>SF7BW125 έως SF12BW125</a:t>
                      </a:r>
                      <a:endParaRPr lang="el-GR" sz="1100" dirty="0">
                        <a:effectLst/>
                      </a:endParaRPr>
                    </a:p>
                    <a:p>
                      <a:pPr algn="ctr">
                        <a:lnSpc>
                          <a:spcPct val="115000"/>
                        </a:lnSpc>
                        <a:spcAft>
                          <a:spcPts val="0"/>
                        </a:spcAft>
                      </a:pPr>
                      <a:r>
                        <a:rPr lang="el-GR" sz="1000" dirty="0">
                          <a:effectLst/>
                        </a:rPr>
                        <a:t>και SF7BW250</a:t>
                      </a:r>
                      <a:endParaRPr lang="el-G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l-GR" sz="1000">
                          <a:effectLst/>
                        </a:rPr>
                        <a:t>uplink &amp; RX1 downlink</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850787559"/>
                  </a:ext>
                </a:extLst>
              </a:tr>
              <a:tr h="282808">
                <a:tc>
                  <a:txBody>
                    <a:bodyPr/>
                    <a:lstStyle/>
                    <a:p>
                      <a:pPr algn="ctr">
                        <a:lnSpc>
                          <a:spcPct val="115000"/>
                        </a:lnSpc>
                        <a:spcAft>
                          <a:spcPts val="0"/>
                        </a:spcAft>
                      </a:pPr>
                      <a:r>
                        <a:rPr lang="el-GR" sz="1000">
                          <a:effectLst/>
                        </a:rPr>
                        <a:t>3</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l-GR" sz="1000">
                          <a:effectLst/>
                        </a:rPr>
                        <a:t>868.5</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l-GR" sz="1000">
                          <a:effectLst/>
                        </a:rPr>
                        <a:t>SF7BW125 έως SF12BW125</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l-GR" sz="1000">
                          <a:effectLst/>
                        </a:rPr>
                        <a:t>uplink &amp; RX1 downlink</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5275505"/>
                  </a:ext>
                </a:extLst>
              </a:tr>
              <a:tr h="282808">
                <a:tc>
                  <a:txBody>
                    <a:bodyPr/>
                    <a:lstStyle/>
                    <a:p>
                      <a:pPr algn="ctr">
                        <a:lnSpc>
                          <a:spcPct val="115000"/>
                        </a:lnSpc>
                        <a:spcAft>
                          <a:spcPts val="0"/>
                        </a:spcAft>
                      </a:pPr>
                      <a:r>
                        <a:rPr lang="el-GR" sz="1000">
                          <a:effectLst/>
                        </a:rPr>
                        <a:t>4</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l-GR" sz="1000">
                          <a:effectLst/>
                        </a:rPr>
                        <a:t>867.1</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l-GR" sz="1000">
                          <a:effectLst/>
                        </a:rPr>
                        <a:t>SF7BW125 έως SF12BW125</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l-GR" sz="1000">
                          <a:effectLst/>
                        </a:rPr>
                        <a:t>uplink &amp; RX1 downlink</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586179523"/>
                  </a:ext>
                </a:extLst>
              </a:tr>
              <a:tr h="282808">
                <a:tc>
                  <a:txBody>
                    <a:bodyPr/>
                    <a:lstStyle/>
                    <a:p>
                      <a:pPr algn="ctr">
                        <a:lnSpc>
                          <a:spcPct val="115000"/>
                        </a:lnSpc>
                        <a:spcAft>
                          <a:spcPts val="0"/>
                        </a:spcAft>
                      </a:pPr>
                      <a:r>
                        <a:rPr lang="el-GR" sz="1000">
                          <a:effectLst/>
                        </a:rPr>
                        <a:t>5</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l-GR" sz="1000">
                          <a:effectLst/>
                        </a:rPr>
                        <a:t>867.3</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l-GR" sz="1000">
                          <a:effectLst/>
                        </a:rPr>
                        <a:t>SF7BW125 έως SF12BW125</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l-GR" sz="1000">
                          <a:effectLst/>
                        </a:rPr>
                        <a:t>uplink &amp; RX1 downlink</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109946273"/>
                  </a:ext>
                </a:extLst>
              </a:tr>
              <a:tr h="282808">
                <a:tc>
                  <a:txBody>
                    <a:bodyPr/>
                    <a:lstStyle/>
                    <a:p>
                      <a:pPr algn="ctr">
                        <a:lnSpc>
                          <a:spcPct val="115000"/>
                        </a:lnSpc>
                        <a:spcAft>
                          <a:spcPts val="0"/>
                        </a:spcAft>
                      </a:pPr>
                      <a:r>
                        <a:rPr lang="el-GR" sz="1000">
                          <a:effectLst/>
                        </a:rPr>
                        <a:t>6</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l-GR" sz="1000">
                          <a:effectLst/>
                        </a:rPr>
                        <a:t>867.5</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l-GR" sz="1000" dirty="0">
                          <a:effectLst/>
                        </a:rPr>
                        <a:t>SF7BW125 έως SF12BW125</a:t>
                      </a:r>
                      <a:endParaRPr lang="el-G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l-GR" sz="1000">
                          <a:effectLst/>
                        </a:rPr>
                        <a:t>uplink &amp; RX1 downlink</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25132541"/>
                  </a:ext>
                </a:extLst>
              </a:tr>
              <a:tr h="282808">
                <a:tc>
                  <a:txBody>
                    <a:bodyPr/>
                    <a:lstStyle/>
                    <a:p>
                      <a:pPr algn="ctr">
                        <a:lnSpc>
                          <a:spcPct val="115000"/>
                        </a:lnSpc>
                        <a:spcAft>
                          <a:spcPts val="0"/>
                        </a:spcAft>
                      </a:pPr>
                      <a:r>
                        <a:rPr lang="el-GR" sz="1000">
                          <a:effectLst/>
                        </a:rPr>
                        <a:t>7</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l-GR" sz="1000">
                          <a:effectLst/>
                        </a:rPr>
                        <a:t>867.7</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l-GR" sz="1000">
                          <a:effectLst/>
                        </a:rPr>
                        <a:t>SF7BW125 έως SF12BW125</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l-GR" sz="1000">
                          <a:effectLst/>
                        </a:rPr>
                        <a:t>uplink &amp; RX1 downlink</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706826680"/>
                  </a:ext>
                </a:extLst>
              </a:tr>
              <a:tr h="282808">
                <a:tc>
                  <a:txBody>
                    <a:bodyPr/>
                    <a:lstStyle/>
                    <a:p>
                      <a:pPr algn="ctr">
                        <a:lnSpc>
                          <a:spcPct val="115000"/>
                        </a:lnSpc>
                        <a:spcAft>
                          <a:spcPts val="0"/>
                        </a:spcAft>
                      </a:pPr>
                      <a:r>
                        <a:rPr lang="el-GR" sz="1000">
                          <a:effectLst/>
                        </a:rPr>
                        <a:t>8</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l-GR" sz="1000">
                          <a:effectLst/>
                        </a:rPr>
                        <a:t>867.9</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l-GR" sz="1000">
                          <a:effectLst/>
                        </a:rPr>
                        <a:t>SF7BW125 έως SF12BW125</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l-GR" sz="1000">
                          <a:effectLst/>
                        </a:rPr>
                        <a:t>uplink &amp; RX1 downlink</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196039382"/>
                  </a:ext>
                </a:extLst>
              </a:tr>
              <a:tr h="282808">
                <a:tc>
                  <a:txBody>
                    <a:bodyPr/>
                    <a:lstStyle/>
                    <a:p>
                      <a:pPr algn="ctr">
                        <a:lnSpc>
                          <a:spcPct val="115000"/>
                        </a:lnSpc>
                        <a:spcAft>
                          <a:spcPts val="0"/>
                        </a:spcAft>
                      </a:pPr>
                      <a:r>
                        <a:rPr lang="el-GR" sz="1000">
                          <a:effectLst/>
                        </a:rPr>
                        <a:t>9</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l-GR" sz="1000">
                          <a:effectLst/>
                        </a:rPr>
                        <a:t>868.8</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l-GR" sz="1000">
                          <a:effectLst/>
                        </a:rPr>
                        <a:t>FSK</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l-GR" sz="1000">
                          <a:effectLst/>
                        </a:rPr>
                        <a:t>uplink &amp; RX1 downlink</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64141932"/>
                  </a:ext>
                </a:extLst>
              </a:tr>
              <a:tr h="282808">
                <a:tc>
                  <a:txBody>
                    <a:bodyPr/>
                    <a:lstStyle/>
                    <a:p>
                      <a:pPr algn="ctr">
                        <a:lnSpc>
                          <a:spcPct val="115000"/>
                        </a:lnSpc>
                        <a:spcAft>
                          <a:spcPts val="0"/>
                        </a:spcAft>
                      </a:pPr>
                      <a:r>
                        <a:rPr lang="el-GR" sz="1000">
                          <a:effectLst/>
                        </a:rPr>
                        <a:t>10</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l-GR" sz="1000">
                          <a:effectLst/>
                        </a:rPr>
                        <a:t>869.525</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l-GR" sz="1000">
                          <a:effectLst/>
                        </a:rPr>
                        <a:t>SF9BW125</a:t>
                      </a:r>
                      <a:endParaRPr lang="el-G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l-GR" sz="1000" dirty="0">
                          <a:effectLst/>
                        </a:rPr>
                        <a:t>RX2 </a:t>
                      </a:r>
                      <a:r>
                        <a:rPr lang="el-GR" sz="1000" dirty="0" err="1">
                          <a:effectLst/>
                        </a:rPr>
                        <a:t>downlink</a:t>
                      </a:r>
                      <a:endParaRPr lang="el-G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39928238"/>
                  </a:ext>
                </a:extLst>
              </a:tr>
            </a:tbl>
          </a:graphicData>
        </a:graphic>
      </p:graphicFrame>
    </p:spTree>
    <p:extLst>
      <p:ext uri="{BB962C8B-B14F-4D97-AF65-F5344CB8AC3E}">
        <p14:creationId xmlns:p14="http://schemas.microsoft.com/office/powerpoint/2010/main" val="7825698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Θέση αριθμού διαφάνειας 2"/>
          <p:cNvSpPr>
            <a:spLocks noGrp="1"/>
          </p:cNvSpPr>
          <p:nvPr>
            <p:ph type="sldNum" sz="quarter" idx="12"/>
          </p:nvPr>
        </p:nvSpPr>
        <p:spPr/>
        <p:txBody>
          <a:bodyPr/>
          <a:lstStyle/>
          <a:p>
            <a:fld id="{B6F15528-21DE-4FAA-801E-634DDDAF4B2B}" type="slidenum">
              <a:rPr lang="en-US" smtClean="0">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pPr/>
              <a:t>17</a:t>
            </a:fld>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
        <p:nvSpPr>
          <p:cNvPr id="4" name="Πίτα 3"/>
          <p:cNvSpPr/>
          <p:nvPr/>
        </p:nvSpPr>
        <p:spPr>
          <a:xfrm>
            <a:off x="8410545" y="93859"/>
            <a:ext cx="400109" cy="400109"/>
          </a:xfrm>
          <a:prstGeom prst="pie">
            <a:avLst>
              <a:gd name="adj1" fmla="val 5400000"/>
              <a:gd name="adj2" fmla="val 1620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grpSp>
        <p:nvGrpSpPr>
          <p:cNvPr id="5" name="Ομάδα 4"/>
          <p:cNvGrpSpPr/>
          <p:nvPr/>
        </p:nvGrpSpPr>
        <p:grpSpPr>
          <a:xfrm>
            <a:off x="8610600" y="93859"/>
            <a:ext cx="3533745" cy="400109"/>
            <a:chOff x="200055" y="0"/>
            <a:chExt cx="3533745" cy="400109"/>
          </a:xfrm>
        </p:grpSpPr>
        <p:sp>
          <p:nvSpPr>
            <p:cNvPr id="6" name="Ορθογώνιο 5"/>
            <p:cNvSpPr/>
            <p:nvPr/>
          </p:nvSpPr>
          <p:spPr>
            <a:xfrm>
              <a:off x="200055" y="0"/>
              <a:ext cx="3533745" cy="400109"/>
            </a:xfrm>
            <a:prstGeom prst="rect">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7" name="TextBox 6"/>
            <p:cNvSpPr txBox="1"/>
            <p:nvPr/>
          </p:nvSpPr>
          <p:spPr>
            <a:xfrm>
              <a:off x="200055" y="0"/>
              <a:ext cx="3533745" cy="40010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8580" tIns="68580" rIns="68580" bIns="68580" numCol="1" spcCol="1270" anchor="ctr" anchorCtr="0">
              <a:noAutofit/>
            </a:bodyPr>
            <a:lstStyle/>
            <a:p>
              <a:r>
                <a:rPr lang="el-GR" b="1" dirty="0"/>
                <a:t>Πρωτόκολλο LoRaWAN</a:t>
              </a:r>
            </a:p>
          </p:txBody>
        </p:sp>
      </p:grpSp>
      <p:sp>
        <p:nvSpPr>
          <p:cNvPr id="8" name="Ορθογώνιο 7"/>
          <p:cNvSpPr/>
          <p:nvPr/>
        </p:nvSpPr>
        <p:spPr>
          <a:xfrm>
            <a:off x="496389" y="613177"/>
            <a:ext cx="11155680" cy="3508653"/>
          </a:xfrm>
          <a:prstGeom prst="rect">
            <a:avLst/>
          </a:prstGeom>
        </p:spPr>
        <p:txBody>
          <a:bodyPr wrap="square">
            <a:spAutoFit/>
          </a:bodyPr>
          <a:lstStyle/>
          <a:p>
            <a:pPr marL="285750" indent="-285750" algn="just">
              <a:buFont typeface="Arial" panose="020B0604020202020204" pitchFamily="34" charset="0"/>
              <a:buChar char="•"/>
            </a:pPr>
            <a:r>
              <a:rPr lang="el-GR" dirty="0"/>
              <a:t>Καθορίζονται </a:t>
            </a:r>
            <a:r>
              <a:rPr lang="el-GR" b="1" dirty="0"/>
              <a:t>10 κανάλια</a:t>
            </a:r>
          </a:p>
          <a:p>
            <a:pPr marL="285750" indent="-285750" algn="just">
              <a:buFont typeface="Arial" panose="020B0604020202020204" pitchFamily="34" charset="0"/>
              <a:buChar char="•"/>
            </a:pPr>
            <a:r>
              <a:rPr lang="el-GR" b="1" dirty="0"/>
              <a:t>τα οποία 8 έχουν δυνατότητα να επιτύχουν ρυθμούς δεδομένων που ποικίλουν από 250 </a:t>
            </a:r>
            <a:r>
              <a:rPr lang="el-GR" b="1" dirty="0" err="1"/>
              <a:t>bps</a:t>
            </a:r>
            <a:r>
              <a:rPr lang="el-GR" b="1" dirty="0"/>
              <a:t> </a:t>
            </a:r>
            <a:r>
              <a:rPr lang="el-GR" b="1" dirty="0" err="1"/>
              <a:t>εως</a:t>
            </a:r>
            <a:r>
              <a:rPr lang="el-GR" b="1" dirty="0"/>
              <a:t> 5,5 </a:t>
            </a:r>
            <a:r>
              <a:rPr lang="el-GR" b="1" dirty="0" err="1"/>
              <a:t>kbps</a:t>
            </a:r>
            <a:endParaRPr lang="el-GR" dirty="0"/>
          </a:p>
          <a:p>
            <a:pPr marL="285750" indent="-285750" algn="just">
              <a:buFont typeface="Arial" panose="020B0604020202020204" pitchFamily="34" charset="0"/>
              <a:buChar char="•"/>
            </a:pPr>
            <a:r>
              <a:rPr lang="el-GR" dirty="0"/>
              <a:t>υπάρχουν δυο υψηλών ταχυτήτων κανάλια που παρέχουν ρυθμό δεδομένων της τάξης </a:t>
            </a:r>
            <a:r>
              <a:rPr lang="el-GR" b="1" dirty="0"/>
              <a:t>των 11 </a:t>
            </a:r>
            <a:r>
              <a:rPr lang="el-GR" b="1" dirty="0" err="1"/>
              <a:t>kbps</a:t>
            </a:r>
            <a:r>
              <a:rPr lang="el-GR" b="1" dirty="0"/>
              <a:t> και 50 </a:t>
            </a:r>
            <a:r>
              <a:rPr lang="el-GR" b="1" dirty="0" err="1"/>
              <a:t>kbps</a:t>
            </a:r>
            <a:r>
              <a:rPr lang="el-GR" b="1" dirty="0"/>
              <a:t> χρησιμοποιώντας εύρος καναλιού 250 </a:t>
            </a:r>
            <a:r>
              <a:rPr lang="el-GR" b="1" dirty="0" err="1"/>
              <a:t>KHz</a:t>
            </a:r>
            <a:r>
              <a:rPr lang="el-GR" b="1" dirty="0"/>
              <a:t> και FSK (</a:t>
            </a:r>
            <a:r>
              <a:rPr lang="el-GR" b="1" dirty="0" err="1"/>
              <a:t>Frequency</a:t>
            </a:r>
            <a:r>
              <a:rPr lang="el-GR" b="1" dirty="0"/>
              <a:t>-</a:t>
            </a:r>
            <a:r>
              <a:rPr lang="el-GR" b="1" dirty="0" err="1"/>
              <a:t>Shif</a:t>
            </a:r>
            <a:r>
              <a:rPr lang="el-GR" b="1" dirty="0"/>
              <a:t> </a:t>
            </a:r>
            <a:r>
              <a:rPr lang="el-GR" b="1" dirty="0" err="1"/>
              <a:t>Keying</a:t>
            </a:r>
            <a:r>
              <a:rPr lang="el-GR" b="1" dirty="0"/>
              <a:t>) διαμόρφωση αντίστοιχα. </a:t>
            </a:r>
          </a:p>
          <a:p>
            <a:pPr algn="just"/>
            <a:endParaRPr lang="el-GR" sz="800" dirty="0"/>
          </a:p>
          <a:p>
            <a:pPr algn="just"/>
            <a:r>
              <a:rPr lang="el-GR" dirty="0"/>
              <a:t>Όλες οι τελικές συσκευές, από προεπιλογή, </a:t>
            </a:r>
            <a:r>
              <a:rPr lang="el-GR" b="1" dirty="0"/>
              <a:t>χρησιμοποιούν 3 κανάλια εύρους 125 </a:t>
            </a:r>
            <a:r>
              <a:rPr lang="el-GR" b="1" dirty="0" err="1"/>
              <a:t>kHz</a:t>
            </a:r>
            <a:r>
              <a:rPr lang="el-GR" b="1" dirty="0"/>
              <a:t> </a:t>
            </a:r>
            <a:r>
              <a:rPr lang="el-GR" dirty="0"/>
              <a:t>για την υπό-μπάντα των 868 </a:t>
            </a:r>
            <a:r>
              <a:rPr lang="el-GR" dirty="0" err="1"/>
              <a:t>MHz</a:t>
            </a:r>
            <a:r>
              <a:rPr lang="el-GR" dirty="0"/>
              <a:t> στα: 868.10, 868.30 και 868.50 </a:t>
            </a:r>
            <a:r>
              <a:rPr lang="el-GR" dirty="0" err="1"/>
              <a:t>MHz</a:t>
            </a:r>
            <a:r>
              <a:rPr lang="el-GR" dirty="0"/>
              <a:t>.</a:t>
            </a:r>
          </a:p>
          <a:p>
            <a:pPr algn="just"/>
            <a:endParaRPr lang="el-GR" sz="800" dirty="0"/>
          </a:p>
          <a:p>
            <a:pPr algn="just"/>
            <a:r>
              <a:rPr lang="el-GR" dirty="0"/>
              <a:t>Μέσω αυτών των καναλιών οι συσκευές έχουν πρόσβαση στο δίκτυο κι </a:t>
            </a:r>
            <a:r>
              <a:rPr lang="el-GR" b="1" dirty="0"/>
              <a:t>αφού ενταχθούν σ’ αυτό ο LNS μπορεί να τους εκχωρήσει επιπλέον κανάλια επικοινωνίας</a:t>
            </a:r>
            <a:r>
              <a:rPr lang="el-GR" dirty="0"/>
              <a:t>.</a:t>
            </a:r>
          </a:p>
          <a:p>
            <a:pPr algn="just"/>
            <a:endParaRPr lang="el-GR" sz="800" dirty="0"/>
          </a:p>
          <a:p>
            <a:pPr algn="just"/>
            <a:r>
              <a:rPr lang="el-GR" dirty="0"/>
              <a:t>Επίσης καθορίζεται:</a:t>
            </a:r>
          </a:p>
          <a:p>
            <a:pPr marL="285750" indent="-285750" algn="just">
              <a:buFont typeface="Arial" panose="020B0604020202020204" pitchFamily="34" charset="0"/>
              <a:buChar char="•"/>
            </a:pPr>
            <a:r>
              <a:rPr lang="el-GR" dirty="0"/>
              <a:t>Ο </a:t>
            </a:r>
            <a:r>
              <a:rPr lang="el-GR" b="1" dirty="0"/>
              <a:t>μέγιστος κύκλο δράσης (</a:t>
            </a:r>
            <a:r>
              <a:rPr lang="el-GR" b="1" dirty="0" err="1"/>
              <a:t>duty</a:t>
            </a:r>
            <a:r>
              <a:rPr lang="el-GR" b="1" dirty="0"/>
              <a:t> </a:t>
            </a:r>
            <a:r>
              <a:rPr lang="el-GR" b="1" dirty="0" err="1"/>
              <a:t>cycle</a:t>
            </a:r>
            <a:r>
              <a:rPr lang="el-GR" b="1" dirty="0"/>
              <a:t>) </a:t>
            </a:r>
            <a:r>
              <a:rPr lang="el-GR" dirty="0"/>
              <a:t>των τελικών συσκευών και πυλών του δικτύου</a:t>
            </a:r>
          </a:p>
          <a:p>
            <a:pPr marL="285750" indent="-285750" algn="just">
              <a:buFont typeface="Arial" panose="020B0604020202020204" pitchFamily="34" charset="0"/>
              <a:buChar char="•"/>
            </a:pPr>
            <a:r>
              <a:rPr lang="el-GR" dirty="0"/>
              <a:t>Η μέγιστη ακτινοβολούμενη ισχύς (</a:t>
            </a:r>
            <a:r>
              <a:rPr lang="el-GR" dirty="0" err="1"/>
              <a:t>Effective</a:t>
            </a:r>
            <a:r>
              <a:rPr lang="el-GR" dirty="0"/>
              <a:t> </a:t>
            </a:r>
            <a:r>
              <a:rPr lang="el-GR" dirty="0" err="1"/>
              <a:t>Radiated</a:t>
            </a:r>
            <a:r>
              <a:rPr lang="el-GR" dirty="0"/>
              <a:t> </a:t>
            </a:r>
            <a:r>
              <a:rPr lang="el-GR" dirty="0" err="1"/>
              <a:t>Power</a:t>
            </a:r>
            <a:r>
              <a:rPr lang="el-GR" dirty="0"/>
              <a:t>, ERP).</a:t>
            </a:r>
          </a:p>
        </p:txBody>
      </p:sp>
      <p:graphicFrame>
        <p:nvGraphicFramePr>
          <p:cNvPr id="9" name="Πίνακας 8"/>
          <p:cNvGraphicFramePr>
            <a:graphicFrameLocks noGrp="1"/>
          </p:cNvGraphicFramePr>
          <p:nvPr>
            <p:extLst>
              <p:ext uri="{D42A27DB-BD31-4B8C-83A1-F6EECF244321}">
                <p14:modId xmlns:p14="http://schemas.microsoft.com/office/powerpoint/2010/main" val="2194406525"/>
              </p:ext>
            </p:extLst>
          </p:nvPr>
        </p:nvGraphicFramePr>
        <p:xfrm>
          <a:off x="3503206" y="4269763"/>
          <a:ext cx="5599974" cy="2375967"/>
        </p:xfrm>
        <a:graphic>
          <a:graphicData uri="http://schemas.openxmlformats.org/drawingml/2006/table">
            <a:tbl>
              <a:tblPr firstRow="1" firstCol="1" lastRow="1" lastCol="1" bandRow="1" bandCol="1">
                <a:tableStyleId>{5C22544A-7EE6-4342-B048-85BDC9FD1C3A}</a:tableStyleId>
              </a:tblPr>
              <a:tblGrid>
                <a:gridCol w="1967307">
                  <a:extLst>
                    <a:ext uri="{9D8B030D-6E8A-4147-A177-3AD203B41FA5}">
                      <a16:colId xmlns:a16="http://schemas.microsoft.com/office/drawing/2014/main" val="2385686938"/>
                    </a:ext>
                  </a:extLst>
                </a:gridCol>
                <a:gridCol w="2068802">
                  <a:extLst>
                    <a:ext uri="{9D8B030D-6E8A-4147-A177-3AD203B41FA5}">
                      <a16:colId xmlns:a16="http://schemas.microsoft.com/office/drawing/2014/main" val="2795088856"/>
                    </a:ext>
                  </a:extLst>
                </a:gridCol>
                <a:gridCol w="1563865">
                  <a:extLst>
                    <a:ext uri="{9D8B030D-6E8A-4147-A177-3AD203B41FA5}">
                      <a16:colId xmlns:a16="http://schemas.microsoft.com/office/drawing/2014/main" val="2309168011"/>
                    </a:ext>
                  </a:extLst>
                </a:gridCol>
              </a:tblGrid>
              <a:tr h="473114">
                <a:tc>
                  <a:txBody>
                    <a:bodyPr/>
                    <a:lstStyle/>
                    <a:p>
                      <a:pPr marL="68580" algn="l">
                        <a:spcBef>
                          <a:spcPts val="135"/>
                        </a:spcBef>
                        <a:spcAft>
                          <a:spcPts val="0"/>
                        </a:spcAft>
                      </a:pPr>
                      <a:r>
                        <a:rPr lang="el-GR" sz="1100" dirty="0">
                          <a:effectLst/>
                        </a:rPr>
                        <a:t>Ζώνη</a:t>
                      </a:r>
                      <a:r>
                        <a:rPr lang="el-GR" sz="1100" spc="-15" dirty="0">
                          <a:effectLst/>
                        </a:rPr>
                        <a:t> </a:t>
                      </a:r>
                      <a:r>
                        <a:rPr lang="el-GR" sz="1100" dirty="0">
                          <a:effectLst/>
                        </a:rPr>
                        <a:t>συχνοτήτων</a:t>
                      </a:r>
                      <a:endParaRPr lang="el-GR"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solidFill>
                      <a:schemeClr val="tx2">
                        <a:lumMod val="75000"/>
                      </a:schemeClr>
                    </a:solidFill>
                  </a:tcPr>
                </a:tc>
                <a:tc>
                  <a:txBody>
                    <a:bodyPr/>
                    <a:lstStyle/>
                    <a:p>
                      <a:pPr marL="343535" algn="ctr">
                        <a:spcBef>
                          <a:spcPts val="5"/>
                        </a:spcBef>
                        <a:spcAft>
                          <a:spcPts val="0"/>
                        </a:spcAft>
                      </a:pPr>
                      <a:r>
                        <a:rPr lang="el-GR" sz="1100" dirty="0">
                          <a:effectLst/>
                        </a:rPr>
                        <a:t>Κύκλος</a:t>
                      </a:r>
                      <a:r>
                        <a:rPr lang="el-GR" sz="1100" spc="-5" dirty="0">
                          <a:effectLst/>
                        </a:rPr>
                        <a:t> </a:t>
                      </a:r>
                      <a:r>
                        <a:rPr lang="el-GR" sz="1100" dirty="0">
                          <a:effectLst/>
                        </a:rPr>
                        <a:t>δράσης</a:t>
                      </a:r>
                      <a:endParaRPr lang="el-GR"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solidFill>
                      <a:schemeClr val="tx2">
                        <a:lumMod val="75000"/>
                      </a:schemeClr>
                    </a:solidFill>
                  </a:tcPr>
                </a:tc>
                <a:tc>
                  <a:txBody>
                    <a:bodyPr/>
                    <a:lstStyle/>
                    <a:p>
                      <a:pPr marL="329565" algn="ctr">
                        <a:spcBef>
                          <a:spcPts val="5"/>
                        </a:spcBef>
                        <a:spcAft>
                          <a:spcPts val="0"/>
                        </a:spcAft>
                      </a:pPr>
                      <a:r>
                        <a:rPr lang="en-US" sz="1100" dirty="0">
                          <a:effectLst/>
                        </a:rPr>
                        <a:t>Max E</a:t>
                      </a:r>
                      <a:r>
                        <a:rPr lang="el-GR" sz="1100" dirty="0">
                          <a:effectLst/>
                        </a:rPr>
                        <a:t>.</a:t>
                      </a:r>
                      <a:r>
                        <a:rPr lang="en-US" sz="1100" dirty="0">
                          <a:effectLst/>
                        </a:rPr>
                        <a:t>R</a:t>
                      </a:r>
                      <a:r>
                        <a:rPr lang="el-GR" sz="1100" dirty="0">
                          <a:effectLst/>
                        </a:rPr>
                        <a:t>.</a:t>
                      </a:r>
                      <a:r>
                        <a:rPr lang="en-US" sz="1100" dirty="0">
                          <a:effectLst/>
                        </a:rPr>
                        <a:t>P</a:t>
                      </a:r>
                      <a:r>
                        <a:rPr lang="el-GR" sz="1100" dirty="0">
                          <a:effectLst/>
                        </a:rPr>
                        <a:t>.</a:t>
                      </a:r>
                      <a:endParaRPr lang="el-GR"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solidFill>
                      <a:schemeClr val="tx2">
                        <a:lumMod val="75000"/>
                      </a:schemeClr>
                    </a:solidFill>
                  </a:tcPr>
                </a:tc>
                <a:extLst>
                  <a:ext uri="{0D108BD9-81ED-4DB2-BD59-A6C34878D82A}">
                    <a16:rowId xmlns:a16="http://schemas.microsoft.com/office/drawing/2014/main" val="25969603"/>
                  </a:ext>
                </a:extLst>
              </a:tr>
              <a:tr h="460982">
                <a:tc>
                  <a:txBody>
                    <a:bodyPr/>
                    <a:lstStyle/>
                    <a:p>
                      <a:pPr marL="68580" algn="l">
                        <a:spcBef>
                          <a:spcPts val="145"/>
                        </a:spcBef>
                        <a:spcAft>
                          <a:spcPts val="0"/>
                        </a:spcAft>
                      </a:pPr>
                      <a:r>
                        <a:rPr lang="el-GR" sz="1100" dirty="0">
                          <a:effectLst/>
                        </a:rPr>
                        <a:t>865.0-868.0</a:t>
                      </a:r>
                      <a:r>
                        <a:rPr lang="el-GR" sz="1100" spc="-5" dirty="0">
                          <a:effectLst/>
                        </a:rPr>
                        <a:t> </a:t>
                      </a:r>
                      <a:r>
                        <a:rPr lang="en-US" sz="1100" dirty="0">
                          <a:effectLst/>
                        </a:rPr>
                        <a:t>MHz</a:t>
                      </a:r>
                      <a:endParaRPr lang="el-GR"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solidFill>
                      <a:schemeClr val="tx2">
                        <a:lumMod val="75000"/>
                      </a:schemeClr>
                    </a:solidFill>
                  </a:tcPr>
                </a:tc>
                <a:tc>
                  <a:txBody>
                    <a:bodyPr/>
                    <a:lstStyle/>
                    <a:p>
                      <a:pPr marL="343535" algn="ctr">
                        <a:spcBef>
                          <a:spcPts val="5"/>
                        </a:spcBef>
                        <a:spcAft>
                          <a:spcPts val="0"/>
                        </a:spcAft>
                      </a:pPr>
                      <a:r>
                        <a:rPr lang="el-GR" sz="1100" dirty="0">
                          <a:solidFill>
                            <a:schemeClr val="tx1"/>
                          </a:solidFill>
                          <a:effectLst/>
                        </a:rPr>
                        <a:t>≤</a:t>
                      </a:r>
                      <a:r>
                        <a:rPr lang="el-GR" sz="1100" spc="-5" dirty="0">
                          <a:solidFill>
                            <a:schemeClr val="tx1"/>
                          </a:solidFill>
                          <a:effectLst/>
                        </a:rPr>
                        <a:t> </a:t>
                      </a:r>
                      <a:r>
                        <a:rPr lang="el-GR" sz="1100" dirty="0">
                          <a:solidFill>
                            <a:schemeClr val="tx1"/>
                          </a:solidFill>
                          <a:effectLst/>
                        </a:rPr>
                        <a:t>1%</a:t>
                      </a:r>
                      <a:endParaRPr lang="el-GR" sz="1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solidFill>
                      <a:schemeClr val="tx2">
                        <a:lumMod val="75000"/>
                      </a:schemeClr>
                    </a:solidFill>
                  </a:tcPr>
                </a:tc>
                <a:tc>
                  <a:txBody>
                    <a:bodyPr/>
                    <a:lstStyle/>
                    <a:p>
                      <a:pPr marL="329565" algn="ctr">
                        <a:spcBef>
                          <a:spcPts val="5"/>
                        </a:spcBef>
                        <a:spcAft>
                          <a:spcPts val="0"/>
                        </a:spcAft>
                      </a:pPr>
                      <a:r>
                        <a:rPr lang="el-GR" sz="1100" dirty="0">
                          <a:effectLst/>
                        </a:rPr>
                        <a:t>25</a:t>
                      </a:r>
                      <a:r>
                        <a:rPr lang="en-US" sz="1100" dirty="0" err="1">
                          <a:effectLst/>
                        </a:rPr>
                        <a:t>mW</a:t>
                      </a:r>
                      <a:endParaRPr lang="el-GR"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solidFill>
                      <a:schemeClr val="tx2">
                        <a:lumMod val="75000"/>
                      </a:schemeClr>
                    </a:solidFill>
                  </a:tcPr>
                </a:tc>
                <a:extLst>
                  <a:ext uri="{0D108BD9-81ED-4DB2-BD59-A6C34878D82A}">
                    <a16:rowId xmlns:a16="http://schemas.microsoft.com/office/drawing/2014/main" val="3414009808"/>
                  </a:ext>
                </a:extLst>
              </a:tr>
              <a:tr h="473114">
                <a:tc>
                  <a:txBody>
                    <a:bodyPr/>
                    <a:lstStyle/>
                    <a:p>
                      <a:pPr marL="68580" algn="l">
                        <a:spcBef>
                          <a:spcPts val="190"/>
                        </a:spcBef>
                        <a:spcAft>
                          <a:spcPts val="0"/>
                        </a:spcAft>
                      </a:pPr>
                      <a:r>
                        <a:rPr lang="el-GR" sz="1100" dirty="0">
                          <a:effectLst/>
                        </a:rPr>
                        <a:t>868.0-868.6</a:t>
                      </a:r>
                      <a:r>
                        <a:rPr lang="el-GR" sz="1100" spc="-15" dirty="0">
                          <a:effectLst/>
                        </a:rPr>
                        <a:t> </a:t>
                      </a:r>
                      <a:r>
                        <a:rPr lang="en-US" sz="1100" dirty="0">
                          <a:effectLst/>
                        </a:rPr>
                        <a:t>MHz</a:t>
                      </a:r>
                      <a:endParaRPr lang="el-GR"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solidFill>
                      <a:schemeClr val="tx2">
                        <a:lumMod val="75000"/>
                      </a:schemeClr>
                    </a:solidFill>
                  </a:tcPr>
                </a:tc>
                <a:tc>
                  <a:txBody>
                    <a:bodyPr/>
                    <a:lstStyle/>
                    <a:p>
                      <a:pPr marL="343535" algn="ctr">
                        <a:spcBef>
                          <a:spcPts val="60"/>
                        </a:spcBef>
                        <a:spcAft>
                          <a:spcPts val="0"/>
                        </a:spcAft>
                      </a:pPr>
                      <a:r>
                        <a:rPr lang="el-GR" sz="1100" dirty="0">
                          <a:solidFill>
                            <a:schemeClr val="tx1"/>
                          </a:solidFill>
                          <a:effectLst/>
                        </a:rPr>
                        <a:t>≤</a:t>
                      </a:r>
                      <a:r>
                        <a:rPr lang="el-GR" sz="1100" spc="-5" dirty="0">
                          <a:solidFill>
                            <a:schemeClr val="tx1"/>
                          </a:solidFill>
                          <a:effectLst/>
                        </a:rPr>
                        <a:t> </a:t>
                      </a:r>
                      <a:r>
                        <a:rPr lang="el-GR" sz="1100" dirty="0">
                          <a:solidFill>
                            <a:schemeClr val="tx1"/>
                          </a:solidFill>
                          <a:effectLst/>
                        </a:rPr>
                        <a:t>1%</a:t>
                      </a:r>
                      <a:endParaRPr lang="el-GR" sz="1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solidFill>
                      <a:schemeClr val="tx2">
                        <a:lumMod val="75000"/>
                      </a:schemeClr>
                    </a:solidFill>
                  </a:tcPr>
                </a:tc>
                <a:tc>
                  <a:txBody>
                    <a:bodyPr/>
                    <a:lstStyle/>
                    <a:p>
                      <a:pPr marL="329565" algn="ctr">
                        <a:spcBef>
                          <a:spcPts val="60"/>
                        </a:spcBef>
                        <a:spcAft>
                          <a:spcPts val="0"/>
                        </a:spcAft>
                      </a:pPr>
                      <a:r>
                        <a:rPr lang="el-GR" sz="1100" dirty="0">
                          <a:effectLst/>
                        </a:rPr>
                        <a:t>25</a:t>
                      </a:r>
                      <a:r>
                        <a:rPr lang="en-US" sz="1100" dirty="0" err="1">
                          <a:effectLst/>
                        </a:rPr>
                        <a:t>mW</a:t>
                      </a:r>
                      <a:endParaRPr lang="el-GR"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solidFill>
                      <a:schemeClr val="tx2">
                        <a:lumMod val="75000"/>
                      </a:schemeClr>
                    </a:solidFill>
                  </a:tcPr>
                </a:tc>
                <a:extLst>
                  <a:ext uri="{0D108BD9-81ED-4DB2-BD59-A6C34878D82A}">
                    <a16:rowId xmlns:a16="http://schemas.microsoft.com/office/drawing/2014/main" val="52380345"/>
                  </a:ext>
                </a:extLst>
              </a:tr>
              <a:tr h="478313">
                <a:tc>
                  <a:txBody>
                    <a:bodyPr/>
                    <a:lstStyle/>
                    <a:p>
                      <a:pPr marL="68580" algn="l">
                        <a:spcBef>
                          <a:spcPts val="200"/>
                        </a:spcBef>
                        <a:spcAft>
                          <a:spcPts val="0"/>
                        </a:spcAft>
                      </a:pPr>
                      <a:r>
                        <a:rPr lang="el-GR" sz="1100">
                          <a:effectLst/>
                        </a:rPr>
                        <a:t>868.</a:t>
                      </a:r>
                      <a:r>
                        <a:rPr lang="en-US" sz="1100">
                          <a:effectLst/>
                        </a:rPr>
                        <a:t>7-869.2</a:t>
                      </a:r>
                      <a:r>
                        <a:rPr lang="en-US" sz="1100" spc="-5">
                          <a:effectLst/>
                        </a:rPr>
                        <a:t> </a:t>
                      </a:r>
                      <a:r>
                        <a:rPr lang="en-US" sz="1100">
                          <a:effectLst/>
                        </a:rPr>
                        <a:t>MHz</a:t>
                      </a:r>
                      <a:endParaRPr lang="el-GR"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solidFill>
                      <a:schemeClr val="tx2">
                        <a:lumMod val="75000"/>
                      </a:schemeClr>
                    </a:solidFill>
                  </a:tcPr>
                </a:tc>
                <a:tc>
                  <a:txBody>
                    <a:bodyPr/>
                    <a:lstStyle/>
                    <a:p>
                      <a:pPr marL="343535" algn="ctr">
                        <a:spcBef>
                          <a:spcPts val="60"/>
                        </a:spcBef>
                        <a:spcAft>
                          <a:spcPts val="0"/>
                        </a:spcAft>
                      </a:pPr>
                      <a:r>
                        <a:rPr lang="en-US" sz="1100" dirty="0">
                          <a:solidFill>
                            <a:schemeClr val="tx1"/>
                          </a:solidFill>
                          <a:effectLst/>
                        </a:rPr>
                        <a:t>≤</a:t>
                      </a:r>
                      <a:r>
                        <a:rPr lang="en-US" sz="1100" spc="-5" dirty="0">
                          <a:solidFill>
                            <a:schemeClr val="tx1"/>
                          </a:solidFill>
                          <a:effectLst/>
                        </a:rPr>
                        <a:t> </a:t>
                      </a:r>
                      <a:r>
                        <a:rPr lang="en-US" sz="1100" dirty="0">
                          <a:solidFill>
                            <a:schemeClr val="tx1"/>
                          </a:solidFill>
                          <a:effectLst/>
                        </a:rPr>
                        <a:t>0.1%</a:t>
                      </a:r>
                      <a:endParaRPr lang="el-GR" sz="1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solidFill>
                      <a:schemeClr val="tx2">
                        <a:lumMod val="75000"/>
                      </a:schemeClr>
                    </a:solidFill>
                  </a:tcPr>
                </a:tc>
                <a:tc>
                  <a:txBody>
                    <a:bodyPr/>
                    <a:lstStyle/>
                    <a:p>
                      <a:pPr marL="329565" algn="ctr">
                        <a:spcBef>
                          <a:spcPts val="60"/>
                        </a:spcBef>
                        <a:spcAft>
                          <a:spcPts val="0"/>
                        </a:spcAft>
                      </a:pPr>
                      <a:r>
                        <a:rPr lang="en-US" sz="1100" dirty="0">
                          <a:effectLst/>
                        </a:rPr>
                        <a:t>25mW</a:t>
                      </a:r>
                      <a:endParaRPr lang="el-GR"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solidFill>
                      <a:schemeClr val="tx2">
                        <a:lumMod val="75000"/>
                      </a:schemeClr>
                    </a:solidFill>
                  </a:tcPr>
                </a:tc>
                <a:extLst>
                  <a:ext uri="{0D108BD9-81ED-4DB2-BD59-A6C34878D82A}">
                    <a16:rowId xmlns:a16="http://schemas.microsoft.com/office/drawing/2014/main" val="1884106529"/>
                  </a:ext>
                </a:extLst>
              </a:tr>
              <a:tr h="490444">
                <a:tc>
                  <a:txBody>
                    <a:bodyPr/>
                    <a:lstStyle/>
                    <a:p>
                      <a:pPr marL="68580" algn="l">
                        <a:spcBef>
                          <a:spcPts val="190"/>
                        </a:spcBef>
                        <a:spcAft>
                          <a:spcPts val="0"/>
                        </a:spcAft>
                      </a:pPr>
                      <a:r>
                        <a:rPr lang="en-US" sz="1100">
                          <a:effectLst/>
                        </a:rPr>
                        <a:t>869.4-869.65</a:t>
                      </a:r>
                      <a:r>
                        <a:rPr lang="en-US" sz="1100" spc="-10">
                          <a:effectLst/>
                        </a:rPr>
                        <a:t> </a:t>
                      </a:r>
                      <a:r>
                        <a:rPr lang="en-US" sz="1100">
                          <a:effectLst/>
                        </a:rPr>
                        <a:t>MHz</a:t>
                      </a:r>
                      <a:endParaRPr lang="el-GR"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solidFill>
                      <a:schemeClr val="tx2">
                        <a:lumMod val="75000"/>
                      </a:schemeClr>
                    </a:solidFill>
                  </a:tcPr>
                </a:tc>
                <a:tc>
                  <a:txBody>
                    <a:bodyPr/>
                    <a:lstStyle/>
                    <a:p>
                      <a:pPr marL="343535" algn="ctr">
                        <a:spcBef>
                          <a:spcPts val="60"/>
                        </a:spcBef>
                        <a:spcAft>
                          <a:spcPts val="0"/>
                        </a:spcAft>
                      </a:pPr>
                      <a:r>
                        <a:rPr lang="en-US" sz="1100" dirty="0">
                          <a:effectLst/>
                        </a:rPr>
                        <a:t>≤ 10%</a:t>
                      </a:r>
                      <a:endParaRPr lang="el-GR"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solidFill>
                      <a:schemeClr val="tx2">
                        <a:lumMod val="75000"/>
                      </a:schemeClr>
                    </a:solidFill>
                  </a:tcPr>
                </a:tc>
                <a:tc>
                  <a:txBody>
                    <a:bodyPr/>
                    <a:lstStyle/>
                    <a:p>
                      <a:pPr marL="329565" algn="ctr">
                        <a:spcBef>
                          <a:spcPts val="60"/>
                        </a:spcBef>
                        <a:spcAft>
                          <a:spcPts val="0"/>
                        </a:spcAft>
                      </a:pPr>
                      <a:r>
                        <a:rPr lang="en-US" sz="1100" dirty="0">
                          <a:effectLst/>
                        </a:rPr>
                        <a:t>500mW</a:t>
                      </a:r>
                      <a:endParaRPr lang="el-GR"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solidFill>
                      <a:schemeClr val="tx2">
                        <a:lumMod val="75000"/>
                      </a:schemeClr>
                    </a:solidFill>
                  </a:tcPr>
                </a:tc>
                <a:extLst>
                  <a:ext uri="{0D108BD9-81ED-4DB2-BD59-A6C34878D82A}">
                    <a16:rowId xmlns:a16="http://schemas.microsoft.com/office/drawing/2014/main" val="2315517025"/>
                  </a:ext>
                </a:extLst>
              </a:tr>
            </a:tbl>
          </a:graphicData>
        </a:graphic>
      </p:graphicFrame>
    </p:spTree>
    <p:extLst>
      <p:ext uri="{BB962C8B-B14F-4D97-AF65-F5344CB8AC3E}">
        <p14:creationId xmlns:p14="http://schemas.microsoft.com/office/powerpoint/2010/main" val="31358209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Θέση αριθμού διαφάνειας 2"/>
          <p:cNvSpPr>
            <a:spLocks noGrp="1"/>
          </p:cNvSpPr>
          <p:nvPr>
            <p:ph type="sldNum" sz="quarter" idx="12"/>
          </p:nvPr>
        </p:nvSpPr>
        <p:spPr/>
        <p:txBody>
          <a:bodyPr/>
          <a:lstStyle/>
          <a:p>
            <a:fld id="{B6F15528-21DE-4FAA-801E-634DDDAF4B2B}" type="slidenum">
              <a:rPr lang="en-US" smtClean="0">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pPr/>
              <a:t>18</a:t>
            </a:fld>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
        <p:nvSpPr>
          <p:cNvPr id="4" name="Πίτα 3"/>
          <p:cNvSpPr/>
          <p:nvPr/>
        </p:nvSpPr>
        <p:spPr>
          <a:xfrm>
            <a:off x="8410545" y="93859"/>
            <a:ext cx="400109" cy="400109"/>
          </a:xfrm>
          <a:prstGeom prst="pie">
            <a:avLst>
              <a:gd name="adj1" fmla="val 5400000"/>
              <a:gd name="adj2" fmla="val 1620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grpSp>
        <p:nvGrpSpPr>
          <p:cNvPr id="5" name="Ομάδα 4"/>
          <p:cNvGrpSpPr/>
          <p:nvPr/>
        </p:nvGrpSpPr>
        <p:grpSpPr>
          <a:xfrm>
            <a:off x="8610600" y="93859"/>
            <a:ext cx="3533745" cy="400109"/>
            <a:chOff x="200055" y="0"/>
            <a:chExt cx="3533745" cy="400109"/>
          </a:xfrm>
        </p:grpSpPr>
        <p:sp>
          <p:nvSpPr>
            <p:cNvPr id="6" name="Ορθογώνιο 5"/>
            <p:cNvSpPr/>
            <p:nvPr/>
          </p:nvSpPr>
          <p:spPr>
            <a:xfrm>
              <a:off x="200055" y="0"/>
              <a:ext cx="3533745" cy="400109"/>
            </a:xfrm>
            <a:prstGeom prst="rect">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7" name="TextBox 6"/>
            <p:cNvSpPr txBox="1"/>
            <p:nvPr/>
          </p:nvSpPr>
          <p:spPr>
            <a:xfrm>
              <a:off x="200055" y="0"/>
              <a:ext cx="3533745" cy="40010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8580" tIns="68580" rIns="68580" bIns="68580" numCol="1" spcCol="1270" anchor="ctr" anchorCtr="0">
              <a:noAutofit/>
            </a:bodyPr>
            <a:lstStyle/>
            <a:p>
              <a:r>
                <a:rPr lang="el-GR" b="1" dirty="0"/>
                <a:t>Πρωτόκολλο LoRaWAN</a:t>
              </a:r>
            </a:p>
          </p:txBody>
        </p:sp>
      </p:grpSp>
      <p:sp>
        <p:nvSpPr>
          <p:cNvPr id="2" name="Ορθογώνιο 1"/>
          <p:cNvSpPr/>
          <p:nvPr/>
        </p:nvSpPr>
        <p:spPr>
          <a:xfrm>
            <a:off x="483325" y="493968"/>
            <a:ext cx="11312435" cy="4524315"/>
          </a:xfrm>
          <a:prstGeom prst="rect">
            <a:avLst/>
          </a:prstGeom>
        </p:spPr>
        <p:txBody>
          <a:bodyPr wrap="square">
            <a:spAutoFit/>
          </a:bodyPr>
          <a:lstStyle/>
          <a:p>
            <a:pPr algn="just"/>
            <a:r>
              <a:rPr lang="el-GR" b="1" dirty="0"/>
              <a:t>Προσαρμοστικός ρυθμός μετάδοσης (</a:t>
            </a:r>
            <a:r>
              <a:rPr lang="el-GR" b="1" dirty="0" err="1"/>
              <a:t>Adaptive</a:t>
            </a:r>
            <a:r>
              <a:rPr lang="el-GR" b="1" dirty="0"/>
              <a:t> </a:t>
            </a:r>
            <a:r>
              <a:rPr lang="el-GR" b="1" dirty="0" err="1"/>
              <a:t>Data</a:t>
            </a:r>
            <a:r>
              <a:rPr lang="el-GR" b="1" dirty="0"/>
              <a:t> </a:t>
            </a:r>
            <a:r>
              <a:rPr lang="el-GR" b="1" dirty="0" err="1"/>
              <a:t>Rate</a:t>
            </a:r>
            <a:r>
              <a:rPr lang="el-GR" b="1" dirty="0"/>
              <a:t>, ADR)</a:t>
            </a:r>
          </a:p>
          <a:p>
            <a:pPr algn="just"/>
            <a:endParaRPr lang="el-GR" b="1" dirty="0"/>
          </a:p>
          <a:p>
            <a:pPr algn="just"/>
            <a:r>
              <a:rPr lang="el-GR" b="1" dirty="0"/>
              <a:t>Μηχανισμός δυναμικής διαχείριση των παραμέτρων αποστολής του κάθε κόμβου </a:t>
            </a:r>
            <a:r>
              <a:rPr lang="el-GR" dirty="0"/>
              <a:t>ώστε να επιτυγχάνεται </a:t>
            </a:r>
            <a:r>
              <a:rPr lang="el-GR" b="1" dirty="0"/>
              <a:t>καλύτερη χωρητικότητα και αποτελεσματικότητα </a:t>
            </a:r>
            <a:r>
              <a:rPr lang="el-GR" dirty="0"/>
              <a:t>του δικτύου </a:t>
            </a:r>
            <a:r>
              <a:rPr lang="el-GR" b="1" dirty="0"/>
              <a:t>μέσω της μείωσης του χρόνου μετάδοσης των μηνυμάτων και της ενεργειακής κατανάλωσης</a:t>
            </a:r>
            <a:r>
              <a:rPr lang="el-GR" dirty="0"/>
              <a:t>.</a:t>
            </a:r>
          </a:p>
          <a:p>
            <a:pPr marL="342900" indent="-342900" algn="just">
              <a:buFont typeface="+mj-lt"/>
              <a:buAutoNum type="arabicPeriod"/>
            </a:pPr>
            <a:r>
              <a:rPr lang="el-GR" b="1" dirty="0"/>
              <a:t>Μηχανισμός που εκτελείται στον εξυπηρετητή του δικτύου που αν και δεν έχει οριστεί ακριβώς η υλοποίηση του από το πρωτόκολλο </a:t>
            </a:r>
            <a:r>
              <a:rPr lang="el-GR" b="1" dirty="0" err="1"/>
              <a:t>LoRaWAN</a:t>
            </a:r>
            <a:r>
              <a:rPr lang="el-GR" dirty="0"/>
              <a:t>, υπάρχουν διάφορες εκδοχές που έχουν αναπτυχθεί κι εφαρμόζονται</a:t>
            </a:r>
          </a:p>
          <a:p>
            <a:pPr marL="742950" lvl="1" indent="-285750" algn="just">
              <a:buFont typeface="Arial" panose="020B0604020202020204" pitchFamily="34" charset="0"/>
              <a:buChar char="•"/>
            </a:pPr>
            <a:r>
              <a:rPr lang="el-GR" b="1" dirty="0"/>
              <a:t>Προσαρμόζει το παράγοντα διασποράς </a:t>
            </a:r>
            <a:r>
              <a:rPr lang="el-GR" dirty="0"/>
              <a:t>(SF) και την </a:t>
            </a:r>
            <a:r>
              <a:rPr lang="el-GR" b="1" dirty="0"/>
              <a:t>ισχύ εκπομπής </a:t>
            </a:r>
            <a:r>
              <a:rPr lang="el-GR" dirty="0"/>
              <a:t>(</a:t>
            </a:r>
            <a:r>
              <a:rPr lang="el-GR" dirty="0" err="1"/>
              <a:t>Tx</a:t>
            </a:r>
            <a:r>
              <a:rPr lang="el-GR" dirty="0"/>
              <a:t> </a:t>
            </a:r>
            <a:r>
              <a:rPr lang="el-GR" dirty="0" err="1"/>
              <a:t>Power</a:t>
            </a:r>
            <a:r>
              <a:rPr lang="el-GR" dirty="0"/>
              <a:t>) των τελικών συσκευών.</a:t>
            </a:r>
          </a:p>
          <a:p>
            <a:pPr marL="742950" lvl="1" indent="-285750" algn="just">
              <a:buFont typeface="Arial" panose="020B0604020202020204" pitchFamily="34" charset="0"/>
              <a:buChar char="•"/>
            </a:pPr>
            <a:r>
              <a:rPr lang="el-GR" b="1" dirty="0"/>
              <a:t>Οι συνθήκες μετάδοσης απαιτείται να είναι σχετικά σταθερές</a:t>
            </a:r>
          </a:p>
          <a:p>
            <a:pPr marL="742950" lvl="1" indent="-285750" algn="just">
              <a:buFont typeface="Arial" panose="020B0604020202020204" pitchFamily="34" charset="0"/>
              <a:buChar char="•"/>
            </a:pPr>
            <a:r>
              <a:rPr lang="el-GR" dirty="0"/>
              <a:t>Μπορεί να </a:t>
            </a:r>
            <a:r>
              <a:rPr lang="el-GR" b="1" dirty="0"/>
              <a:t>ενεργοποιηθεί/απενεργοποιηθεί </a:t>
            </a:r>
            <a:r>
              <a:rPr lang="el-GR" dirty="0"/>
              <a:t>από τις ίδιες τις συσκευές</a:t>
            </a:r>
            <a:endParaRPr lang="el-GR" b="1" dirty="0"/>
          </a:p>
          <a:p>
            <a:pPr algn="just"/>
            <a:endParaRPr lang="el-GR" dirty="0"/>
          </a:p>
          <a:p>
            <a:pPr marL="342900" indent="-342900" algn="just">
              <a:buAutoNum type="arabicPeriod" startAt="2"/>
            </a:pPr>
            <a:r>
              <a:rPr lang="el-GR" dirty="0"/>
              <a:t>Π</a:t>
            </a:r>
            <a:r>
              <a:rPr lang="el-GR" b="1" dirty="0"/>
              <a:t>ροσαρμοστικός μηχανισμός που λειτουργεί σε κάθε τελική συσκευή ο οποίος καθορίζεται ακριβώς από το ίδιο το  </a:t>
            </a:r>
            <a:r>
              <a:rPr lang="el-GR" b="1" dirty="0" err="1"/>
              <a:t>LoRaWAN</a:t>
            </a:r>
            <a:r>
              <a:rPr lang="el-GR" b="1" dirty="0"/>
              <a:t> πρωτόκολλο.</a:t>
            </a:r>
          </a:p>
          <a:p>
            <a:pPr marL="742950" lvl="1" indent="-285750" algn="just">
              <a:buFont typeface="Arial" panose="020B0604020202020204" pitchFamily="34" charset="0"/>
              <a:buChar char="•"/>
            </a:pPr>
            <a:r>
              <a:rPr lang="el-GR" dirty="0"/>
              <a:t>Κάθε τελικός κόμβος </a:t>
            </a:r>
            <a:r>
              <a:rPr lang="el-GR" b="1" dirty="0"/>
              <a:t>αυξάνει </a:t>
            </a:r>
            <a:r>
              <a:rPr lang="el-GR" b="1" dirty="0" err="1"/>
              <a:t>βηματικά</a:t>
            </a:r>
            <a:r>
              <a:rPr lang="el-GR" b="1" dirty="0"/>
              <a:t> το SF </a:t>
            </a:r>
            <a:r>
              <a:rPr lang="el-GR" dirty="0"/>
              <a:t>(μειώνει το ρυθμό δεδομένων) ώστε να </a:t>
            </a:r>
            <a:r>
              <a:rPr lang="el-GR" b="1" dirty="0"/>
              <a:t>επιτύχει μεγαλύτερο εύρος </a:t>
            </a:r>
            <a:r>
              <a:rPr lang="el-GR" dirty="0"/>
              <a:t>επικοινωνίας.</a:t>
            </a:r>
          </a:p>
        </p:txBody>
      </p:sp>
    </p:spTree>
    <p:extLst>
      <p:ext uri="{BB962C8B-B14F-4D97-AF65-F5344CB8AC3E}">
        <p14:creationId xmlns:p14="http://schemas.microsoft.com/office/powerpoint/2010/main" val="32007821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Θέση αριθμού διαφάνειας 2"/>
          <p:cNvSpPr>
            <a:spLocks noGrp="1"/>
          </p:cNvSpPr>
          <p:nvPr>
            <p:ph type="sldNum" sz="quarter" idx="12"/>
          </p:nvPr>
        </p:nvSpPr>
        <p:spPr/>
        <p:txBody>
          <a:bodyPr/>
          <a:lstStyle/>
          <a:p>
            <a:fld id="{B6F15528-21DE-4FAA-801E-634DDDAF4B2B}" type="slidenum">
              <a:rPr lang="en-US" smtClean="0">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pPr/>
              <a:t>19</a:t>
            </a:fld>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
        <p:nvSpPr>
          <p:cNvPr id="4" name="Πίτα 3"/>
          <p:cNvSpPr/>
          <p:nvPr/>
        </p:nvSpPr>
        <p:spPr>
          <a:xfrm>
            <a:off x="8410545" y="93859"/>
            <a:ext cx="400109" cy="400109"/>
          </a:xfrm>
          <a:prstGeom prst="pie">
            <a:avLst>
              <a:gd name="adj1" fmla="val 5400000"/>
              <a:gd name="adj2" fmla="val 1620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grpSp>
        <p:nvGrpSpPr>
          <p:cNvPr id="5" name="Ομάδα 4"/>
          <p:cNvGrpSpPr/>
          <p:nvPr/>
        </p:nvGrpSpPr>
        <p:grpSpPr>
          <a:xfrm>
            <a:off x="8610600" y="93859"/>
            <a:ext cx="3533745" cy="400109"/>
            <a:chOff x="200055" y="0"/>
            <a:chExt cx="3533745" cy="400109"/>
          </a:xfrm>
        </p:grpSpPr>
        <p:sp>
          <p:nvSpPr>
            <p:cNvPr id="6" name="Ορθογώνιο 5"/>
            <p:cNvSpPr/>
            <p:nvPr/>
          </p:nvSpPr>
          <p:spPr>
            <a:xfrm>
              <a:off x="200055" y="0"/>
              <a:ext cx="3533745" cy="400109"/>
            </a:xfrm>
            <a:prstGeom prst="rect">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7" name="TextBox 6"/>
            <p:cNvSpPr txBox="1"/>
            <p:nvPr/>
          </p:nvSpPr>
          <p:spPr>
            <a:xfrm>
              <a:off x="200055" y="0"/>
              <a:ext cx="3533745" cy="40010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8580" tIns="68580" rIns="68580" bIns="68580" numCol="1" spcCol="1270" anchor="ctr" anchorCtr="0">
              <a:noAutofit/>
            </a:bodyPr>
            <a:lstStyle/>
            <a:p>
              <a:r>
                <a:rPr lang="en-US" b="1" dirty="0"/>
                <a:t>The Things Network (TTN)</a:t>
              </a:r>
              <a:endParaRPr lang="el-GR" b="1" dirty="0"/>
            </a:p>
          </p:txBody>
        </p:sp>
      </p:grpSp>
      <p:sp>
        <p:nvSpPr>
          <p:cNvPr id="2" name="Ορθογώνιο 1"/>
          <p:cNvSpPr/>
          <p:nvPr/>
        </p:nvSpPr>
        <p:spPr>
          <a:xfrm>
            <a:off x="326572" y="746994"/>
            <a:ext cx="11446328" cy="5078313"/>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l-GR" b="1" dirty="0"/>
              <a:t>Πλατφόρμα που δημιουργήθηκε από μια προσπάθεια να φτιαχτεί ένα παγκόσμιο </a:t>
            </a:r>
            <a:r>
              <a:rPr lang="el-GR" b="1" dirty="0" err="1"/>
              <a:t>IoT</a:t>
            </a:r>
            <a:r>
              <a:rPr lang="el-GR" b="1" dirty="0"/>
              <a:t> δίκτυο, που χρησιμοποιεί την τεχνολογία </a:t>
            </a:r>
            <a:r>
              <a:rPr lang="el-GR" b="1" dirty="0" err="1"/>
              <a:t>LoRaWAN</a:t>
            </a:r>
            <a:r>
              <a:rPr lang="el-GR" b="1" dirty="0"/>
              <a:t> και που θα είναι ανοιχτό για χρήση.</a:t>
            </a:r>
          </a:p>
          <a:p>
            <a:pPr marL="285750" indent="-285750" algn="just">
              <a:lnSpc>
                <a:spcPct val="150000"/>
              </a:lnSpc>
              <a:buFont typeface="Arial" panose="020B0604020202020204" pitchFamily="34" charset="0"/>
              <a:buChar char="•"/>
            </a:pPr>
            <a:r>
              <a:rPr lang="el-GR" b="1" dirty="0" err="1"/>
              <a:t>Πάροχος</a:t>
            </a:r>
            <a:r>
              <a:rPr lang="el-GR" b="1" dirty="0"/>
              <a:t> υποδομών/υπηρεσιών που επιτρέπει σε μια πύλη να συλλέγει δεδομένα και να τα μεταδίδει στο ΤΤΝ δίκτυο και οι χρήστες να έχουν πρόσβαση σε αυτά και να αλληλεπιδρούν χρησιμοποιώντας </a:t>
            </a:r>
            <a:r>
              <a:rPr lang="el-GR" b="1" dirty="0" err="1"/>
              <a:t>web</a:t>
            </a:r>
            <a:r>
              <a:rPr lang="el-GR" b="1" dirty="0"/>
              <a:t> </a:t>
            </a:r>
            <a:r>
              <a:rPr lang="el-GR" b="1" dirty="0" err="1"/>
              <a:t>interface</a:t>
            </a:r>
            <a:r>
              <a:rPr lang="el-GR" dirty="0"/>
              <a:t>.</a:t>
            </a:r>
          </a:p>
          <a:p>
            <a:pPr marL="285750" indent="-285750" algn="just">
              <a:lnSpc>
                <a:spcPct val="150000"/>
              </a:lnSpc>
              <a:buFont typeface="Arial" panose="020B0604020202020204" pitchFamily="34" charset="0"/>
              <a:buChar char="•"/>
            </a:pPr>
            <a:r>
              <a:rPr lang="el-GR" dirty="0"/>
              <a:t>Όσοι συμμετέχουν</a:t>
            </a:r>
            <a:r>
              <a:rPr lang="el-GR" b="1" dirty="0"/>
              <a:t> επιτρέπουν την ελεύθερη χρήση των πυλών επικοινωνίας του (</a:t>
            </a:r>
            <a:r>
              <a:rPr lang="el-GR" b="1" dirty="0" err="1"/>
              <a:t>gateways</a:t>
            </a:r>
            <a:r>
              <a:rPr lang="el-GR" b="1" dirty="0"/>
              <a:t>) από τα υπόλοιπα μέλη του δικτύου</a:t>
            </a:r>
            <a:r>
              <a:rPr lang="el-GR" dirty="0"/>
              <a:t>.</a:t>
            </a:r>
          </a:p>
          <a:p>
            <a:pPr marL="285750" indent="-285750" algn="just">
              <a:lnSpc>
                <a:spcPct val="150000"/>
              </a:lnSpc>
              <a:buFont typeface="Arial" panose="020B0604020202020204" pitchFamily="34" charset="0"/>
              <a:buChar char="•"/>
            </a:pPr>
            <a:r>
              <a:rPr lang="el-GR" dirty="0"/>
              <a:t>Υπάρχουν ήδη εγκατεστημένα </a:t>
            </a:r>
            <a:r>
              <a:rPr lang="el-GR" dirty="0" err="1"/>
              <a:t>Gateways</a:t>
            </a:r>
            <a:r>
              <a:rPr lang="el-GR" dirty="0"/>
              <a:t> σε πολλές περιοχές, από τα μέλη των κοινοτήτων, και μπορεί έτσι </a:t>
            </a:r>
            <a:r>
              <a:rPr lang="el-GR" b="1" dirty="0"/>
              <a:t>ο καθένας να αξιοποιήσει αυτόν των εξοπλισμό και να δημιουργήσει τις δικές του εφαρμογές αυξάνοντας τον πληθυσμό του δικτύου με τους δικούς του κόμβους.</a:t>
            </a:r>
          </a:p>
          <a:p>
            <a:pPr marL="285750" indent="-285750" algn="just">
              <a:lnSpc>
                <a:spcPct val="150000"/>
              </a:lnSpc>
              <a:buFont typeface="Arial" panose="020B0604020202020204" pitchFamily="34" charset="0"/>
              <a:buChar char="•"/>
            </a:pPr>
            <a:r>
              <a:rPr lang="el-GR" b="1" dirty="0"/>
              <a:t>Δίνεται η δυνατότητα ο χρήστης να συνδέσει δικές του πύλες  με το </a:t>
            </a:r>
            <a:r>
              <a:rPr lang="el-GR" b="1" dirty="0" err="1"/>
              <a:t>The</a:t>
            </a:r>
            <a:r>
              <a:rPr lang="el-GR" b="1" dirty="0"/>
              <a:t> </a:t>
            </a:r>
            <a:r>
              <a:rPr lang="el-GR" b="1" dirty="0" err="1"/>
              <a:t>Things</a:t>
            </a:r>
            <a:r>
              <a:rPr lang="el-GR" b="1" dirty="0"/>
              <a:t> </a:t>
            </a:r>
            <a:r>
              <a:rPr lang="el-GR" b="1" dirty="0" err="1"/>
              <a:t>Network</a:t>
            </a:r>
            <a:r>
              <a:rPr lang="el-GR" b="1" dirty="0"/>
              <a:t>.</a:t>
            </a:r>
          </a:p>
          <a:p>
            <a:pPr marL="285750" indent="-285750" algn="just">
              <a:lnSpc>
                <a:spcPct val="150000"/>
              </a:lnSpc>
              <a:buFont typeface="Arial" panose="020B0604020202020204" pitchFamily="34" charset="0"/>
              <a:buChar char="•"/>
            </a:pPr>
            <a:r>
              <a:rPr lang="el-GR" dirty="0"/>
              <a:t>Ο  </a:t>
            </a:r>
            <a:r>
              <a:rPr lang="el-GR" dirty="0" err="1"/>
              <a:t>Network</a:t>
            </a:r>
            <a:r>
              <a:rPr lang="el-GR" dirty="0"/>
              <a:t> Server και οι άλλες υπηρεσίες προσφέρονται από το TTN </a:t>
            </a:r>
            <a:r>
              <a:rPr lang="el-GR" b="1" dirty="0"/>
              <a:t>χωρίς χρέωση</a:t>
            </a:r>
            <a:r>
              <a:rPr lang="el-GR" dirty="0"/>
              <a:t>. </a:t>
            </a:r>
          </a:p>
        </p:txBody>
      </p:sp>
    </p:spTree>
    <p:extLst>
      <p:ext uri="{BB962C8B-B14F-4D97-AF65-F5344CB8AC3E}">
        <p14:creationId xmlns:p14="http://schemas.microsoft.com/office/powerpoint/2010/main" val="22890927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Θέση αριθμού διαφάνειας 2"/>
          <p:cNvSpPr>
            <a:spLocks noGrp="1"/>
          </p:cNvSpPr>
          <p:nvPr>
            <p:ph type="sldNum" sz="quarter" idx="12"/>
          </p:nvPr>
        </p:nvSpPr>
        <p:spPr/>
        <p:txBody>
          <a:bodyPr/>
          <a:lstStyle/>
          <a:p>
            <a:fld id="{B6F15528-21DE-4FAA-801E-634DDDAF4B2B}" type="slidenum">
              <a:rPr lang="en-US" smtClean="0">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rPr>
              <a:pPr/>
              <a:t>20</a:t>
            </a:fld>
            <a:endParaRPr lang="en-US">
              <a:gradFill flip="none" rotWithShape="1">
                <a:gsLst>
                  <a:gs pos="28000">
                    <a:prstClr val="white">
                      <a:lumMod val="93000"/>
                    </a:prstClr>
                  </a:gs>
                  <a:gs pos="0">
                    <a:prstClr val="black">
                      <a:lumMod val="38000"/>
                      <a:lumOff val="62000"/>
                    </a:prstClr>
                  </a:gs>
                  <a:gs pos="100000">
                    <a:srgbClr val="8ED5C1">
                      <a:lumMod val="0"/>
                      <a:lumOff val="100000"/>
                    </a:srgbClr>
                  </a:gs>
                </a:gsLst>
                <a:lin ang="5400000" scaled="1"/>
                <a:tileRect/>
              </a:gradFill>
            </a:endParaRPr>
          </a:p>
        </p:txBody>
      </p:sp>
      <p:sp>
        <p:nvSpPr>
          <p:cNvPr id="8" name="Πίτα 7"/>
          <p:cNvSpPr/>
          <p:nvPr/>
        </p:nvSpPr>
        <p:spPr>
          <a:xfrm>
            <a:off x="7830901" y="93859"/>
            <a:ext cx="436975" cy="400109"/>
          </a:xfrm>
          <a:prstGeom prst="pie">
            <a:avLst>
              <a:gd name="adj1" fmla="val 5400000"/>
              <a:gd name="adj2" fmla="val 1620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grpSp>
        <p:nvGrpSpPr>
          <p:cNvPr id="9" name="Ομάδα 8"/>
          <p:cNvGrpSpPr/>
          <p:nvPr/>
        </p:nvGrpSpPr>
        <p:grpSpPr>
          <a:xfrm>
            <a:off x="8030956" y="93859"/>
            <a:ext cx="4161044" cy="400109"/>
            <a:chOff x="200055" y="0"/>
            <a:chExt cx="3533745" cy="400109"/>
          </a:xfrm>
        </p:grpSpPr>
        <p:sp>
          <p:nvSpPr>
            <p:cNvPr id="10" name="Ορθογώνιο 9"/>
            <p:cNvSpPr/>
            <p:nvPr/>
          </p:nvSpPr>
          <p:spPr>
            <a:xfrm>
              <a:off x="200055" y="0"/>
              <a:ext cx="3533745" cy="400109"/>
            </a:xfrm>
            <a:prstGeom prst="rect">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11" name="TextBox 10"/>
            <p:cNvSpPr txBox="1"/>
            <p:nvPr/>
          </p:nvSpPr>
          <p:spPr>
            <a:xfrm>
              <a:off x="200055" y="0"/>
              <a:ext cx="3533745" cy="40010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8580" tIns="68580" rIns="68580" bIns="68580" numCol="1" spcCol="1270" anchor="ctr" anchorCtr="0">
              <a:noAutofit/>
            </a:bodyPr>
            <a:lstStyle/>
            <a:p>
              <a:r>
                <a:rPr lang="el-GR" b="1" dirty="0"/>
                <a:t>Επεκτάσεις πρωτοκόλλου</a:t>
              </a:r>
            </a:p>
          </p:txBody>
        </p:sp>
      </p:grpSp>
      <p:sp>
        <p:nvSpPr>
          <p:cNvPr id="2" name="Ορθογώνιο 1"/>
          <p:cNvSpPr/>
          <p:nvPr/>
        </p:nvSpPr>
        <p:spPr>
          <a:xfrm>
            <a:off x="465364" y="615485"/>
            <a:ext cx="11364686" cy="6186309"/>
          </a:xfrm>
          <a:prstGeom prst="rect">
            <a:avLst/>
          </a:prstGeom>
        </p:spPr>
        <p:txBody>
          <a:bodyPr wrap="square">
            <a:spAutoFit/>
          </a:bodyPr>
          <a:lstStyle/>
          <a:p>
            <a:pPr algn="just"/>
            <a:r>
              <a:rPr lang="el-GR" b="1" dirty="0" err="1"/>
              <a:t>Carrier</a:t>
            </a:r>
            <a:r>
              <a:rPr lang="el-GR" b="1" dirty="0"/>
              <a:t>-</a:t>
            </a:r>
            <a:r>
              <a:rPr lang="el-GR" b="1" dirty="0" err="1"/>
              <a:t>Sense</a:t>
            </a:r>
            <a:r>
              <a:rPr lang="el-GR" b="1" dirty="0"/>
              <a:t> </a:t>
            </a:r>
            <a:r>
              <a:rPr lang="el-GR" b="1" dirty="0" err="1"/>
              <a:t>Multiple</a:t>
            </a:r>
            <a:r>
              <a:rPr lang="el-GR" b="1" dirty="0"/>
              <a:t> Access </a:t>
            </a:r>
            <a:r>
              <a:rPr lang="el-GR" b="1" dirty="0" err="1"/>
              <a:t>for</a:t>
            </a:r>
            <a:r>
              <a:rPr lang="el-GR" b="1" dirty="0"/>
              <a:t> </a:t>
            </a:r>
            <a:r>
              <a:rPr lang="el-GR" b="1" dirty="0" err="1"/>
              <a:t>LoRa</a:t>
            </a:r>
            <a:endParaRPr lang="el-GR" b="1" dirty="0"/>
          </a:p>
          <a:p>
            <a:pPr algn="just"/>
            <a:r>
              <a:rPr lang="el-GR" dirty="0"/>
              <a:t>Διερεύνηση άλλων μεθόδων πρόσβασης στο μέσο μετάδοσης ώστε να αποφεύγονται οι συγκρούσεις μηνυμάτων στο </a:t>
            </a:r>
            <a:r>
              <a:rPr lang="el-GR" dirty="0" err="1"/>
              <a:t>LoRaWAN</a:t>
            </a:r>
            <a:r>
              <a:rPr lang="el-GR" dirty="0"/>
              <a:t> μια και η υιοθέτηση του </a:t>
            </a:r>
            <a:r>
              <a:rPr lang="el-GR" dirty="0" err="1"/>
              <a:t>pure</a:t>
            </a:r>
            <a:r>
              <a:rPr lang="el-GR" dirty="0"/>
              <a:t> </a:t>
            </a:r>
            <a:r>
              <a:rPr lang="en-US" dirty="0"/>
              <a:t>- </a:t>
            </a:r>
            <a:r>
              <a:rPr lang="el-GR" dirty="0"/>
              <a:t>ALOHA αποτελεί ένα σημαντικό θέμα για την αξιοπιστία της επικοινωνίας.</a:t>
            </a:r>
          </a:p>
          <a:p>
            <a:pPr algn="just"/>
            <a:r>
              <a:rPr lang="el-GR" dirty="0"/>
              <a:t>Ο εντοπισμός δραστηριότητας καναλιού (</a:t>
            </a:r>
            <a:r>
              <a:rPr lang="el-GR" dirty="0" err="1"/>
              <a:t>Channel</a:t>
            </a:r>
            <a:r>
              <a:rPr lang="el-GR" dirty="0"/>
              <a:t> </a:t>
            </a:r>
            <a:r>
              <a:rPr lang="el-GR" dirty="0" err="1"/>
              <a:t>Activity</a:t>
            </a:r>
            <a:r>
              <a:rPr lang="el-GR" dirty="0"/>
              <a:t> </a:t>
            </a:r>
            <a:r>
              <a:rPr lang="el-GR" dirty="0" err="1"/>
              <a:t>Detection</a:t>
            </a:r>
            <a:r>
              <a:rPr lang="el-GR" dirty="0"/>
              <a:t>, CAD) παρέχει τη δυνατότητα ανίχνευσης του προοιμίου ενός σήματος που μεταδίδεται στο κανάλι, κι </a:t>
            </a:r>
            <a:r>
              <a:rPr lang="el-GR" dirty="0" err="1"/>
              <a:t>ετσι</a:t>
            </a:r>
            <a:r>
              <a:rPr lang="el-GR" dirty="0"/>
              <a:t> να γνωρίζουν από πριν αν το κανάλι χρησιμοποιείται Παρουσιάζονται τρεις διαφορετικές υλοποιήσεις ενός πρωτοκόλλου  </a:t>
            </a:r>
            <a:r>
              <a:rPr lang="el-GR" dirty="0" err="1"/>
              <a:t>LoRa¬MAC</a:t>
            </a:r>
            <a:r>
              <a:rPr lang="el-GR" dirty="0"/>
              <a:t> (LMAC) οι οποίες χρησιμοποιώντας το CAD βελτιώνουν τη λειτουργία του πρωτόκολλου </a:t>
            </a:r>
            <a:r>
              <a:rPr lang="el-GR" dirty="0" err="1"/>
              <a:t>LoRaWAN</a:t>
            </a:r>
            <a:r>
              <a:rPr lang="el-GR" dirty="0"/>
              <a:t>.</a:t>
            </a:r>
          </a:p>
          <a:p>
            <a:pPr marL="342900" indent="-342900" algn="just">
              <a:buFont typeface="+mj-lt"/>
              <a:buAutoNum type="arabicPeriod"/>
            </a:pPr>
            <a:r>
              <a:rPr lang="el-GR" dirty="0"/>
              <a:t>Στην πρώτη περίπτωση (LMAC¬1) μέσω της χρήσης του CAD μια συσκευή που πρόκειται να στείλει ένα πακέτο, αρχικά ελέγχει εάν το κανάλι χρησιμοποιείται κι αν διαπιστώσει κάτι τέτοιο αναβάλει την εκπομπή ώστε να αποφευχθεί η σύγκρουση. Το όφελος κατ’ αυτό το τρόπο είναι διπλό διότι αφενός δεν επηρεάζεται η διάδοση του σήματος που ήδη εκπέμπεται κι αφετέρου δεν θα κινδυνεύσει με καταστροφή το μήνυμα που επρόκειτο να σταλεί.</a:t>
            </a:r>
          </a:p>
          <a:p>
            <a:pPr marL="342900" indent="-342900" algn="just">
              <a:buFont typeface="+mj-lt"/>
              <a:buAutoNum type="arabicPeriod"/>
            </a:pPr>
            <a:r>
              <a:rPr lang="el-GR" dirty="0"/>
              <a:t>Στη δεύτερη εκδοχή (LMAC¬2), γίνεται προσπάθεια για εξισορρόπηση της απασχόλησης των εναλλακτικών καναλιών προτρέποντας τις συσκευές να χρησιμοποιήσουν τα κανάλια με το λιγότερο τηλεπικοινωνιακό φορτίο. Για το λόγο αυτό οι συσκευές διατηρούν πληροφορίες σχετικά με την ποιότητα της επικοινωνίας για κάθε ένα από τα διαθέσιμα κανάλια βάσει προηγούμενων εμπειριών και επιλέγουν για μετάδοση αυτό που από το ιστορικό προκύπτει ότι αντιμετώπισαν τα λιγότερα προβλήματα σε προηγούμενες μεταδόσεις. </a:t>
            </a:r>
          </a:p>
          <a:p>
            <a:pPr marL="342900" indent="-342900" algn="just">
              <a:buFont typeface="+mj-lt"/>
              <a:buAutoNum type="arabicPeriod"/>
            </a:pPr>
            <a:r>
              <a:rPr lang="el-GR" dirty="0"/>
              <a:t>Στην τρίτη εκδοχή (LMAC­3) οι πληροφορίες σχετικά με το φορτίο κάθε καναλιού συγκεντρώνονται από την πύλη η οποία ελέγχει τα κανάλια καταγράφοντας το φόρτο  χρήσης τους και ενημερώνει κατά διαστήματα τις τελικές συσκευές. Με τον τρόπο αυτό η πληροφορία για τη χρήση των καναλιών είναι γενική και πιο έγκυρη από αυτή που θα αντλούσε κάθε συσκευή ανατρέχοντας στο ιστορικό της.</a:t>
            </a:r>
          </a:p>
        </p:txBody>
      </p:sp>
    </p:spTree>
    <p:extLst>
      <p:ext uri="{BB962C8B-B14F-4D97-AF65-F5344CB8AC3E}">
        <p14:creationId xmlns:p14="http://schemas.microsoft.com/office/powerpoint/2010/main" val="3210451019"/>
      </p:ext>
    </p:extLst>
  </p:cSld>
  <p:clrMapOvr>
    <a:masterClrMapping/>
  </p:clrMapOvr>
</p:sld>
</file>

<file path=ppt/theme/theme1.xml><?xml version="1.0" encoding="utf-8"?>
<a:theme xmlns:a="http://schemas.openxmlformats.org/drawingml/2006/main" name="Βάθος">
  <a:themeElements>
    <a:clrScheme name="Βάθος">
      <a:dk1>
        <a:sysClr val="windowText" lastClr="000000"/>
      </a:dk1>
      <a:lt1>
        <a:sysClr val="window" lastClr="FFFFFF"/>
      </a:lt1>
      <a:dk2>
        <a:srgbClr val="4B4B4B"/>
      </a:dk2>
      <a:lt2>
        <a:srgbClr val="8ED5C1"/>
      </a:lt2>
      <a:accent1>
        <a:srgbClr val="73CBB2"/>
      </a:accent1>
      <a:accent2>
        <a:srgbClr val="AACD5B"/>
      </a:accent2>
      <a:accent3>
        <a:srgbClr val="65A9E1"/>
      </a:accent3>
      <a:accent4>
        <a:srgbClr val="6274D8"/>
      </a:accent4>
      <a:accent5>
        <a:srgbClr val="AB54D7"/>
      </a:accent5>
      <a:accent6>
        <a:srgbClr val="D15B37"/>
      </a:accent6>
      <a:hlink>
        <a:srgbClr val="BFE962"/>
      </a:hlink>
      <a:folHlink>
        <a:srgbClr val="C0D591"/>
      </a:folHlink>
    </a:clrScheme>
    <a:fontScheme name="Βάθος">
      <a:maj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Βάθος">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47428100-C732-4B2E-A30A-5273F581A0FA}"/>
    </a:ext>
  </a:extLst>
</a:theme>
</file>

<file path=ppt/theme/theme2.xml><?xml version="1.0" encoding="utf-8"?>
<a:theme xmlns:a="http://schemas.openxmlformats.org/drawingml/2006/main" name="Θέμα του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7803</TotalTime>
  <Words>2284</Words>
  <Application>Microsoft Office PowerPoint</Application>
  <PresentationFormat>Widescreen</PresentationFormat>
  <Paragraphs>330</Paragraphs>
  <Slides>20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Calibri</vt:lpstr>
      <vt:lpstr>Cambria Math</vt:lpstr>
      <vt:lpstr>Corbel</vt:lpstr>
      <vt:lpstr>Microsoft Sans Serif</vt:lpstr>
      <vt:lpstr>Times New Roman</vt:lpstr>
      <vt:lpstr>Βάθος</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Παρουσίαση του PowerPoint</dc:title>
  <dc:creator>EFKA-PC</dc:creator>
  <cp:lastModifiedBy>spyros panagiotakis</cp:lastModifiedBy>
  <cp:revision>297</cp:revision>
  <dcterms:created xsi:type="dcterms:W3CDTF">2022-10-05T09:41:44Z</dcterms:created>
  <dcterms:modified xsi:type="dcterms:W3CDTF">2023-05-12T13:03:59Z</dcterms:modified>
</cp:coreProperties>
</file>
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sldIdLst>
    <p:sldId id="296" r:id="rId2"/>
    <p:sldId id="305" r:id="rId3"/>
    <p:sldId id="297" r:id="rId4"/>
    <p:sldId id="298" r:id="rId5"/>
    <p:sldId id="299" r:id="rId6"/>
    <p:sldId id="300" r:id="rId7"/>
    <p:sldId id="301" r:id="rId8"/>
    <p:sldId id="302" r:id="rId9"/>
    <p:sldId id="303" r:id="rId10"/>
    <p:sldId id="304" r:id="rId11"/>
    <p:sldId id="270" r:id="rId12"/>
    <p:sldId id="271" r:id="rId13"/>
    <p:sldId id="272" r:id="rId14"/>
    <p:sldId id="273" r:id="rId15"/>
    <p:sldId id="275" r:id="rId16"/>
    <p:sldId id="274" r:id="rId17"/>
    <p:sldId id="310" r:id="rId18"/>
    <p:sldId id="311" r:id="rId19"/>
    <p:sldId id="312" r:id="rId20"/>
    <p:sldId id="313" r:id="rId21"/>
    <p:sldId id="314" r:id="rId22"/>
    <p:sldId id="315" r:id="rId23"/>
    <p:sldId id="316" r:id="rId24"/>
    <p:sldId id="317" r:id="rId25"/>
    <p:sldId id="31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66" autoAdjust="0"/>
    <p:restoredTop sz="94660"/>
  </p:normalViewPr>
  <p:slideViewPr>
    <p:cSldViewPr snapToGrid="0">
      <p:cViewPr varScale="1">
        <p:scale>
          <a:sx n="79" d="100"/>
          <a:sy n="79" d="100"/>
        </p:scale>
        <p:origin x="8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user\Desktop\spiros_linearization.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user\Desktop\spiros_linearizatio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'Non Linear '!$C$2:$C$3</c:f>
              <c:strCache>
                <c:ptCount val="1"/>
                <c:pt idx="0">
                  <c:v>εξαρτημένη A2D</c:v>
                </c:pt>
              </c:strCache>
            </c:strRef>
          </c:tx>
          <c:spPr>
            <a:ln w="28575">
              <a:noFill/>
            </a:ln>
          </c:spPr>
          <c:xVal>
            <c:numRef>
              <c:f>'Non Linear '!$B$4:$B$30</c:f>
              <c:numCache>
                <c:formatCode>General</c:formatCode>
                <c:ptCount val="27"/>
                <c:pt idx="0">
                  <c:v>20</c:v>
                </c:pt>
                <c:pt idx="1">
                  <c:v>25</c:v>
                </c:pt>
                <c:pt idx="2">
                  <c:v>30</c:v>
                </c:pt>
                <c:pt idx="3">
                  <c:v>35</c:v>
                </c:pt>
                <c:pt idx="4">
                  <c:v>40</c:v>
                </c:pt>
                <c:pt idx="5">
                  <c:v>45</c:v>
                </c:pt>
                <c:pt idx="6">
                  <c:v>50</c:v>
                </c:pt>
                <c:pt idx="7">
                  <c:v>55</c:v>
                </c:pt>
                <c:pt idx="8">
                  <c:v>60</c:v>
                </c:pt>
                <c:pt idx="9">
                  <c:v>65</c:v>
                </c:pt>
                <c:pt idx="10">
                  <c:v>70</c:v>
                </c:pt>
                <c:pt idx="11">
                  <c:v>75</c:v>
                </c:pt>
                <c:pt idx="12">
                  <c:v>80</c:v>
                </c:pt>
                <c:pt idx="13">
                  <c:v>85</c:v>
                </c:pt>
                <c:pt idx="14">
                  <c:v>90</c:v>
                </c:pt>
                <c:pt idx="15">
                  <c:v>95</c:v>
                </c:pt>
                <c:pt idx="16">
                  <c:v>100</c:v>
                </c:pt>
                <c:pt idx="17">
                  <c:v>105</c:v>
                </c:pt>
                <c:pt idx="18">
                  <c:v>110</c:v>
                </c:pt>
                <c:pt idx="19">
                  <c:v>115</c:v>
                </c:pt>
                <c:pt idx="20">
                  <c:v>120</c:v>
                </c:pt>
                <c:pt idx="21">
                  <c:v>125</c:v>
                </c:pt>
                <c:pt idx="22">
                  <c:v>130</c:v>
                </c:pt>
                <c:pt idx="23">
                  <c:v>135</c:v>
                </c:pt>
                <c:pt idx="24">
                  <c:v>140</c:v>
                </c:pt>
                <c:pt idx="25">
                  <c:v>145</c:v>
                </c:pt>
                <c:pt idx="26">
                  <c:v>150</c:v>
                </c:pt>
              </c:numCache>
            </c:numRef>
          </c:xVal>
          <c:yVal>
            <c:numRef>
              <c:f>'Non Linear '!$C$4:$C$30</c:f>
              <c:numCache>
                <c:formatCode>General</c:formatCode>
                <c:ptCount val="27"/>
                <c:pt idx="0">
                  <c:v>498</c:v>
                </c:pt>
                <c:pt idx="1">
                  <c:v>442</c:v>
                </c:pt>
                <c:pt idx="2">
                  <c:v>388</c:v>
                </c:pt>
                <c:pt idx="3">
                  <c:v>340</c:v>
                </c:pt>
                <c:pt idx="4">
                  <c:v>304</c:v>
                </c:pt>
                <c:pt idx="5">
                  <c:v>270</c:v>
                </c:pt>
                <c:pt idx="6">
                  <c:v>246</c:v>
                </c:pt>
                <c:pt idx="7">
                  <c:v>222</c:v>
                </c:pt>
                <c:pt idx="8">
                  <c:v>203</c:v>
                </c:pt>
                <c:pt idx="9">
                  <c:v>186</c:v>
                </c:pt>
                <c:pt idx="10">
                  <c:v>174</c:v>
                </c:pt>
                <c:pt idx="11">
                  <c:v>162</c:v>
                </c:pt>
                <c:pt idx="12">
                  <c:v>154</c:v>
                </c:pt>
                <c:pt idx="13">
                  <c:v>145</c:v>
                </c:pt>
                <c:pt idx="14">
                  <c:v>137</c:v>
                </c:pt>
                <c:pt idx="15">
                  <c:v>130</c:v>
                </c:pt>
                <c:pt idx="16">
                  <c:v>125</c:v>
                </c:pt>
                <c:pt idx="17">
                  <c:v>117</c:v>
                </c:pt>
                <c:pt idx="18">
                  <c:v>113</c:v>
                </c:pt>
                <c:pt idx="19">
                  <c:v>107</c:v>
                </c:pt>
                <c:pt idx="20">
                  <c:v>103</c:v>
                </c:pt>
                <c:pt idx="21">
                  <c:v>98</c:v>
                </c:pt>
                <c:pt idx="22">
                  <c:v>95</c:v>
                </c:pt>
                <c:pt idx="23">
                  <c:v>90</c:v>
                </c:pt>
                <c:pt idx="24">
                  <c:v>87</c:v>
                </c:pt>
                <c:pt idx="25">
                  <c:v>84</c:v>
                </c:pt>
                <c:pt idx="26">
                  <c:v>80</c:v>
                </c:pt>
              </c:numCache>
            </c:numRef>
          </c:yVal>
          <c:smooth val="0"/>
          <c:extLst>
            <c:ext xmlns:c16="http://schemas.microsoft.com/office/drawing/2014/chart" uri="{C3380CC4-5D6E-409C-BE32-E72D297353CC}">
              <c16:uniqueId val="{00000000-22E6-4673-9958-73E46D8A54C7}"/>
            </c:ext>
          </c:extLst>
        </c:ser>
        <c:dLbls>
          <c:showLegendKey val="0"/>
          <c:showVal val="0"/>
          <c:showCatName val="0"/>
          <c:showSerName val="0"/>
          <c:showPercent val="0"/>
          <c:showBubbleSize val="0"/>
        </c:dLbls>
        <c:axId val="107427328"/>
        <c:axId val="107428864"/>
      </c:scatterChart>
      <c:valAx>
        <c:axId val="107427328"/>
        <c:scaling>
          <c:orientation val="minMax"/>
        </c:scaling>
        <c:delete val="0"/>
        <c:axPos val="b"/>
        <c:numFmt formatCode="General" sourceLinked="1"/>
        <c:majorTickMark val="out"/>
        <c:minorTickMark val="none"/>
        <c:tickLblPos val="nextTo"/>
        <c:crossAx val="107428864"/>
        <c:crosses val="autoZero"/>
        <c:crossBetween val="midCat"/>
      </c:valAx>
      <c:valAx>
        <c:axId val="107428864"/>
        <c:scaling>
          <c:orientation val="minMax"/>
        </c:scaling>
        <c:delete val="0"/>
        <c:axPos val="l"/>
        <c:majorGridlines/>
        <c:numFmt formatCode="General" sourceLinked="1"/>
        <c:majorTickMark val="out"/>
        <c:minorTickMark val="none"/>
        <c:tickLblPos val="nextTo"/>
        <c:crossAx val="107427328"/>
        <c:crosses val="autoZero"/>
        <c:crossBetween val="midCat"/>
      </c:valAx>
    </c:plotArea>
    <c:legend>
      <c:legendPos val="r"/>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'Linear Regression'!$B$1</c:f>
              <c:strCache>
                <c:ptCount val="1"/>
                <c:pt idx="0">
                  <c:v>αξονας Υ 1/(R+k)</c:v>
                </c:pt>
              </c:strCache>
            </c:strRef>
          </c:tx>
          <c:spPr>
            <a:ln w="28575">
              <a:noFill/>
            </a:ln>
          </c:spPr>
          <c:trendline>
            <c:trendlineType val="linear"/>
            <c:dispRSqr val="1"/>
            <c:dispEq val="1"/>
            <c:trendlineLbl>
              <c:layout>
                <c:manualLayout>
                  <c:x val="0.47762534693725855"/>
                  <c:y val="-4.048848131751287E-2"/>
                </c:manualLayout>
              </c:layout>
              <c:numFmt formatCode="General" sourceLinked="0"/>
              <c:txPr>
                <a:bodyPr/>
                <a:lstStyle/>
                <a:p>
                  <a:pPr>
                    <a:defRPr sz="2000" baseline="0"/>
                  </a:pPr>
                  <a:endParaRPr lang="en-US"/>
                </a:p>
              </c:txPr>
            </c:trendlineLbl>
          </c:trendline>
          <c:xVal>
            <c:numRef>
              <c:f>'Linear Regression'!$A$2:$A$28</c:f>
              <c:numCache>
                <c:formatCode>General</c:formatCode>
                <c:ptCount val="27"/>
                <c:pt idx="0">
                  <c:v>498</c:v>
                </c:pt>
                <c:pt idx="1">
                  <c:v>442</c:v>
                </c:pt>
                <c:pt idx="2">
                  <c:v>388</c:v>
                </c:pt>
                <c:pt idx="3">
                  <c:v>340</c:v>
                </c:pt>
                <c:pt idx="4">
                  <c:v>304</c:v>
                </c:pt>
                <c:pt idx="5">
                  <c:v>270</c:v>
                </c:pt>
                <c:pt idx="6">
                  <c:v>246</c:v>
                </c:pt>
                <c:pt idx="7">
                  <c:v>222</c:v>
                </c:pt>
                <c:pt idx="8">
                  <c:v>203</c:v>
                </c:pt>
                <c:pt idx="9">
                  <c:v>186</c:v>
                </c:pt>
                <c:pt idx="10">
                  <c:v>174</c:v>
                </c:pt>
                <c:pt idx="11">
                  <c:v>162</c:v>
                </c:pt>
                <c:pt idx="12">
                  <c:v>154</c:v>
                </c:pt>
                <c:pt idx="13">
                  <c:v>145</c:v>
                </c:pt>
                <c:pt idx="14">
                  <c:v>137</c:v>
                </c:pt>
                <c:pt idx="15">
                  <c:v>130</c:v>
                </c:pt>
                <c:pt idx="16">
                  <c:v>125</c:v>
                </c:pt>
                <c:pt idx="17">
                  <c:v>117</c:v>
                </c:pt>
                <c:pt idx="18">
                  <c:v>113</c:v>
                </c:pt>
                <c:pt idx="19">
                  <c:v>107</c:v>
                </c:pt>
                <c:pt idx="20">
                  <c:v>103</c:v>
                </c:pt>
                <c:pt idx="21">
                  <c:v>98</c:v>
                </c:pt>
                <c:pt idx="22">
                  <c:v>95</c:v>
                </c:pt>
                <c:pt idx="23">
                  <c:v>90</c:v>
                </c:pt>
                <c:pt idx="24">
                  <c:v>87</c:v>
                </c:pt>
                <c:pt idx="25">
                  <c:v>84</c:v>
                </c:pt>
                <c:pt idx="26">
                  <c:v>80</c:v>
                </c:pt>
              </c:numCache>
            </c:numRef>
          </c:xVal>
          <c:yVal>
            <c:numRef>
              <c:f>'Linear Regression'!$B$2:$B$28</c:f>
              <c:numCache>
                <c:formatCode>General</c:formatCode>
                <c:ptCount val="27"/>
                <c:pt idx="0">
                  <c:v>3.2258064516129052E-2</c:v>
                </c:pt>
                <c:pt idx="1">
                  <c:v>2.7777777777777811E-2</c:v>
                </c:pt>
                <c:pt idx="2">
                  <c:v>2.4390243902439025E-2</c:v>
                </c:pt>
                <c:pt idx="3">
                  <c:v>2.1739130434782612E-2</c:v>
                </c:pt>
                <c:pt idx="4">
                  <c:v>1.9607843137254902E-2</c:v>
                </c:pt>
                <c:pt idx="5">
                  <c:v>1.7857142857142856E-2</c:v>
                </c:pt>
                <c:pt idx="6">
                  <c:v>1.6393442622950821E-2</c:v>
                </c:pt>
                <c:pt idx="7">
                  <c:v>1.5151515151515159E-2</c:v>
                </c:pt>
                <c:pt idx="8">
                  <c:v>1.4084507042253521E-2</c:v>
                </c:pt>
                <c:pt idx="9">
                  <c:v>1.315789473684211E-2</c:v>
                </c:pt>
                <c:pt idx="10">
                  <c:v>1.2345679012345687E-2</c:v>
                </c:pt>
                <c:pt idx="11">
                  <c:v>1.1627906976744177E-2</c:v>
                </c:pt>
                <c:pt idx="12">
                  <c:v>1.0989010989010993E-2</c:v>
                </c:pt>
                <c:pt idx="13">
                  <c:v>1.0416666666666666E-2</c:v>
                </c:pt>
                <c:pt idx="14">
                  <c:v>9.9009900990099133E-3</c:v>
                </c:pt>
                <c:pt idx="15">
                  <c:v>9.4339622641509448E-3</c:v>
                </c:pt>
                <c:pt idx="16">
                  <c:v>9.0090090090090211E-3</c:v>
                </c:pt>
                <c:pt idx="17">
                  <c:v>8.6206896551724189E-3</c:v>
                </c:pt>
                <c:pt idx="18">
                  <c:v>8.2644628099173608E-3</c:v>
                </c:pt>
                <c:pt idx="19">
                  <c:v>7.9365079365079413E-3</c:v>
                </c:pt>
                <c:pt idx="20">
                  <c:v>7.6335877862595434E-3</c:v>
                </c:pt>
                <c:pt idx="21">
                  <c:v>7.3529411764705881E-3</c:v>
                </c:pt>
                <c:pt idx="22">
                  <c:v>7.0921985815602861E-3</c:v>
                </c:pt>
                <c:pt idx="23">
                  <c:v>6.8493150684931529E-3</c:v>
                </c:pt>
                <c:pt idx="24">
                  <c:v>6.6225165562913855E-3</c:v>
                </c:pt>
                <c:pt idx="25">
                  <c:v>6.4102564102564126E-3</c:v>
                </c:pt>
                <c:pt idx="26">
                  <c:v>6.2111801242236081E-3</c:v>
                </c:pt>
              </c:numCache>
            </c:numRef>
          </c:yVal>
          <c:smooth val="0"/>
          <c:extLst>
            <c:ext xmlns:c16="http://schemas.microsoft.com/office/drawing/2014/chart" uri="{C3380CC4-5D6E-409C-BE32-E72D297353CC}">
              <c16:uniqueId val="{00000001-F9CA-46F4-B061-8867051D3745}"/>
            </c:ext>
          </c:extLst>
        </c:ser>
        <c:dLbls>
          <c:showLegendKey val="0"/>
          <c:showVal val="0"/>
          <c:showCatName val="0"/>
          <c:showSerName val="0"/>
          <c:showPercent val="0"/>
          <c:showBubbleSize val="0"/>
        </c:dLbls>
        <c:axId val="107629952"/>
        <c:axId val="107631744"/>
      </c:scatterChart>
      <c:valAx>
        <c:axId val="107629952"/>
        <c:scaling>
          <c:orientation val="minMax"/>
        </c:scaling>
        <c:delete val="0"/>
        <c:axPos val="b"/>
        <c:numFmt formatCode="General" sourceLinked="1"/>
        <c:majorTickMark val="out"/>
        <c:minorTickMark val="none"/>
        <c:tickLblPos val="nextTo"/>
        <c:crossAx val="107631744"/>
        <c:crosses val="autoZero"/>
        <c:crossBetween val="midCat"/>
      </c:valAx>
      <c:valAx>
        <c:axId val="107631744"/>
        <c:scaling>
          <c:orientation val="minMax"/>
        </c:scaling>
        <c:delete val="0"/>
        <c:axPos val="l"/>
        <c:majorGridlines/>
        <c:minorGridlines/>
        <c:numFmt formatCode="General" sourceLinked="1"/>
        <c:majorTickMark val="out"/>
        <c:minorTickMark val="none"/>
        <c:tickLblPos val="nextTo"/>
        <c:crossAx val="107629952"/>
        <c:crosses val="autoZero"/>
        <c:crossBetween val="midCat"/>
      </c:valAx>
    </c:plotArea>
    <c:legend>
      <c:legendPos val="r"/>
      <c:overlay val="0"/>
    </c:legend>
    <c:plotVisOnly val="1"/>
    <c:dispBlanksAs val="gap"/>
    <c:showDLblsOverMax val="0"/>
  </c:chart>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23E8713-F4BC-4E84-8265-116AB8F8B8C1}"/>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endParaRPr lang="en-US"/>
          </a:p>
        </p:txBody>
      </p:sp>
      <p:sp>
        <p:nvSpPr>
          <p:cNvPr id="3" name="Υπότιτλος 2">
            <a:extLst>
              <a:ext uri="{FF2B5EF4-FFF2-40B4-BE49-F238E27FC236}">
                <a16:creationId xmlns:a16="http://schemas.microsoft.com/office/drawing/2014/main" id="{9378A8FC-FDA2-4AAC-9216-3AF6EAEF23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endParaRPr lang="en-US"/>
          </a:p>
        </p:txBody>
      </p:sp>
      <p:sp>
        <p:nvSpPr>
          <p:cNvPr id="4" name="Θέση ημερομηνίας 3">
            <a:extLst>
              <a:ext uri="{FF2B5EF4-FFF2-40B4-BE49-F238E27FC236}">
                <a16:creationId xmlns:a16="http://schemas.microsoft.com/office/drawing/2014/main" id="{2657CCAE-8993-48AA-8B5E-3A9E1CF536C6}"/>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5" name="Θέση υποσέλιδου 4">
            <a:extLst>
              <a:ext uri="{FF2B5EF4-FFF2-40B4-BE49-F238E27FC236}">
                <a16:creationId xmlns:a16="http://schemas.microsoft.com/office/drawing/2014/main" id="{E9C189DA-5484-4C48-99B5-719374C0DA33}"/>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id="{3A5F189A-3D1D-4B80-A54E-9BB909608588}"/>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3844890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C57D32C-0AAF-4142-9268-96CC1C7BE415}"/>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περιεχομένου 2">
            <a:extLst>
              <a:ext uri="{FF2B5EF4-FFF2-40B4-BE49-F238E27FC236}">
                <a16:creationId xmlns:a16="http://schemas.microsoft.com/office/drawing/2014/main" id="{17779CEA-874F-4DB8-ADCA-8FB1B8C07583}"/>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id="{DA9076DE-CFB5-4648-A0A4-8B403CA56502}"/>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5" name="Θέση υποσέλιδου 4">
            <a:extLst>
              <a:ext uri="{FF2B5EF4-FFF2-40B4-BE49-F238E27FC236}">
                <a16:creationId xmlns:a16="http://schemas.microsoft.com/office/drawing/2014/main" id="{44B6CDCA-5CCA-4A73-9A92-020219B2D214}"/>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id="{8A19BB59-E516-47CC-BE0F-A64C41066958}"/>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1240649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5384B6E-D51C-457E-8840-154158294DE6}"/>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endParaRPr lang="en-US"/>
          </a:p>
        </p:txBody>
      </p:sp>
      <p:sp>
        <p:nvSpPr>
          <p:cNvPr id="3" name="Θέση κειμένου 2">
            <a:extLst>
              <a:ext uri="{FF2B5EF4-FFF2-40B4-BE49-F238E27FC236}">
                <a16:creationId xmlns:a16="http://schemas.microsoft.com/office/drawing/2014/main" id="{E25F1809-75EC-4B45-B22C-4B9A59D940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B99586B5-D19D-48BD-8F6B-3F1857CD8130}"/>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5" name="Θέση υποσέλιδου 4">
            <a:extLst>
              <a:ext uri="{FF2B5EF4-FFF2-40B4-BE49-F238E27FC236}">
                <a16:creationId xmlns:a16="http://schemas.microsoft.com/office/drawing/2014/main" id="{423E5DE4-5E24-49B5-A4F3-F2477A1D8508}"/>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id="{BB3D93EC-3753-4CAF-B72D-0DD4B1EE5D52}"/>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2264143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A2E170C-1DC0-4486-A379-0BC5D5595EF3}"/>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περιεχομένου 2">
            <a:extLst>
              <a:ext uri="{FF2B5EF4-FFF2-40B4-BE49-F238E27FC236}">
                <a16:creationId xmlns:a16="http://schemas.microsoft.com/office/drawing/2014/main" id="{B82C65DA-49FB-4C3F-B3D4-6DC93B606562}"/>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περιεχομένου 3">
            <a:extLst>
              <a:ext uri="{FF2B5EF4-FFF2-40B4-BE49-F238E27FC236}">
                <a16:creationId xmlns:a16="http://schemas.microsoft.com/office/drawing/2014/main" id="{26A7EE58-3E86-4FF5-A61A-9012BF5864BA}"/>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5" name="Θέση ημερομηνίας 4">
            <a:extLst>
              <a:ext uri="{FF2B5EF4-FFF2-40B4-BE49-F238E27FC236}">
                <a16:creationId xmlns:a16="http://schemas.microsoft.com/office/drawing/2014/main" id="{F1E31E67-C99E-47A7-9C01-CF41733F58F2}"/>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6" name="Θέση υποσέλιδου 5">
            <a:extLst>
              <a:ext uri="{FF2B5EF4-FFF2-40B4-BE49-F238E27FC236}">
                <a16:creationId xmlns:a16="http://schemas.microsoft.com/office/drawing/2014/main" id="{E62573DA-A5E7-48DA-A039-B7F301630C77}"/>
              </a:ext>
            </a:extLst>
          </p:cNvPr>
          <p:cNvSpPr>
            <a:spLocks noGrp="1"/>
          </p:cNvSpPr>
          <p:nvPr>
            <p:ph type="ftr" sz="quarter" idx="11"/>
          </p:nvPr>
        </p:nvSpPr>
        <p:spPr/>
        <p:txBody>
          <a:bodyPr/>
          <a:lstStyle/>
          <a:p>
            <a:endParaRPr lang="en-US"/>
          </a:p>
        </p:txBody>
      </p:sp>
      <p:sp>
        <p:nvSpPr>
          <p:cNvPr id="7" name="Θέση αριθμού διαφάνειας 6">
            <a:extLst>
              <a:ext uri="{FF2B5EF4-FFF2-40B4-BE49-F238E27FC236}">
                <a16:creationId xmlns:a16="http://schemas.microsoft.com/office/drawing/2014/main" id="{651BFB5F-A80E-4E74-98DE-A3AEA97C0B98}"/>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38025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A89FCAC-5184-4D5C-BD35-E45083BFD9A4}"/>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endParaRPr lang="en-US"/>
          </a:p>
        </p:txBody>
      </p:sp>
      <p:sp>
        <p:nvSpPr>
          <p:cNvPr id="3" name="Θέση κειμένου 2">
            <a:extLst>
              <a:ext uri="{FF2B5EF4-FFF2-40B4-BE49-F238E27FC236}">
                <a16:creationId xmlns:a16="http://schemas.microsoft.com/office/drawing/2014/main" id="{ABC53A88-045D-45FB-A65A-8033CD5536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503DC368-4B19-4697-88A1-BBBE2256FC72}"/>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5" name="Θέση κειμένου 4">
            <a:extLst>
              <a:ext uri="{FF2B5EF4-FFF2-40B4-BE49-F238E27FC236}">
                <a16:creationId xmlns:a16="http://schemas.microsoft.com/office/drawing/2014/main" id="{5F15386C-946C-4951-AC39-F3C89A4CA2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3F05F504-4060-4B8C-808E-602EEC391DC0}"/>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7" name="Θέση ημερομηνίας 6">
            <a:extLst>
              <a:ext uri="{FF2B5EF4-FFF2-40B4-BE49-F238E27FC236}">
                <a16:creationId xmlns:a16="http://schemas.microsoft.com/office/drawing/2014/main" id="{1CEF085E-C30F-4B87-BB62-FEAFE7D0315A}"/>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8" name="Θέση υποσέλιδου 7">
            <a:extLst>
              <a:ext uri="{FF2B5EF4-FFF2-40B4-BE49-F238E27FC236}">
                <a16:creationId xmlns:a16="http://schemas.microsoft.com/office/drawing/2014/main" id="{BF9F5B1C-C9F4-432F-AA53-46E9BE0B7813}"/>
              </a:ext>
            </a:extLst>
          </p:cNvPr>
          <p:cNvSpPr>
            <a:spLocks noGrp="1"/>
          </p:cNvSpPr>
          <p:nvPr>
            <p:ph type="ftr" sz="quarter" idx="11"/>
          </p:nvPr>
        </p:nvSpPr>
        <p:spPr/>
        <p:txBody>
          <a:bodyPr/>
          <a:lstStyle/>
          <a:p>
            <a:endParaRPr lang="en-US"/>
          </a:p>
        </p:txBody>
      </p:sp>
      <p:sp>
        <p:nvSpPr>
          <p:cNvPr id="9" name="Θέση αριθμού διαφάνειας 8">
            <a:extLst>
              <a:ext uri="{FF2B5EF4-FFF2-40B4-BE49-F238E27FC236}">
                <a16:creationId xmlns:a16="http://schemas.microsoft.com/office/drawing/2014/main" id="{E43A9BD7-AC39-4025-95F9-C299FB7210EB}"/>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3098347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FB504F8-B628-41BD-930D-CE0A849BCF39}"/>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ημερομηνίας 2">
            <a:extLst>
              <a:ext uri="{FF2B5EF4-FFF2-40B4-BE49-F238E27FC236}">
                <a16:creationId xmlns:a16="http://schemas.microsoft.com/office/drawing/2014/main" id="{6C538DA5-B559-4EB0-B566-6AE1CF198A9D}"/>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4" name="Θέση υποσέλιδου 3">
            <a:extLst>
              <a:ext uri="{FF2B5EF4-FFF2-40B4-BE49-F238E27FC236}">
                <a16:creationId xmlns:a16="http://schemas.microsoft.com/office/drawing/2014/main" id="{DB6337CA-1381-4382-A1CE-AAD5F87C02E3}"/>
              </a:ext>
            </a:extLst>
          </p:cNvPr>
          <p:cNvSpPr>
            <a:spLocks noGrp="1"/>
          </p:cNvSpPr>
          <p:nvPr>
            <p:ph type="ftr" sz="quarter" idx="11"/>
          </p:nvPr>
        </p:nvSpPr>
        <p:spPr/>
        <p:txBody>
          <a:bodyPr/>
          <a:lstStyle/>
          <a:p>
            <a:endParaRPr lang="en-US"/>
          </a:p>
        </p:txBody>
      </p:sp>
      <p:sp>
        <p:nvSpPr>
          <p:cNvPr id="5" name="Θέση αριθμού διαφάνειας 4">
            <a:extLst>
              <a:ext uri="{FF2B5EF4-FFF2-40B4-BE49-F238E27FC236}">
                <a16:creationId xmlns:a16="http://schemas.microsoft.com/office/drawing/2014/main" id="{625E670E-3780-4EF8-9BBF-24657E9AF6A5}"/>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2403080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8073DFC4-0657-4923-9A83-5F88147560F9}"/>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3" name="Θέση υποσέλιδου 2">
            <a:extLst>
              <a:ext uri="{FF2B5EF4-FFF2-40B4-BE49-F238E27FC236}">
                <a16:creationId xmlns:a16="http://schemas.microsoft.com/office/drawing/2014/main" id="{05179DA0-3DCD-41DE-A796-36DF254E507B}"/>
              </a:ext>
            </a:extLst>
          </p:cNvPr>
          <p:cNvSpPr>
            <a:spLocks noGrp="1"/>
          </p:cNvSpPr>
          <p:nvPr>
            <p:ph type="ftr" sz="quarter" idx="11"/>
          </p:nvPr>
        </p:nvSpPr>
        <p:spPr/>
        <p:txBody>
          <a:bodyPr/>
          <a:lstStyle/>
          <a:p>
            <a:endParaRPr lang="en-US"/>
          </a:p>
        </p:txBody>
      </p:sp>
      <p:sp>
        <p:nvSpPr>
          <p:cNvPr id="4" name="Θέση αριθμού διαφάνειας 3">
            <a:extLst>
              <a:ext uri="{FF2B5EF4-FFF2-40B4-BE49-F238E27FC236}">
                <a16:creationId xmlns:a16="http://schemas.microsoft.com/office/drawing/2014/main" id="{407DDAFE-3D3A-4D89-AD76-6902A473574A}"/>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3011631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4BB2233-7726-480C-99E9-19573D80E6AF}"/>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endParaRPr lang="en-US"/>
          </a:p>
        </p:txBody>
      </p:sp>
      <p:sp>
        <p:nvSpPr>
          <p:cNvPr id="3" name="Θέση περιεχομένου 2">
            <a:extLst>
              <a:ext uri="{FF2B5EF4-FFF2-40B4-BE49-F238E27FC236}">
                <a16:creationId xmlns:a16="http://schemas.microsoft.com/office/drawing/2014/main" id="{1D71D4AA-176C-4A96-A9AB-A8A7551DB7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κειμένου 3">
            <a:extLst>
              <a:ext uri="{FF2B5EF4-FFF2-40B4-BE49-F238E27FC236}">
                <a16:creationId xmlns:a16="http://schemas.microsoft.com/office/drawing/2014/main" id="{C515AF3E-AA77-42D2-B3E1-4BAAFDF77E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6D779B32-3ED6-46D6-9187-8A5D2992E4FF}"/>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6" name="Θέση υποσέλιδου 5">
            <a:extLst>
              <a:ext uri="{FF2B5EF4-FFF2-40B4-BE49-F238E27FC236}">
                <a16:creationId xmlns:a16="http://schemas.microsoft.com/office/drawing/2014/main" id="{B8F76229-F297-4938-B5E5-ACB4F33F5CE3}"/>
              </a:ext>
            </a:extLst>
          </p:cNvPr>
          <p:cNvSpPr>
            <a:spLocks noGrp="1"/>
          </p:cNvSpPr>
          <p:nvPr>
            <p:ph type="ftr" sz="quarter" idx="11"/>
          </p:nvPr>
        </p:nvSpPr>
        <p:spPr/>
        <p:txBody>
          <a:bodyPr/>
          <a:lstStyle/>
          <a:p>
            <a:endParaRPr lang="en-US"/>
          </a:p>
        </p:txBody>
      </p:sp>
      <p:sp>
        <p:nvSpPr>
          <p:cNvPr id="7" name="Θέση αριθμού διαφάνειας 6">
            <a:extLst>
              <a:ext uri="{FF2B5EF4-FFF2-40B4-BE49-F238E27FC236}">
                <a16:creationId xmlns:a16="http://schemas.microsoft.com/office/drawing/2014/main" id="{9440AFEC-99E8-4473-9566-00DFB4CC6380}"/>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1959037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B429114-1D0E-48E4-8960-F232EBA9AD59}"/>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endParaRPr lang="en-US"/>
          </a:p>
        </p:txBody>
      </p:sp>
      <p:sp>
        <p:nvSpPr>
          <p:cNvPr id="3" name="Θέση εικόνας 2">
            <a:extLst>
              <a:ext uri="{FF2B5EF4-FFF2-40B4-BE49-F238E27FC236}">
                <a16:creationId xmlns:a16="http://schemas.microsoft.com/office/drawing/2014/main" id="{59AABC61-4634-488E-B258-AA9799A892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Θέση κειμένου 3">
            <a:extLst>
              <a:ext uri="{FF2B5EF4-FFF2-40B4-BE49-F238E27FC236}">
                <a16:creationId xmlns:a16="http://schemas.microsoft.com/office/drawing/2014/main" id="{10BD7871-2A6B-4AC1-B9AA-2EA106257D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C982AB96-BEEC-4C43-8634-5863A7502BAC}"/>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6" name="Θέση υποσέλιδου 5">
            <a:extLst>
              <a:ext uri="{FF2B5EF4-FFF2-40B4-BE49-F238E27FC236}">
                <a16:creationId xmlns:a16="http://schemas.microsoft.com/office/drawing/2014/main" id="{4C0300F0-99C7-4C68-9BB0-0E94B57DB76F}"/>
              </a:ext>
            </a:extLst>
          </p:cNvPr>
          <p:cNvSpPr>
            <a:spLocks noGrp="1"/>
          </p:cNvSpPr>
          <p:nvPr>
            <p:ph type="ftr" sz="quarter" idx="11"/>
          </p:nvPr>
        </p:nvSpPr>
        <p:spPr/>
        <p:txBody>
          <a:bodyPr/>
          <a:lstStyle/>
          <a:p>
            <a:endParaRPr lang="en-US"/>
          </a:p>
        </p:txBody>
      </p:sp>
      <p:sp>
        <p:nvSpPr>
          <p:cNvPr id="7" name="Θέση αριθμού διαφάνειας 6">
            <a:extLst>
              <a:ext uri="{FF2B5EF4-FFF2-40B4-BE49-F238E27FC236}">
                <a16:creationId xmlns:a16="http://schemas.microsoft.com/office/drawing/2014/main" id="{47EA5C25-1AF5-42BE-A8F8-0F99D1C6C597}"/>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1690655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AB67847-C3C1-465C-A184-EA74FE05F391}"/>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κατακόρυφου κειμένου 2">
            <a:extLst>
              <a:ext uri="{FF2B5EF4-FFF2-40B4-BE49-F238E27FC236}">
                <a16:creationId xmlns:a16="http://schemas.microsoft.com/office/drawing/2014/main" id="{F6D492D4-F45F-4EC0-9700-27808A2CD8D2}"/>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id="{55526399-93CD-492E-9945-CAD50449ABE6}"/>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5" name="Θέση υποσέλιδου 4">
            <a:extLst>
              <a:ext uri="{FF2B5EF4-FFF2-40B4-BE49-F238E27FC236}">
                <a16:creationId xmlns:a16="http://schemas.microsoft.com/office/drawing/2014/main" id="{C860D249-7C0B-45D2-A595-7120ABB47E98}"/>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id="{03AFE2BC-E4C1-45A8-A190-C6D6BF03082B}"/>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3376793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24636CD7-93A1-4190-AAE0-F8AD4A9896F7}"/>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endParaRPr lang="en-US"/>
          </a:p>
        </p:txBody>
      </p:sp>
      <p:sp>
        <p:nvSpPr>
          <p:cNvPr id="3" name="Θέση κατακόρυφου κειμένου 2">
            <a:extLst>
              <a:ext uri="{FF2B5EF4-FFF2-40B4-BE49-F238E27FC236}">
                <a16:creationId xmlns:a16="http://schemas.microsoft.com/office/drawing/2014/main" id="{73964C87-C88A-4543-8E18-6DA91EF81E6C}"/>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id="{7A53A849-CB7F-46BB-BCC6-B861F5C818E5}"/>
              </a:ext>
            </a:extLst>
          </p:cNvPr>
          <p:cNvSpPr>
            <a:spLocks noGrp="1"/>
          </p:cNvSpPr>
          <p:nvPr>
            <p:ph type="dt" sz="half" idx="10"/>
          </p:nvPr>
        </p:nvSpPr>
        <p:spPr/>
        <p:txBody>
          <a:bodyPr/>
          <a:lstStyle/>
          <a:p>
            <a:fld id="{90C2B418-5245-4179-8D01-E1D109DF13DD}" type="datetimeFigureOut">
              <a:rPr lang="en-US" smtClean="0"/>
              <a:t>4/1/2025</a:t>
            </a:fld>
            <a:endParaRPr lang="en-US"/>
          </a:p>
        </p:txBody>
      </p:sp>
      <p:sp>
        <p:nvSpPr>
          <p:cNvPr id="5" name="Θέση υποσέλιδου 4">
            <a:extLst>
              <a:ext uri="{FF2B5EF4-FFF2-40B4-BE49-F238E27FC236}">
                <a16:creationId xmlns:a16="http://schemas.microsoft.com/office/drawing/2014/main" id="{C9DC361E-B975-46AA-B434-A05192B338BE}"/>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id="{81CBCC14-BDC2-48F7-9A42-B0FA1C9DE642}"/>
              </a:ext>
            </a:extLst>
          </p:cNvPr>
          <p:cNvSpPr>
            <a:spLocks noGrp="1"/>
          </p:cNvSpPr>
          <p:nvPr>
            <p:ph type="sldNum" sz="quarter" idx="12"/>
          </p:nvPr>
        </p:nvSpPr>
        <p:spPr/>
        <p:txBody>
          <a:bodyPr/>
          <a:lstStyle/>
          <a:p>
            <a:fld id="{11D503E4-5C4E-4D08-B336-CFF09892C615}" type="slidenum">
              <a:rPr lang="en-US" smtClean="0"/>
              <a:t>‹#›</a:t>
            </a:fld>
            <a:endParaRPr lang="en-US"/>
          </a:p>
        </p:txBody>
      </p:sp>
    </p:spTree>
    <p:extLst>
      <p:ext uri="{BB962C8B-B14F-4D97-AF65-F5344CB8AC3E}">
        <p14:creationId xmlns:p14="http://schemas.microsoft.com/office/powerpoint/2010/main" val="1335981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D8EBE63-1A29-41FC-A062-B585696E94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endParaRPr lang="en-US"/>
          </a:p>
        </p:txBody>
      </p:sp>
      <p:sp>
        <p:nvSpPr>
          <p:cNvPr id="3" name="Θέση κειμένου 2">
            <a:extLst>
              <a:ext uri="{FF2B5EF4-FFF2-40B4-BE49-F238E27FC236}">
                <a16:creationId xmlns:a16="http://schemas.microsoft.com/office/drawing/2014/main" id="{94C5669A-BDC5-467F-A224-CF27B501AC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id="{3D17899D-9D65-4A78-8B7F-0B3470A26F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C2B418-5245-4179-8D01-E1D109DF13DD}" type="datetimeFigureOut">
              <a:rPr lang="en-US" smtClean="0"/>
              <a:t>4/1/2025</a:t>
            </a:fld>
            <a:endParaRPr lang="en-US"/>
          </a:p>
        </p:txBody>
      </p:sp>
      <p:sp>
        <p:nvSpPr>
          <p:cNvPr id="5" name="Θέση υποσέλιδου 4">
            <a:extLst>
              <a:ext uri="{FF2B5EF4-FFF2-40B4-BE49-F238E27FC236}">
                <a16:creationId xmlns:a16="http://schemas.microsoft.com/office/drawing/2014/main" id="{CB81DA3D-FF5F-47F5-B919-FF84DF32A5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Θέση αριθμού διαφάνειας 5">
            <a:extLst>
              <a:ext uri="{FF2B5EF4-FFF2-40B4-BE49-F238E27FC236}">
                <a16:creationId xmlns:a16="http://schemas.microsoft.com/office/drawing/2014/main" id="{9E63F4A1-E46E-4F1A-94EA-B1DAD097AC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503E4-5C4E-4D08-B336-CFF09892C615}" type="slidenum">
              <a:rPr lang="en-US" smtClean="0"/>
              <a:t>‹#›</a:t>
            </a:fld>
            <a:endParaRPr lang="en-US"/>
          </a:p>
        </p:txBody>
      </p:sp>
    </p:spTree>
    <p:extLst>
      <p:ext uri="{BB962C8B-B14F-4D97-AF65-F5344CB8AC3E}">
        <p14:creationId xmlns:p14="http://schemas.microsoft.com/office/powerpoint/2010/main" val="3393226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hyperlink" Target="https://components101.com/sites/default/files/component_datasheet/LDR%20Datasheet.pd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pololu.com/file/0J85/gp2y0a21yk0f.pdf" TargetMode="Externa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9A81EA5-7627-462A-B420-BFA9C1C4883F}"/>
              </a:ext>
            </a:extLst>
          </p:cNvPr>
          <p:cNvSpPr>
            <a:spLocks noGrp="1"/>
          </p:cNvSpPr>
          <p:nvPr>
            <p:ph type="title"/>
          </p:nvPr>
        </p:nvSpPr>
        <p:spPr/>
        <p:txBody>
          <a:bodyPr/>
          <a:lstStyle/>
          <a:p>
            <a:r>
              <a:rPr lang="en-US" dirty="0"/>
              <a:t>Sensors’ linearization and calibration</a:t>
            </a:r>
          </a:p>
        </p:txBody>
      </p:sp>
    </p:spTree>
    <p:extLst>
      <p:ext uri="{BB962C8B-B14F-4D97-AF65-F5344CB8AC3E}">
        <p14:creationId xmlns:p14="http://schemas.microsoft.com/office/powerpoint/2010/main" val="4024035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38202D7-6996-46A4-9EEA-9168B62D9FF9}"/>
              </a:ext>
            </a:extLst>
          </p:cNvPr>
          <p:cNvSpPr>
            <a:spLocks noGrp="1"/>
          </p:cNvSpPr>
          <p:nvPr>
            <p:ph type="title"/>
          </p:nvPr>
        </p:nvSpPr>
        <p:spPr/>
        <p:txBody>
          <a:bodyPr/>
          <a:lstStyle/>
          <a:p>
            <a:r>
              <a:rPr lang="en-US" dirty="0"/>
              <a:t>light dependent resistors (LDR)</a:t>
            </a:r>
          </a:p>
        </p:txBody>
      </p:sp>
      <p:sp>
        <p:nvSpPr>
          <p:cNvPr id="3" name="Θέση περιεχομένου 2">
            <a:extLst>
              <a:ext uri="{FF2B5EF4-FFF2-40B4-BE49-F238E27FC236}">
                <a16:creationId xmlns:a16="http://schemas.microsoft.com/office/drawing/2014/main" id="{1DAA5DA2-D115-4D88-8C52-CA5650C4A21E}"/>
              </a:ext>
            </a:extLst>
          </p:cNvPr>
          <p:cNvSpPr>
            <a:spLocks noGrp="1"/>
          </p:cNvSpPr>
          <p:nvPr>
            <p:ph idx="1"/>
          </p:nvPr>
        </p:nvSpPr>
        <p:spPr/>
        <p:txBody>
          <a:bodyPr>
            <a:normAutofit/>
          </a:bodyPr>
          <a:lstStyle/>
          <a:p>
            <a:pPr algn="just"/>
            <a:r>
              <a:rPr lang="en-US" sz="1800" dirty="0"/>
              <a:t>Photo resistors, also known as light dependent resistors (LDR), are light sensitive devices most often used to indicate the presence or absence of light, or to measure the light intensity. In the dark, their resistance is very high, sometimes up to 1MΩ, but when the LDR sensor is exposed to light, the resistance drops dramatically, even down to a few ohms, depending on the light intensity. LDRs have a sensitivity that varies with the wavelength of the light applied and are nonlinear devices. They are used in many applications but are sometimes made obsolete by other devices such as photodiodes and phototransistors. </a:t>
            </a:r>
          </a:p>
          <a:p>
            <a:pPr algn="just"/>
            <a:r>
              <a:rPr lang="en-US" sz="1800" dirty="0"/>
              <a:t>Based on the materials used, photo resistors can be divided into two types; intrinsic and extrinsic. Intrinsic photo resistors use undoped materials such as silicon or germanium. Photons that fall on the device excite electrons from the valence band to the conduction band, and the result of this process are more free electrons in the material, which can carry current, and therefore less resistance. Extrinsic photo resistors are made of materials doped with impurities, also called dopants. The dopants create a new energy band above the existing valence band, populated by electrons. These electrons need less energy to make the transition to the conduction band thanks to the smaller energy gap. The result is a device sensitive to different wavelengths of light. Regardless, both types will exhibit a decrease in resistance when illuminated. The higher the light intensity, the larger the resistance drop is. Therefore, the resistance of LDRs is an inverse, nonlinear function of light intensity.</a:t>
            </a:r>
          </a:p>
        </p:txBody>
      </p:sp>
      <p:pic>
        <p:nvPicPr>
          <p:cNvPr id="5" name="Εικόνα 4">
            <a:extLst>
              <a:ext uri="{FF2B5EF4-FFF2-40B4-BE49-F238E27FC236}">
                <a16:creationId xmlns:a16="http://schemas.microsoft.com/office/drawing/2014/main" id="{1DE87950-2E7D-47BD-A837-C908BE989816}"/>
              </a:ext>
            </a:extLst>
          </p:cNvPr>
          <p:cNvPicPr>
            <a:picLocks noChangeAspect="1"/>
          </p:cNvPicPr>
          <p:nvPr/>
        </p:nvPicPr>
        <p:blipFill>
          <a:blip r:embed="rId2"/>
          <a:stretch>
            <a:fillRect/>
          </a:stretch>
        </p:blipFill>
        <p:spPr>
          <a:xfrm>
            <a:off x="9390917" y="230188"/>
            <a:ext cx="1428750" cy="1428750"/>
          </a:xfrm>
          <a:prstGeom prst="rect">
            <a:avLst/>
          </a:prstGeom>
        </p:spPr>
      </p:pic>
    </p:spTree>
    <p:extLst>
      <p:ext uri="{BB962C8B-B14F-4D97-AF65-F5344CB8AC3E}">
        <p14:creationId xmlns:p14="http://schemas.microsoft.com/office/powerpoint/2010/main" val="3563501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4" descr="Image result for sensor symbol"/>
          <p:cNvSpPr>
            <a:spLocks noChangeAspect="1" noChangeArrowheads="1"/>
          </p:cNvSpPr>
          <p:nvPr/>
        </p:nvSpPr>
        <p:spPr bwMode="auto">
          <a:xfrm>
            <a:off x="198967" y="-144462"/>
            <a:ext cx="406400" cy="304801"/>
          </a:xfrm>
          <a:prstGeom prst="rect">
            <a:avLst/>
          </a:prstGeom>
          <a:noFill/>
          <a:ln w="9525">
            <a:noFill/>
            <a:miter lim="800000"/>
            <a:headEnd/>
            <a:tailEnd/>
          </a:ln>
        </p:spPr>
        <p:txBody>
          <a:bodyPr/>
          <a:lstStyle/>
          <a:p>
            <a:endParaRPr lang="el-GR" sz="2400"/>
          </a:p>
        </p:txBody>
      </p:sp>
      <p:sp>
        <p:nvSpPr>
          <p:cNvPr id="9219" name="AutoShape 6" descr="Image result for sensor symbol"/>
          <p:cNvSpPr>
            <a:spLocks noChangeAspect="1" noChangeArrowheads="1"/>
          </p:cNvSpPr>
          <p:nvPr/>
        </p:nvSpPr>
        <p:spPr bwMode="auto">
          <a:xfrm>
            <a:off x="198967" y="-144462"/>
            <a:ext cx="406400" cy="304801"/>
          </a:xfrm>
          <a:prstGeom prst="rect">
            <a:avLst/>
          </a:prstGeom>
          <a:noFill/>
          <a:ln w="9525">
            <a:noFill/>
            <a:miter lim="800000"/>
            <a:headEnd/>
            <a:tailEnd/>
          </a:ln>
        </p:spPr>
        <p:txBody>
          <a:bodyPr/>
          <a:lstStyle/>
          <a:p>
            <a:endParaRPr lang="el-GR" sz="2400"/>
          </a:p>
        </p:txBody>
      </p:sp>
      <p:sp>
        <p:nvSpPr>
          <p:cNvPr id="9220" name="AutoShape 8" descr="Image result for sensor symbol"/>
          <p:cNvSpPr>
            <a:spLocks noChangeAspect="1" noChangeArrowheads="1"/>
          </p:cNvSpPr>
          <p:nvPr/>
        </p:nvSpPr>
        <p:spPr bwMode="auto">
          <a:xfrm>
            <a:off x="198967" y="-144462"/>
            <a:ext cx="406400" cy="304801"/>
          </a:xfrm>
          <a:prstGeom prst="rect">
            <a:avLst/>
          </a:prstGeom>
          <a:noFill/>
          <a:ln w="9525">
            <a:noFill/>
            <a:miter lim="800000"/>
            <a:headEnd/>
            <a:tailEnd/>
          </a:ln>
        </p:spPr>
        <p:txBody>
          <a:bodyPr/>
          <a:lstStyle/>
          <a:p>
            <a:endParaRPr lang="el-GR" sz="2400"/>
          </a:p>
        </p:txBody>
      </p:sp>
      <p:sp>
        <p:nvSpPr>
          <p:cNvPr id="9221" name="AutoShape 10" descr="Image result for sensor symbol"/>
          <p:cNvSpPr>
            <a:spLocks noChangeAspect="1" noChangeArrowheads="1"/>
          </p:cNvSpPr>
          <p:nvPr/>
        </p:nvSpPr>
        <p:spPr bwMode="auto">
          <a:xfrm>
            <a:off x="198967" y="-144462"/>
            <a:ext cx="406400" cy="304801"/>
          </a:xfrm>
          <a:prstGeom prst="rect">
            <a:avLst/>
          </a:prstGeom>
          <a:noFill/>
          <a:ln w="9525">
            <a:noFill/>
            <a:miter lim="800000"/>
            <a:headEnd/>
            <a:tailEnd/>
          </a:ln>
        </p:spPr>
        <p:txBody>
          <a:bodyPr/>
          <a:lstStyle/>
          <a:p>
            <a:endParaRPr lang="el-GR" sz="2400"/>
          </a:p>
        </p:txBody>
      </p:sp>
      <p:sp>
        <p:nvSpPr>
          <p:cNvPr id="9222" name="AutoShape 12" descr="Image result for sensor symbol"/>
          <p:cNvSpPr>
            <a:spLocks noChangeAspect="1" noChangeArrowheads="1"/>
          </p:cNvSpPr>
          <p:nvPr/>
        </p:nvSpPr>
        <p:spPr bwMode="auto">
          <a:xfrm>
            <a:off x="198967" y="-144462"/>
            <a:ext cx="406400" cy="304801"/>
          </a:xfrm>
          <a:prstGeom prst="rect">
            <a:avLst/>
          </a:prstGeom>
          <a:noFill/>
          <a:ln w="9525">
            <a:noFill/>
            <a:miter lim="800000"/>
            <a:headEnd/>
            <a:tailEnd/>
          </a:ln>
        </p:spPr>
        <p:txBody>
          <a:bodyPr/>
          <a:lstStyle/>
          <a:p>
            <a:endParaRPr lang="el-GR" sz="2400"/>
          </a:p>
        </p:txBody>
      </p:sp>
      <p:sp>
        <p:nvSpPr>
          <p:cNvPr id="9223" name="AutoShape 14" descr="Image result for sensor symbol"/>
          <p:cNvSpPr>
            <a:spLocks noChangeAspect="1" noChangeArrowheads="1"/>
          </p:cNvSpPr>
          <p:nvPr/>
        </p:nvSpPr>
        <p:spPr bwMode="auto">
          <a:xfrm>
            <a:off x="198967" y="-144462"/>
            <a:ext cx="406400" cy="304801"/>
          </a:xfrm>
          <a:prstGeom prst="rect">
            <a:avLst/>
          </a:prstGeom>
          <a:noFill/>
          <a:ln w="9525">
            <a:noFill/>
            <a:miter lim="800000"/>
            <a:headEnd/>
            <a:tailEnd/>
          </a:ln>
        </p:spPr>
        <p:txBody>
          <a:bodyPr/>
          <a:lstStyle/>
          <a:p>
            <a:endParaRPr lang="el-GR" sz="2400"/>
          </a:p>
        </p:txBody>
      </p:sp>
      <p:sp>
        <p:nvSpPr>
          <p:cNvPr id="36" name="Title 1"/>
          <p:cNvSpPr>
            <a:spLocks noGrp="1"/>
          </p:cNvSpPr>
          <p:nvPr>
            <p:ph type="title"/>
          </p:nvPr>
        </p:nvSpPr>
        <p:spPr>
          <a:xfrm>
            <a:off x="-43" y="-24"/>
            <a:ext cx="11667107" cy="1143000"/>
          </a:xfrm>
        </p:spPr>
        <p:txBody>
          <a:bodyPr>
            <a:normAutofit/>
          </a:bodyPr>
          <a:lstStyle/>
          <a:p>
            <a:pPr>
              <a:defRPr/>
            </a:pPr>
            <a:r>
              <a:rPr lang="el-GR" sz="3733" dirty="0">
                <a:latin typeface="Book Antiqua" pitchFamily="18" charset="0"/>
              </a:rPr>
              <a:t>Γραμμικά Αισθητήρια (</a:t>
            </a:r>
            <a:r>
              <a:rPr lang="en-ID" sz="3733" dirty="0">
                <a:latin typeface="Book Antiqua" pitchFamily="18" charset="0"/>
              </a:rPr>
              <a:t>LDR</a:t>
            </a:r>
            <a:r>
              <a:rPr lang="el-GR" sz="3733" dirty="0">
                <a:latin typeface="Book Antiqua" pitchFamily="18" charset="0"/>
              </a:rPr>
              <a:t>)</a:t>
            </a:r>
          </a:p>
        </p:txBody>
      </p:sp>
      <p:pic>
        <p:nvPicPr>
          <p:cNvPr id="1028" name="Picture 4"/>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39350" y="1316765"/>
            <a:ext cx="6091201" cy="4416491"/>
          </a:xfrm>
          <a:prstGeom prst="rect">
            <a:avLst/>
          </a:prstGeom>
          <a:noFill/>
          <a:ln w="9525">
            <a:noFill/>
            <a:miter lim="800000"/>
            <a:headEnd/>
            <a:tailEnd/>
          </a:ln>
          <a:effectLst/>
        </p:spPr>
      </p:pic>
      <p:pic>
        <p:nvPicPr>
          <p:cNvPr id="1029"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191251" y="1316766"/>
            <a:ext cx="6000749" cy="3977561"/>
          </a:xfrm>
          <a:prstGeom prst="rect">
            <a:avLst/>
          </a:prstGeom>
          <a:noFill/>
          <a:ln w="9525">
            <a:noFill/>
            <a:miter lim="800000"/>
            <a:headEnd/>
            <a:tailEnd/>
          </a:ln>
          <a:effectLst/>
        </p:spPr>
      </p:pic>
      <p:sp>
        <p:nvSpPr>
          <p:cNvPr id="25" name="24 - Ορθογώνιο"/>
          <p:cNvSpPr/>
          <p:nvPr/>
        </p:nvSpPr>
        <p:spPr>
          <a:xfrm>
            <a:off x="239349" y="6379005"/>
            <a:ext cx="11761432" cy="379656"/>
          </a:xfrm>
          <a:prstGeom prst="rect">
            <a:avLst/>
          </a:prstGeom>
        </p:spPr>
        <p:txBody>
          <a:bodyPr wrap="square">
            <a:spAutoFit/>
          </a:bodyPr>
          <a:lstStyle/>
          <a:p>
            <a:r>
              <a:rPr lang="en-US" sz="1867" dirty="0">
                <a:solidFill>
                  <a:schemeClr val="accent2"/>
                </a:solidFill>
                <a:hlinkClick r:id="rId4"/>
              </a:rPr>
              <a:t>https://components101.com/sites/default/files/component_datasheet/LDR%20Datasheet.pdf</a:t>
            </a:r>
            <a:endParaRPr lang="el-GR" sz="1867" dirty="0">
              <a:solidFill>
                <a:schemeClr val="accent2"/>
              </a:solidFill>
            </a:endParaRPr>
          </a:p>
        </p:txBody>
      </p:sp>
      <p:pic>
        <p:nvPicPr>
          <p:cNvPr id="4098" name="Picture 2" descr="Image result for ldr"/>
          <p:cNvPicPr>
            <a:picLocks noChangeAspect="1" noChangeArrowheads="1"/>
          </p:cNvPicPr>
          <p:nvPr/>
        </p:nvPicPr>
        <p:blipFill>
          <a:blip r:embed="rId5" cstate="print">
            <a:clrChange>
              <a:clrFrom>
                <a:srgbClr val="FFFFFF"/>
              </a:clrFrom>
              <a:clrTo>
                <a:srgbClr val="FFFFFF">
                  <a:alpha val="0"/>
                </a:srgbClr>
              </a:clrTo>
            </a:clrChange>
          </a:blip>
          <a:srcRect l="4580" t="9160" r="15266"/>
          <a:stretch>
            <a:fillRect/>
          </a:stretch>
        </p:blipFill>
        <p:spPr bwMode="auto">
          <a:xfrm>
            <a:off x="10477531" y="4572008"/>
            <a:ext cx="1484768" cy="1682717"/>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n-US" dirty="0">
                <a:solidFill>
                  <a:schemeClr val="tx1"/>
                </a:solidFill>
              </a:rPr>
              <a:t>Simple Reading (</a:t>
            </a:r>
            <a:r>
              <a:rPr lang="en-US" sz="2667" dirty="0" err="1"/>
              <a:t>DigitalWrite</a:t>
            </a:r>
            <a:r>
              <a:rPr lang="en-US" sz="2667" dirty="0"/>
              <a:t> </a:t>
            </a:r>
            <a:r>
              <a:rPr lang="en-US" sz="2133" dirty="0"/>
              <a:t>No Calibration</a:t>
            </a:r>
            <a:r>
              <a:rPr lang="en-US" dirty="0">
                <a:solidFill>
                  <a:schemeClr val="tx1"/>
                </a:solidFill>
              </a:rPr>
              <a:t>)</a:t>
            </a:r>
            <a:endParaRPr lang="el-GR" dirty="0">
              <a:solidFill>
                <a:schemeClr val="tx1"/>
              </a:solidFill>
            </a:endParaRPr>
          </a:p>
        </p:txBody>
      </p:sp>
      <p:pic>
        <p:nvPicPr>
          <p:cNvPr id="2053" name="Picture 5"/>
          <p:cNvPicPr>
            <a:picLocks noChangeAspect="1" noChangeArrowheads="1"/>
          </p:cNvPicPr>
          <p:nvPr/>
        </p:nvPicPr>
        <p:blipFill>
          <a:blip r:embed="rId2" cstate="print"/>
          <a:srcRect/>
          <a:stretch>
            <a:fillRect/>
          </a:stretch>
        </p:blipFill>
        <p:spPr bwMode="auto">
          <a:xfrm>
            <a:off x="547901" y="1700808"/>
            <a:ext cx="2571768" cy="3873021"/>
          </a:xfrm>
          <a:prstGeom prst="rect">
            <a:avLst/>
          </a:prstGeom>
          <a:noFill/>
          <a:ln w="9525">
            <a:noFill/>
            <a:miter lim="800000"/>
            <a:headEnd/>
            <a:tailEnd/>
          </a:ln>
          <a:effectLst/>
        </p:spPr>
      </p:pic>
      <p:pic>
        <p:nvPicPr>
          <p:cNvPr id="2054" name="Picture 6"/>
          <p:cNvPicPr>
            <a:picLocks noChangeAspect="1" noChangeArrowheads="1"/>
          </p:cNvPicPr>
          <p:nvPr/>
        </p:nvPicPr>
        <p:blipFill>
          <a:blip r:embed="rId3" cstate="print"/>
          <a:srcRect/>
          <a:stretch>
            <a:fillRect/>
          </a:stretch>
        </p:blipFill>
        <p:spPr bwMode="auto">
          <a:xfrm>
            <a:off x="8304245" y="1428737"/>
            <a:ext cx="2571768" cy="3847527"/>
          </a:xfrm>
          <a:prstGeom prst="rect">
            <a:avLst/>
          </a:prstGeom>
          <a:noFill/>
          <a:ln w="9525">
            <a:noFill/>
            <a:miter lim="800000"/>
            <a:headEnd/>
            <a:tailEnd/>
          </a:ln>
          <a:effectLst/>
        </p:spPr>
      </p:pic>
      <p:pic>
        <p:nvPicPr>
          <p:cNvPr id="2055" name="Picture 7"/>
          <p:cNvPicPr>
            <a:picLocks noChangeAspect="1" noChangeArrowheads="1"/>
          </p:cNvPicPr>
          <p:nvPr/>
        </p:nvPicPr>
        <p:blipFill>
          <a:blip r:embed="rId4" cstate="print"/>
          <a:srcRect b="13127"/>
          <a:stretch>
            <a:fillRect/>
          </a:stretch>
        </p:blipFill>
        <p:spPr bwMode="auto">
          <a:xfrm>
            <a:off x="3619483" y="2084851"/>
            <a:ext cx="4711700" cy="3333773"/>
          </a:xfrm>
          <a:prstGeom prst="rect">
            <a:avLst/>
          </a:prstGeom>
          <a:noFill/>
          <a:ln w="9525">
            <a:noFill/>
            <a:miter lim="800000"/>
            <a:headEnd/>
            <a:tailEnd/>
          </a:ln>
          <a:effectLst/>
        </p:spPr>
      </p:pic>
      <p:pic>
        <p:nvPicPr>
          <p:cNvPr id="2056" name="Picture 8"/>
          <p:cNvPicPr>
            <a:picLocks noChangeAspect="1" noChangeArrowheads="1"/>
          </p:cNvPicPr>
          <p:nvPr/>
        </p:nvPicPr>
        <p:blipFill>
          <a:blip r:embed="rId5" cstate="print"/>
          <a:srcRect/>
          <a:stretch>
            <a:fillRect/>
          </a:stretch>
        </p:blipFill>
        <p:spPr bwMode="auto">
          <a:xfrm>
            <a:off x="484155" y="5524515"/>
            <a:ext cx="3403600" cy="1104900"/>
          </a:xfrm>
          <a:prstGeom prst="rect">
            <a:avLst/>
          </a:prstGeom>
          <a:noFill/>
          <a:ln w="9525">
            <a:noFill/>
            <a:miter lim="800000"/>
            <a:headEnd/>
            <a:tailEnd/>
          </a:ln>
          <a:effectLst/>
        </p:spPr>
      </p:pic>
      <p:pic>
        <p:nvPicPr>
          <p:cNvPr id="2057" name="Picture 9"/>
          <p:cNvPicPr>
            <a:picLocks noChangeAspect="1" noChangeArrowheads="1"/>
          </p:cNvPicPr>
          <p:nvPr/>
        </p:nvPicPr>
        <p:blipFill>
          <a:blip r:embed="rId6" cstate="print"/>
          <a:srcRect/>
          <a:stretch>
            <a:fillRect/>
          </a:stretch>
        </p:blipFill>
        <p:spPr bwMode="auto">
          <a:xfrm>
            <a:off x="8400256" y="5253203"/>
            <a:ext cx="3225800" cy="965200"/>
          </a:xfrm>
          <a:prstGeom prst="rect">
            <a:avLst/>
          </a:prstGeom>
          <a:noFill/>
          <a:ln w="9525">
            <a:noFill/>
            <a:miter lim="800000"/>
            <a:headEnd/>
            <a:tailEnd/>
          </a:ln>
          <a:effectLst/>
        </p:spPr>
      </p:pic>
    </p:spTree>
    <p:extLst>
      <p:ext uri="{BB962C8B-B14F-4D97-AF65-F5344CB8AC3E}">
        <p14:creationId xmlns:p14="http://schemas.microsoft.com/office/powerpoint/2010/main" val="3658141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431371" y="68627"/>
            <a:ext cx="9956800" cy="1143000"/>
          </a:xfrm>
        </p:spPr>
        <p:txBody>
          <a:bodyPr/>
          <a:lstStyle/>
          <a:p>
            <a:r>
              <a:rPr lang="en-US" dirty="0"/>
              <a:t>Analog (Read, Write)</a:t>
            </a:r>
            <a:endParaRPr lang="el-GR" dirty="0"/>
          </a:p>
        </p:txBody>
      </p:sp>
      <p:pic>
        <p:nvPicPr>
          <p:cNvPr id="2054" name="Picture 6" descr="Image result for analowrite range"/>
          <p:cNvPicPr>
            <a:picLocks noChangeAspect="1" noChangeArrowheads="1"/>
          </p:cNvPicPr>
          <p:nvPr/>
        </p:nvPicPr>
        <p:blipFill>
          <a:blip r:embed="rId2" cstate="print"/>
          <a:srcRect/>
          <a:stretch>
            <a:fillRect/>
          </a:stretch>
        </p:blipFill>
        <p:spPr bwMode="auto">
          <a:xfrm>
            <a:off x="6888845" y="1333485"/>
            <a:ext cx="4679764" cy="1543608"/>
          </a:xfrm>
          <a:prstGeom prst="rect">
            <a:avLst/>
          </a:prstGeom>
        </p:spPr>
        <p:style>
          <a:lnRef idx="2">
            <a:schemeClr val="accent1"/>
          </a:lnRef>
          <a:fillRef idx="1">
            <a:schemeClr val="lt1"/>
          </a:fillRef>
          <a:effectRef idx="0">
            <a:schemeClr val="accent1"/>
          </a:effectRef>
          <a:fontRef idx="minor">
            <a:schemeClr val="dk1"/>
          </a:fontRef>
        </p:style>
      </p:pic>
      <p:pic>
        <p:nvPicPr>
          <p:cNvPr id="2064" name="Picture 16" descr="http://arduinotogo.com/wp-content/uploads/2017/02/ch6-loop-line2-map-annotated-01.png"/>
          <p:cNvPicPr>
            <a:picLocks noChangeArrowheads="1"/>
          </p:cNvPicPr>
          <p:nvPr/>
        </p:nvPicPr>
        <p:blipFill>
          <a:blip r:embed="rId3" cstate="print"/>
          <a:srcRect/>
          <a:stretch>
            <a:fillRect/>
          </a:stretch>
        </p:blipFill>
        <p:spPr bwMode="auto">
          <a:xfrm>
            <a:off x="476213" y="3143248"/>
            <a:ext cx="4973847" cy="1543608"/>
          </a:xfrm>
          <a:prstGeom prst="rect">
            <a:avLst/>
          </a:prstGeom>
        </p:spPr>
        <p:style>
          <a:lnRef idx="2">
            <a:schemeClr val="accent2"/>
          </a:lnRef>
          <a:fillRef idx="1">
            <a:schemeClr val="lt1"/>
          </a:fillRef>
          <a:effectRef idx="0">
            <a:schemeClr val="accent2"/>
          </a:effectRef>
          <a:fontRef idx="minor">
            <a:schemeClr val="dk1"/>
          </a:fontRef>
        </p:style>
      </p:pic>
      <p:pic>
        <p:nvPicPr>
          <p:cNvPr id="2062" name="Picture 14" descr="http://arduinotogo.com/wp-content/uploads/2017/02/ch6-map-ruler-01.png"/>
          <p:cNvPicPr>
            <a:picLocks noChangeAspect="1" noChangeArrowheads="1"/>
          </p:cNvPicPr>
          <p:nvPr/>
        </p:nvPicPr>
        <p:blipFill>
          <a:blip r:embed="rId4" cstate="print"/>
          <a:srcRect/>
          <a:stretch>
            <a:fillRect/>
          </a:stretch>
        </p:blipFill>
        <p:spPr bwMode="auto">
          <a:xfrm>
            <a:off x="6888845" y="3143248"/>
            <a:ext cx="4679764" cy="1543608"/>
          </a:xfrm>
          <a:prstGeom prst="rect">
            <a:avLst/>
          </a:prstGeom>
        </p:spPr>
        <p:style>
          <a:lnRef idx="2">
            <a:schemeClr val="accent2"/>
          </a:lnRef>
          <a:fillRef idx="1">
            <a:schemeClr val="lt1"/>
          </a:fillRef>
          <a:effectRef idx="0">
            <a:schemeClr val="accent2"/>
          </a:effectRef>
          <a:fontRef idx="minor">
            <a:schemeClr val="dk1"/>
          </a:fontRef>
        </p:style>
      </p:pic>
      <p:pic>
        <p:nvPicPr>
          <p:cNvPr id="2066" name="Picture 18" descr="http://arduinotogo.com/wp-content/uploads/2017/02/ch6-loop-line-3-01.png"/>
          <p:cNvPicPr>
            <a:picLocks noChangeArrowheads="1"/>
          </p:cNvPicPr>
          <p:nvPr/>
        </p:nvPicPr>
        <p:blipFill>
          <a:blip r:embed="rId5" cstate="print"/>
          <a:srcRect/>
          <a:stretch>
            <a:fillRect/>
          </a:stretch>
        </p:blipFill>
        <p:spPr bwMode="auto">
          <a:xfrm>
            <a:off x="476211" y="5034773"/>
            <a:ext cx="4973847" cy="1543608"/>
          </a:xfrm>
          <a:prstGeom prst="rect">
            <a:avLst/>
          </a:prstGeom>
        </p:spPr>
        <p:style>
          <a:lnRef idx="2">
            <a:schemeClr val="accent5"/>
          </a:lnRef>
          <a:fillRef idx="1">
            <a:schemeClr val="lt1"/>
          </a:fillRef>
          <a:effectRef idx="0">
            <a:schemeClr val="accent5"/>
          </a:effectRef>
          <a:fontRef idx="minor">
            <a:schemeClr val="dk1"/>
          </a:fontRef>
        </p:style>
      </p:pic>
      <p:pic>
        <p:nvPicPr>
          <p:cNvPr id="2058" name="Picture 10" descr="http://arduinotogo.com/wp-content/uploads/2017/02/ch6-sensorValue-loop-code-annotated-01.png"/>
          <p:cNvPicPr>
            <a:picLocks noChangeArrowheads="1"/>
          </p:cNvPicPr>
          <p:nvPr/>
        </p:nvPicPr>
        <p:blipFill>
          <a:blip r:embed="rId6" cstate="print"/>
          <a:srcRect/>
          <a:stretch>
            <a:fillRect/>
          </a:stretch>
        </p:blipFill>
        <p:spPr bwMode="auto">
          <a:xfrm>
            <a:off x="476213" y="1333485"/>
            <a:ext cx="4973847" cy="1543608"/>
          </a:xfrm>
          <a:prstGeom prst="rect">
            <a:avLst/>
          </a:prstGeom>
        </p:spPr>
        <p:style>
          <a:lnRef idx="2">
            <a:schemeClr val="accent1"/>
          </a:lnRef>
          <a:fillRef idx="1">
            <a:schemeClr val="lt1"/>
          </a:fillRef>
          <a:effectRef idx="0">
            <a:schemeClr val="accent1"/>
          </a:effectRef>
          <a:fontRef idx="minor">
            <a:schemeClr val="dk1"/>
          </a:fontRef>
        </p:style>
      </p:pic>
      <p:pic>
        <p:nvPicPr>
          <p:cNvPr id="2068" name="Picture 20" descr="http://arduinotogo.com/wp-content/uploads/2017/02/ch6-analogWrite-ruler-01.png"/>
          <p:cNvPicPr>
            <a:picLocks noChangeAspect="1" noChangeArrowheads="1"/>
          </p:cNvPicPr>
          <p:nvPr/>
        </p:nvPicPr>
        <p:blipFill>
          <a:blip r:embed="rId7" cstate="print"/>
          <a:srcRect/>
          <a:stretch>
            <a:fillRect/>
          </a:stretch>
        </p:blipFill>
        <p:spPr bwMode="auto">
          <a:xfrm>
            <a:off x="6864085" y="4965171"/>
            <a:ext cx="4667283" cy="1543608"/>
          </a:xfrm>
          <a:prstGeom prst="rect">
            <a:avLst/>
          </a:prstGeom>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val="4044046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609600" y="68627"/>
            <a:ext cx="9956800" cy="1143000"/>
          </a:xfrm>
        </p:spPr>
        <p:txBody>
          <a:bodyPr/>
          <a:lstStyle/>
          <a:p>
            <a:r>
              <a:rPr lang="en-US" dirty="0"/>
              <a:t>Calibration, Why ? </a:t>
            </a:r>
            <a:endParaRPr lang="el-GR" dirty="0"/>
          </a:p>
        </p:txBody>
      </p:sp>
      <p:sp>
        <p:nvSpPr>
          <p:cNvPr id="3" name="2 - Θέση περιεχομένου"/>
          <p:cNvSpPr>
            <a:spLocks noGrp="1"/>
          </p:cNvSpPr>
          <p:nvPr>
            <p:ph sz="quarter" idx="1"/>
          </p:nvPr>
        </p:nvSpPr>
        <p:spPr>
          <a:xfrm>
            <a:off x="335360" y="1604798"/>
            <a:ext cx="3072341" cy="4886557"/>
          </a:xfrm>
        </p:spPr>
        <p:txBody>
          <a:bodyPr>
            <a:normAutofit fontScale="85000" lnSpcReduction="20000"/>
          </a:bodyPr>
          <a:lstStyle/>
          <a:p>
            <a:r>
              <a:rPr lang="el-GR" sz="2133" dirty="0"/>
              <a:t>Βαθμονομώντας ένα αισθητήρα τον προσαρμόζουμε στο περιβάλλον του.</a:t>
            </a:r>
            <a:endParaRPr lang="en-US" sz="2133" dirty="0"/>
          </a:p>
          <a:p>
            <a:r>
              <a:rPr lang="el-GR" sz="2133" dirty="0"/>
              <a:t>Παράδειγμα έναν αισθητήρα φωτός σε μια σκοτεινή σπηλιά ορυχείου που μετράει σε μια κλίμακα από το σκοτάδι έως το φως που παράγει ένας πλήρως φορτισμένος </a:t>
            </a:r>
            <a:r>
              <a:rPr lang="el-GR" sz="2133" dirty="0" err="1"/>
              <a:t>φακόςο</a:t>
            </a:r>
            <a:r>
              <a:rPr lang="el-GR" sz="2133" dirty="0"/>
              <a:t> οποίος μπορεί να μην είναι αρκετά φωτεινός ώστε να κάνει τον αισθητήρα να αλλάζει τάση σε μια περιοχή από 0 έως 5 βολτ - ίσως είναι περισσότερο από 0 έως 3 βολτ. Θέλω να βεβαιωθείτε ότι το πρόγραμμα μου γνωρίζει ότι η αλλαγή των 3 βολτ είναι πλήρως φωτεινή.</a:t>
            </a:r>
          </a:p>
        </p:txBody>
      </p:sp>
      <p:pic>
        <p:nvPicPr>
          <p:cNvPr id="2050" name="Picture 2" descr="https://programmingelectronics.com/wp-content/uploads/2012/10/18-Calibration.explain-mapping.jpg"/>
          <p:cNvPicPr>
            <a:picLocks noChangeAspect="1" noChangeArrowheads="1"/>
          </p:cNvPicPr>
          <p:nvPr/>
        </p:nvPicPr>
        <p:blipFill>
          <a:blip r:embed="rId2" cstate="print"/>
          <a:srcRect/>
          <a:stretch>
            <a:fillRect/>
          </a:stretch>
        </p:blipFill>
        <p:spPr bwMode="auto">
          <a:xfrm>
            <a:off x="3524232" y="1428736"/>
            <a:ext cx="6762797" cy="5072099"/>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335360" y="164637"/>
            <a:ext cx="9956800" cy="1143000"/>
          </a:xfrm>
        </p:spPr>
        <p:txBody>
          <a:bodyPr/>
          <a:lstStyle/>
          <a:p>
            <a:r>
              <a:rPr lang="en-US" dirty="0"/>
              <a:t>Calibration, </a:t>
            </a:r>
            <a:r>
              <a:rPr lang="en-ID" dirty="0"/>
              <a:t>How</a:t>
            </a:r>
            <a:r>
              <a:rPr lang="en-US" dirty="0"/>
              <a:t> ? </a:t>
            </a:r>
            <a:endParaRPr lang="el-GR" dirty="0"/>
          </a:p>
        </p:txBody>
      </p:sp>
      <p:pic>
        <p:nvPicPr>
          <p:cNvPr id="1025" name="Picture 1"/>
          <p:cNvPicPr>
            <a:picLocks noChangeAspect="1" noChangeArrowheads="1"/>
          </p:cNvPicPr>
          <p:nvPr/>
        </p:nvPicPr>
        <p:blipFill>
          <a:blip r:embed="rId2" cstate="print"/>
          <a:srcRect/>
          <a:stretch>
            <a:fillRect/>
          </a:stretch>
        </p:blipFill>
        <p:spPr bwMode="auto">
          <a:xfrm>
            <a:off x="6624736" y="4581129"/>
            <a:ext cx="5039883" cy="174686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271053" y="1604797"/>
            <a:ext cx="6016968" cy="4733779"/>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cstate="print"/>
          <a:srcRect/>
          <a:stretch>
            <a:fillRect/>
          </a:stretch>
        </p:blipFill>
        <p:spPr bwMode="auto">
          <a:xfrm>
            <a:off x="6629400" y="1604797"/>
            <a:ext cx="5035219" cy="2400267"/>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431371" y="68627"/>
            <a:ext cx="11233248" cy="1143000"/>
          </a:xfrm>
        </p:spPr>
        <p:txBody>
          <a:bodyPr>
            <a:normAutofit/>
          </a:bodyPr>
          <a:lstStyle/>
          <a:p>
            <a:r>
              <a:rPr lang="el-GR" sz="3200" dirty="0">
                <a:latin typeface="Book Antiqua" pitchFamily="18" charset="0"/>
              </a:rPr>
              <a:t>Μη Γραμμικά Αισθητήρια (</a:t>
            </a:r>
            <a:r>
              <a:rPr lang="en-US" sz="3200" b="1" dirty="0"/>
              <a:t>GP2Y0A21YK0F</a:t>
            </a:r>
            <a:r>
              <a:rPr lang="el-GR" sz="3200" b="1" dirty="0"/>
              <a:t>)</a:t>
            </a:r>
            <a:br>
              <a:rPr lang="el-GR" sz="3200" b="1" dirty="0"/>
            </a:br>
            <a:r>
              <a:rPr lang="el-GR" sz="3200" b="1" dirty="0"/>
              <a:t>Το πρόβλημα</a:t>
            </a:r>
            <a:endParaRPr lang="el-GR" sz="3200" dirty="0"/>
          </a:p>
        </p:txBody>
      </p:sp>
      <p:sp>
        <p:nvSpPr>
          <p:cNvPr id="3" name="2 - Θέση περιεχομένου"/>
          <p:cNvSpPr>
            <a:spLocks noGrp="1"/>
          </p:cNvSpPr>
          <p:nvPr>
            <p:ph sz="quarter" idx="1"/>
          </p:nvPr>
        </p:nvSpPr>
        <p:spPr>
          <a:xfrm>
            <a:off x="-43" y="1238235"/>
            <a:ext cx="6288064" cy="4591032"/>
          </a:xfrm>
        </p:spPr>
        <p:txBody>
          <a:bodyPr>
            <a:normAutofit lnSpcReduction="10000"/>
          </a:bodyPr>
          <a:lstStyle/>
          <a:p>
            <a:r>
              <a:rPr lang="el-GR" sz="1867" dirty="0"/>
              <a:t>Οι αισθητήρες απόστασης IR εκπέμπουν ένα αναλογικό σήμα, το οποίο αλλάζει ανάλογα με την απόσταση μεταξύ του αισθητήρα και ενός αντικειμένου. </a:t>
            </a:r>
          </a:p>
          <a:p>
            <a:r>
              <a:rPr lang="el-GR" sz="1867" dirty="0"/>
              <a:t>Από το </a:t>
            </a:r>
            <a:r>
              <a:rPr lang="en-ID" sz="1867" dirty="0"/>
              <a:t>datasheet  </a:t>
            </a:r>
            <a:r>
              <a:rPr lang="el-GR" sz="1867" dirty="0"/>
              <a:t>μπορώ να </a:t>
            </a:r>
            <a:r>
              <a:rPr lang="el-GR" sz="1867" dirty="0" err="1"/>
              <a:t>δώ</a:t>
            </a:r>
            <a:r>
              <a:rPr lang="el-GR" sz="1867" dirty="0"/>
              <a:t> ότι η τάση εξόδου του SHARP GP2Y0A21YK0F κυμαίνεται από 2,3 V όταν ένα αντικείμενο απέχει 10 cm έως 0,4 V όταν ένα αντικείμενο απέχει 80 </a:t>
            </a:r>
            <a:r>
              <a:rPr lang="el-GR" sz="1867" dirty="0" err="1"/>
              <a:t>cm</a:t>
            </a:r>
            <a:r>
              <a:rPr lang="el-GR" sz="1867" dirty="0"/>
              <a:t>. Το γράφημα δείχνει επίσης γιατί η εύχρηστη περιοχή ανίχνευσης αρχίζει στα 10 </a:t>
            </a:r>
            <a:r>
              <a:rPr lang="el-GR" sz="1867" dirty="0" err="1"/>
              <a:t>cm</a:t>
            </a:r>
            <a:r>
              <a:rPr lang="el-GR" sz="1867" dirty="0"/>
              <a:t>. </a:t>
            </a:r>
          </a:p>
          <a:p>
            <a:r>
              <a:rPr lang="el-GR" sz="1867" dirty="0"/>
              <a:t>Παρατηρήστε ότι η τάση εξόδου ενός αντικειμένου που απέχει 2 cm είναι ίδια με την τάση εξόδου για ένα αντικείμενο που βρίσκεται σε απόσταση 28 </a:t>
            </a:r>
            <a:r>
              <a:rPr lang="el-GR" sz="1867" dirty="0" err="1"/>
              <a:t>cm</a:t>
            </a:r>
            <a:r>
              <a:rPr lang="el-GR" sz="1867" dirty="0"/>
              <a:t>. </a:t>
            </a:r>
          </a:p>
          <a:p>
            <a:r>
              <a:rPr lang="el-GR" sz="1867" dirty="0"/>
              <a:t>Η αξιοποιήσιμη περιοχή ανίχνευσης αρχίζει επομένως μετά την κορυφή σε περίπου 10 cm ή 2.3 V.</a:t>
            </a:r>
          </a:p>
          <a:p>
            <a:r>
              <a:rPr lang="el-GR" sz="1867" dirty="0">
                <a:solidFill>
                  <a:srgbClr val="FF0000"/>
                </a:solidFill>
              </a:rPr>
              <a:t>Η απόκριση είναι ΜΗ ΓΡΑΜΜΙΚΗ που σημαίνει: ΜΕΓΑΛΗ ΜΕΤΑΒΟΛΗ ΣΤΗΝ ΕΙΣΟΔΟ ΔΕΝ ΣΗΜΑΤΟΔΟΤΕΙ ΑΠΑΡΑΙΤΗΤΑ ΜΕΓΑΛΗ ΜΕΤΑΒΟΛΗ ΣΤΗΝ ΕΞΟΔΟ</a:t>
            </a:r>
          </a:p>
        </p:txBody>
      </p:sp>
      <p:sp>
        <p:nvSpPr>
          <p:cNvPr id="7" name="6 - Ορθογώνιο"/>
          <p:cNvSpPr/>
          <p:nvPr/>
        </p:nvSpPr>
        <p:spPr>
          <a:xfrm>
            <a:off x="3809984" y="6202940"/>
            <a:ext cx="8001056" cy="338554"/>
          </a:xfrm>
          <a:prstGeom prst="rect">
            <a:avLst/>
          </a:prstGeom>
        </p:spPr>
        <p:txBody>
          <a:bodyPr wrap="square">
            <a:spAutoFit/>
          </a:bodyPr>
          <a:lstStyle/>
          <a:p>
            <a:r>
              <a:rPr lang="en-US" sz="1600" dirty="0">
                <a:hlinkClick r:id="rId2"/>
              </a:rPr>
              <a:t>https://www.pololu.com/file/0J85/gp2y0a21yk0f.pdf</a:t>
            </a:r>
            <a:endParaRPr lang="el-GR" sz="1600" dirty="0"/>
          </a:p>
        </p:txBody>
      </p:sp>
      <p:pic>
        <p:nvPicPr>
          <p:cNvPr id="22534" name="Picture 6" descr="GP2Y0A21YK0F Output Characteristics"/>
          <p:cNvPicPr>
            <a:picLocks noChangeAspect="1" noChangeArrowheads="1"/>
          </p:cNvPicPr>
          <p:nvPr/>
        </p:nvPicPr>
        <p:blipFill>
          <a:blip r:embed="rId3" cstate="print"/>
          <a:srcRect/>
          <a:stretch>
            <a:fillRect/>
          </a:stretch>
        </p:blipFill>
        <p:spPr bwMode="auto">
          <a:xfrm>
            <a:off x="5999989" y="1316765"/>
            <a:ext cx="5810291" cy="4992555"/>
          </a:xfrm>
          <a:prstGeom prst="rect">
            <a:avLst/>
          </a:prstGeom>
          <a:noFill/>
        </p:spPr>
      </p:pic>
      <p:pic>
        <p:nvPicPr>
          <p:cNvPr id="22535"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428019" y="5310741"/>
            <a:ext cx="2171704" cy="1766664"/>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 Τίτλος"/>
          <p:cNvSpPr>
            <a:spLocks noGrp="1"/>
          </p:cNvSpPr>
          <p:nvPr>
            <p:ph type="title"/>
          </p:nvPr>
        </p:nvSpPr>
        <p:spPr>
          <a:xfrm>
            <a:off x="363669" y="164638"/>
            <a:ext cx="9956800" cy="768085"/>
          </a:xfrm>
        </p:spPr>
        <p:txBody>
          <a:bodyPr>
            <a:normAutofit/>
          </a:bodyPr>
          <a:lstStyle/>
          <a:p>
            <a:r>
              <a:rPr lang="el-GR" dirty="0">
                <a:solidFill>
                  <a:schemeClr val="tx1"/>
                </a:solidFill>
                <a:latin typeface="Book Antiqua" pitchFamily="18" charset="0"/>
              </a:rPr>
              <a:t>Γραμμικοποιώντας τον (</a:t>
            </a:r>
            <a:r>
              <a:rPr lang="en-US" sz="3733" b="1" dirty="0"/>
              <a:t>GP2Y0A21YK0F</a:t>
            </a:r>
            <a:r>
              <a:rPr lang="el-GR" sz="3733" b="1" dirty="0"/>
              <a:t>)</a:t>
            </a:r>
            <a:endParaRPr lang="el-GR" dirty="0">
              <a:solidFill>
                <a:schemeClr val="tx1"/>
              </a:solidFill>
            </a:endParaRPr>
          </a:p>
        </p:txBody>
      </p:sp>
      <p:pic>
        <p:nvPicPr>
          <p:cNvPr id="23556" name="Picture 4" descr="Acroname Figure 1: Example range distance vs GP2Y0A21 output voltage as converted by a 10-bit A2D diagram"/>
          <p:cNvPicPr>
            <a:picLocks noChangeAspect="1" noChangeArrowheads="1"/>
          </p:cNvPicPr>
          <p:nvPr/>
        </p:nvPicPr>
        <p:blipFill>
          <a:blip r:embed="rId2" cstate="print"/>
          <a:srcRect r="16567"/>
          <a:stretch>
            <a:fillRect/>
          </a:stretch>
        </p:blipFill>
        <p:spPr bwMode="auto">
          <a:xfrm>
            <a:off x="187419" y="3072317"/>
            <a:ext cx="5524539" cy="3429024"/>
          </a:xfrm>
          <a:prstGeom prst="rect">
            <a:avLst/>
          </a:prstGeom>
          <a:noFill/>
        </p:spPr>
      </p:pic>
      <p:sp>
        <p:nvSpPr>
          <p:cNvPr id="9" name="8 - TextBox"/>
          <p:cNvSpPr txBox="1"/>
          <p:nvPr/>
        </p:nvSpPr>
        <p:spPr>
          <a:xfrm>
            <a:off x="1333467" y="2095492"/>
            <a:ext cx="184731" cy="461665"/>
          </a:xfrm>
          <a:prstGeom prst="rect">
            <a:avLst/>
          </a:prstGeom>
          <a:noFill/>
        </p:spPr>
        <p:txBody>
          <a:bodyPr wrap="none" rtlCol="0">
            <a:spAutoFit/>
          </a:bodyPr>
          <a:lstStyle/>
          <a:p>
            <a:endParaRPr lang="el-GR" sz="2400" dirty="0"/>
          </a:p>
        </p:txBody>
      </p:sp>
      <p:sp>
        <p:nvSpPr>
          <p:cNvPr id="10" name="9 - TextBox"/>
          <p:cNvSpPr txBox="1"/>
          <p:nvPr/>
        </p:nvSpPr>
        <p:spPr>
          <a:xfrm>
            <a:off x="5573179" y="1124745"/>
            <a:ext cx="6091440" cy="1077218"/>
          </a:xfrm>
          <a:prstGeom prst="rect">
            <a:avLst/>
          </a:prstGeom>
          <a:noFill/>
        </p:spPr>
        <p:txBody>
          <a:bodyPr wrap="square" rtlCol="0">
            <a:spAutoFit/>
          </a:bodyPr>
          <a:lstStyle/>
          <a:p>
            <a:r>
              <a:rPr lang="el-GR" sz="1600" dirty="0"/>
              <a:t>Σύμφωνα με τ</a:t>
            </a:r>
            <a:r>
              <a:rPr lang="en-ID" sz="1600" dirty="0"/>
              <a:t>o </a:t>
            </a:r>
            <a:r>
              <a:rPr lang="en-ID" sz="1600" dirty="0" err="1"/>
              <a:t>datasheed</a:t>
            </a:r>
            <a:r>
              <a:rPr lang="en-ID" sz="1600" dirty="0"/>
              <a:t> </a:t>
            </a:r>
            <a:r>
              <a:rPr lang="el-GR" sz="1600" dirty="0"/>
              <a:t>της </a:t>
            </a:r>
            <a:r>
              <a:rPr lang="el-GR" sz="1600" dirty="0" err="1"/>
              <a:t>Sharp</a:t>
            </a:r>
            <a:r>
              <a:rPr lang="el-GR" sz="1600" dirty="0"/>
              <a:t> του αισθητήρα </a:t>
            </a:r>
            <a:r>
              <a:rPr lang="en-US" sz="1600" dirty="0"/>
              <a:t>GP2Y0A21YK0F</a:t>
            </a:r>
            <a:r>
              <a:rPr lang="el-GR" sz="1600" dirty="0"/>
              <a:t>, η τάση εξόδου του αισθητήρα ως συνάρτηση της απόστασης από ένα αντικείμενο περιγράφεται από την ακόλουθη εξίσωση :  </a:t>
            </a:r>
          </a:p>
          <a:p>
            <a:endParaRPr lang="el-GR" sz="1600" dirty="0"/>
          </a:p>
        </p:txBody>
      </p:sp>
      <p:pic>
        <p:nvPicPr>
          <p:cNvPr id="23557" name="Picture 5"/>
          <p:cNvPicPr>
            <a:picLocks noChangeAspect="1" noChangeArrowheads="1"/>
          </p:cNvPicPr>
          <p:nvPr/>
        </p:nvPicPr>
        <p:blipFill>
          <a:blip r:embed="rId3" cstate="print">
            <a:clrChange>
              <a:clrFrom>
                <a:srgbClr val="FFFFFF"/>
              </a:clrFrom>
              <a:clrTo>
                <a:srgbClr val="FFFFFF">
                  <a:alpha val="0"/>
                </a:srgbClr>
              </a:clrTo>
            </a:clrChange>
          </a:blip>
          <a:srcRect t="10729"/>
          <a:stretch>
            <a:fillRect/>
          </a:stretch>
        </p:blipFill>
        <p:spPr bwMode="auto">
          <a:xfrm>
            <a:off x="9525024" y="1925238"/>
            <a:ext cx="1809763" cy="792557"/>
          </a:xfrm>
          <a:prstGeom prst="rect">
            <a:avLst/>
          </a:prstGeom>
          <a:noFill/>
          <a:ln w="9525">
            <a:noFill/>
            <a:miter lim="800000"/>
            <a:headEnd/>
            <a:tailEnd/>
          </a:ln>
          <a:effectLst/>
        </p:spPr>
      </p:pic>
      <p:sp>
        <p:nvSpPr>
          <p:cNvPr id="12" name="11 - TextBox"/>
          <p:cNvSpPr txBox="1"/>
          <p:nvPr/>
        </p:nvSpPr>
        <p:spPr>
          <a:xfrm>
            <a:off x="380960" y="1223077"/>
            <a:ext cx="5238787" cy="830997"/>
          </a:xfrm>
          <a:prstGeom prst="rect">
            <a:avLst/>
          </a:prstGeom>
          <a:noFill/>
        </p:spPr>
        <p:txBody>
          <a:bodyPr wrap="square" rtlCol="0">
            <a:spAutoFit/>
          </a:bodyPr>
          <a:lstStyle/>
          <a:p>
            <a:r>
              <a:rPr lang="el-GR" sz="1600" dirty="0"/>
              <a:t>Η απόκριση του αισθητήρα φαίνεται στο ακόλουθο διάγραμμα</a:t>
            </a:r>
          </a:p>
          <a:p>
            <a:endParaRPr lang="el-GR" sz="1600" dirty="0"/>
          </a:p>
        </p:txBody>
      </p:sp>
      <p:sp>
        <p:nvSpPr>
          <p:cNvPr id="13" name="12 - TextBox"/>
          <p:cNvSpPr txBox="1"/>
          <p:nvPr/>
        </p:nvSpPr>
        <p:spPr>
          <a:xfrm>
            <a:off x="5545336" y="2650847"/>
            <a:ext cx="6284981" cy="1077218"/>
          </a:xfrm>
          <a:prstGeom prst="rect">
            <a:avLst/>
          </a:prstGeom>
          <a:noFill/>
        </p:spPr>
        <p:txBody>
          <a:bodyPr wrap="square" rtlCol="0">
            <a:spAutoFit/>
          </a:bodyPr>
          <a:lstStyle/>
          <a:p>
            <a:r>
              <a:rPr lang="el-GR" sz="1600" dirty="0"/>
              <a:t>Όπου </a:t>
            </a:r>
            <a:r>
              <a:rPr lang="en-US" sz="1600" dirty="0"/>
              <a:t>V </a:t>
            </a:r>
            <a:r>
              <a:rPr lang="el-GR" sz="1600" dirty="0"/>
              <a:t>είναι η  εξαχθείσα τάση και </a:t>
            </a:r>
            <a:r>
              <a:rPr lang="en-US" sz="1600" dirty="0"/>
              <a:t>R </a:t>
            </a:r>
            <a:r>
              <a:rPr lang="el-GR" sz="1600" dirty="0"/>
              <a:t>είναι η απόσταση στην  οποία εντοπίστηκε αντικείμενο. Αυτή η εξίσωση παράγει μια ευθεία γραμμή</a:t>
            </a:r>
            <a:r>
              <a:rPr lang="en-US" sz="1600" dirty="0"/>
              <a:t>. </a:t>
            </a:r>
            <a:r>
              <a:rPr lang="el-GR" sz="1600" dirty="0"/>
              <a:t>Η αναστροφή της απόστασης </a:t>
            </a:r>
            <a:r>
              <a:rPr lang="en-ID" sz="1600" dirty="0"/>
              <a:t>1/R </a:t>
            </a:r>
            <a:r>
              <a:rPr lang="el-GR" sz="1600" dirty="0" err="1"/>
              <a:t>δρά</a:t>
            </a:r>
            <a:r>
              <a:rPr lang="el-GR" sz="1600" dirty="0"/>
              <a:t> ως συνάρτηση </a:t>
            </a:r>
            <a:r>
              <a:rPr lang="el-GR" sz="1600" dirty="0" err="1"/>
              <a:t>γραμμικοποίησης</a:t>
            </a:r>
            <a:r>
              <a:rPr lang="el-GR" sz="1600" dirty="0"/>
              <a:t> όπως φαίνεται στο ακόλουθο διάγραμμα</a:t>
            </a:r>
          </a:p>
        </p:txBody>
      </p:sp>
      <p:pic>
        <p:nvPicPr>
          <p:cNvPr id="23559" name="Picture 7" descr="Acroname Figure 2: Linearized GP2Y0A21 Graph"/>
          <p:cNvPicPr>
            <a:picLocks noChangeAspect="1" noChangeArrowheads="1"/>
          </p:cNvPicPr>
          <p:nvPr/>
        </p:nvPicPr>
        <p:blipFill>
          <a:blip r:embed="rId4" cstate="print"/>
          <a:srcRect/>
          <a:stretch>
            <a:fillRect/>
          </a:stretch>
        </p:blipFill>
        <p:spPr bwMode="auto">
          <a:xfrm>
            <a:off x="6235331" y="4010093"/>
            <a:ext cx="5429288" cy="277928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 TextBox"/>
          <p:cNvSpPr txBox="1"/>
          <p:nvPr/>
        </p:nvSpPr>
        <p:spPr>
          <a:xfrm>
            <a:off x="1333467" y="2095492"/>
            <a:ext cx="184731" cy="461665"/>
          </a:xfrm>
          <a:prstGeom prst="rect">
            <a:avLst/>
          </a:prstGeom>
          <a:noFill/>
        </p:spPr>
        <p:txBody>
          <a:bodyPr wrap="none" rtlCol="0">
            <a:spAutoFit/>
          </a:bodyPr>
          <a:lstStyle/>
          <a:p>
            <a:endParaRPr lang="el-GR" sz="2400" dirty="0"/>
          </a:p>
        </p:txBody>
      </p:sp>
      <p:sp>
        <p:nvSpPr>
          <p:cNvPr id="12" name="11 - TextBox"/>
          <p:cNvSpPr txBox="1"/>
          <p:nvPr/>
        </p:nvSpPr>
        <p:spPr>
          <a:xfrm>
            <a:off x="95208" y="1333486"/>
            <a:ext cx="11620581" cy="584775"/>
          </a:xfrm>
          <a:prstGeom prst="rect">
            <a:avLst/>
          </a:prstGeom>
          <a:noFill/>
        </p:spPr>
        <p:txBody>
          <a:bodyPr wrap="square" rtlCol="0">
            <a:spAutoFit/>
          </a:bodyPr>
          <a:lstStyle/>
          <a:p>
            <a:r>
              <a:rPr lang="el-GR" sz="1600" dirty="0"/>
              <a:t>Το επόμενο βήμα είναι να βρούμε μια ευθεία γραμμή που θα συνδέει  την ΤΑΣΗ με τη συνάρτηση </a:t>
            </a:r>
            <a:r>
              <a:rPr lang="el-GR" sz="1600" dirty="0" err="1"/>
              <a:t>γραμμικοποιήσης</a:t>
            </a:r>
            <a:r>
              <a:rPr lang="el-GR" sz="1600" dirty="0"/>
              <a:t>. Θα πρέπει να βρούμε κατάλληλες σταθερές  </a:t>
            </a:r>
            <a:r>
              <a:rPr lang="en-US" sz="1600" dirty="0"/>
              <a:t>m </a:t>
            </a:r>
            <a:r>
              <a:rPr lang="el-GR" sz="1600" dirty="0"/>
              <a:t>και </a:t>
            </a:r>
            <a:r>
              <a:rPr lang="en-US" sz="1600" dirty="0"/>
              <a:t>b :</a:t>
            </a:r>
            <a:endParaRPr lang="el-GR" sz="1600" dirty="0"/>
          </a:p>
        </p:txBody>
      </p:sp>
      <p:pic>
        <p:nvPicPr>
          <p:cNvPr id="24578" name="Picture 2"/>
          <p:cNvPicPr>
            <a:picLocks noChangeAspect="1" noChangeArrowheads="1"/>
          </p:cNvPicPr>
          <p:nvPr/>
        </p:nvPicPr>
        <p:blipFill>
          <a:blip r:embed="rId2" cstate="print"/>
          <a:srcRect/>
          <a:stretch>
            <a:fillRect/>
          </a:stretch>
        </p:blipFill>
        <p:spPr bwMode="auto">
          <a:xfrm>
            <a:off x="285709" y="1904990"/>
            <a:ext cx="2514600" cy="673100"/>
          </a:xfrm>
          <a:prstGeom prst="rect">
            <a:avLst/>
          </a:prstGeom>
          <a:noFill/>
          <a:ln w="9525">
            <a:noFill/>
            <a:miter lim="800000"/>
            <a:headEnd/>
            <a:tailEnd/>
          </a:ln>
          <a:effectLst/>
        </p:spPr>
      </p:pic>
      <p:sp>
        <p:nvSpPr>
          <p:cNvPr id="11" name="10 - TextBox"/>
          <p:cNvSpPr txBox="1"/>
          <p:nvPr/>
        </p:nvSpPr>
        <p:spPr>
          <a:xfrm>
            <a:off x="190459" y="2381243"/>
            <a:ext cx="11334829" cy="584775"/>
          </a:xfrm>
          <a:prstGeom prst="rect">
            <a:avLst/>
          </a:prstGeom>
          <a:noFill/>
        </p:spPr>
        <p:txBody>
          <a:bodyPr wrap="square" rtlCol="0">
            <a:spAutoFit/>
          </a:bodyPr>
          <a:lstStyle/>
          <a:p>
            <a:r>
              <a:rPr lang="el-GR" sz="1600" dirty="0"/>
              <a:t>Σε αυτή τη περίπτωση το</a:t>
            </a:r>
            <a:r>
              <a:rPr lang="en-US" sz="1600" dirty="0"/>
              <a:t>, y </a:t>
            </a:r>
            <a:r>
              <a:rPr lang="el-GR" sz="1600" dirty="0"/>
              <a:t>ισούται με τη </a:t>
            </a:r>
            <a:r>
              <a:rPr lang="el-GR" sz="1600" dirty="0" err="1"/>
              <a:t>γραμμικοποιημένη</a:t>
            </a:r>
            <a:r>
              <a:rPr lang="el-GR" sz="1600" dirty="0"/>
              <a:t> απόσταση αντικαθιστώντας με </a:t>
            </a:r>
            <a:r>
              <a:rPr lang="en-US" sz="1600" dirty="0"/>
              <a:t>V </a:t>
            </a:r>
            <a:r>
              <a:rPr lang="el-GR" sz="1600" dirty="0"/>
              <a:t>όπου </a:t>
            </a:r>
            <a:r>
              <a:rPr lang="en-US" sz="1600" dirty="0"/>
              <a:t>x </a:t>
            </a:r>
            <a:r>
              <a:rPr lang="el-GR" sz="1600" dirty="0"/>
              <a:t> και με βάση τη συνάρτηση που είδαμε, παίρνουμε : </a:t>
            </a:r>
          </a:p>
        </p:txBody>
      </p:sp>
      <p:pic>
        <p:nvPicPr>
          <p:cNvPr id="24579" name="Picture 3"/>
          <p:cNvPicPr>
            <a:picLocks noChangeAspect="1" noChangeArrowheads="1"/>
          </p:cNvPicPr>
          <p:nvPr/>
        </p:nvPicPr>
        <p:blipFill>
          <a:blip r:embed="rId3" cstate="print"/>
          <a:srcRect/>
          <a:stretch>
            <a:fillRect/>
          </a:stretch>
        </p:blipFill>
        <p:spPr bwMode="auto">
          <a:xfrm>
            <a:off x="285710" y="2952747"/>
            <a:ext cx="2124089" cy="666755"/>
          </a:xfrm>
          <a:prstGeom prst="rect">
            <a:avLst/>
          </a:prstGeom>
          <a:noFill/>
          <a:ln w="9525">
            <a:noFill/>
            <a:miter lim="800000"/>
            <a:headEnd/>
            <a:tailEnd/>
          </a:ln>
          <a:effectLst/>
        </p:spPr>
      </p:pic>
      <p:sp>
        <p:nvSpPr>
          <p:cNvPr id="14" name="13 - TextBox"/>
          <p:cNvSpPr txBox="1"/>
          <p:nvPr/>
        </p:nvSpPr>
        <p:spPr>
          <a:xfrm>
            <a:off x="190459" y="3631172"/>
            <a:ext cx="8477309" cy="338554"/>
          </a:xfrm>
          <a:prstGeom prst="rect">
            <a:avLst/>
          </a:prstGeom>
          <a:noFill/>
        </p:spPr>
        <p:txBody>
          <a:bodyPr wrap="square" rtlCol="0">
            <a:spAutoFit/>
          </a:bodyPr>
          <a:lstStyle/>
          <a:p>
            <a:r>
              <a:rPr lang="el-GR" sz="1600" dirty="0"/>
              <a:t>Λύνοντας ως προς </a:t>
            </a:r>
            <a:r>
              <a:rPr lang="en-ID" sz="1600" dirty="0"/>
              <a:t>R</a:t>
            </a:r>
            <a:endParaRPr lang="el-GR" sz="1600" dirty="0"/>
          </a:p>
        </p:txBody>
      </p:sp>
      <p:pic>
        <p:nvPicPr>
          <p:cNvPr id="24580" name="Picture 4"/>
          <p:cNvPicPr>
            <a:picLocks noChangeAspect="1" noChangeArrowheads="1"/>
          </p:cNvPicPr>
          <p:nvPr/>
        </p:nvPicPr>
        <p:blipFill>
          <a:blip r:embed="rId4" cstate="print"/>
          <a:srcRect/>
          <a:stretch>
            <a:fillRect/>
          </a:stretch>
        </p:blipFill>
        <p:spPr bwMode="auto">
          <a:xfrm>
            <a:off x="190459" y="4000504"/>
            <a:ext cx="2571768" cy="727040"/>
          </a:xfrm>
          <a:prstGeom prst="rect">
            <a:avLst/>
          </a:prstGeom>
          <a:noFill/>
          <a:ln w="9525">
            <a:noFill/>
            <a:miter lim="800000"/>
            <a:headEnd/>
            <a:tailEnd/>
          </a:ln>
          <a:effectLst/>
        </p:spPr>
      </p:pic>
      <p:sp>
        <p:nvSpPr>
          <p:cNvPr id="13" name="1 - Τίτλος"/>
          <p:cNvSpPr txBox="1">
            <a:spLocks/>
          </p:cNvSpPr>
          <p:nvPr/>
        </p:nvSpPr>
        <p:spPr>
          <a:xfrm>
            <a:off x="363669" y="164638"/>
            <a:ext cx="9956800" cy="768085"/>
          </a:xfrm>
          <a:prstGeom prst="rect">
            <a:avLst/>
          </a:prstGeom>
        </p:spPr>
        <p:txBody>
          <a:bodyPr vert="horz" anchor="b">
            <a:normAutofit fontScale="97500"/>
          </a:bodyPr>
          <a:lstStyle/>
          <a:p>
            <a:pPr defTabSz="1219170">
              <a:spcBef>
                <a:spcPct val="0"/>
              </a:spcBef>
              <a:defRPr/>
            </a:pPr>
            <a:r>
              <a:rPr lang="el-GR" sz="4000" cap="small">
                <a:latin typeface="Book Antiqua" pitchFamily="18" charset="0"/>
                <a:ea typeface="+mj-ea"/>
                <a:cs typeface="+mj-cs"/>
              </a:rPr>
              <a:t>Γραμμικοποιώντασ τον (</a:t>
            </a:r>
            <a:r>
              <a:rPr lang="en-US" sz="3733" b="1" cap="small">
                <a:latin typeface="+mj-lt"/>
                <a:ea typeface="+mj-ea"/>
                <a:cs typeface="+mj-cs"/>
              </a:rPr>
              <a:t>GP2Y0A21YK0F</a:t>
            </a:r>
            <a:r>
              <a:rPr lang="el-GR" sz="3733" b="1" cap="small">
                <a:latin typeface="+mj-lt"/>
                <a:ea typeface="+mj-ea"/>
                <a:cs typeface="+mj-cs"/>
              </a:rPr>
              <a:t>)</a:t>
            </a:r>
            <a:endParaRPr lang="el-GR" sz="4000" cap="small" dirty="0">
              <a:latin typeface="+mj-lt"/>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 Τίτλος"/>
          <p:cNvSpPr>
            <a:spLocks noGrp="1"/>
          </p:cNvSpPr>
          <p:nvPr>
            <p:ph type="title"/>
          </p:nvPr>
        </p:nvSpPr>
        <p:spPr>
          <a:xfrm>
            <a:off x="143339" y="-27384"/>
            <a:ext cx="11521280" cy="772947"/>
          </a:xfrm>
        </p:spPr>
        <p:txBody>
          <a:bodyPr>
            <a:noAutofit/>
          </a:bodyPr>
          <a:lstStyle/>
          <a:p>
            <a:r>
              <a:rPr lang="el-GR" sz="3200" dirty="0" err="1">
                <a:latin typeface="Book Antiqua" pitchFamily="18" charset="0"/>
              </a:rPr>
              <a:t>Γραμμικοποιώντασ</a:t>
            </a:r>
            <a:r>
              <a:rPr lang="el-GR" sz="3200" dirty="0">
                <a:latin typeface="Book Antiqua" pitchFamily="18" charset="0"/>
              </a:rPr>
              <a:t> τον (</a:t>
            </a:r>
            <a:r>
              <a:rPr lang="en-US" sz="3200" b="1" dirty="0"/>
              <a:t>GP2Y0A21YK0F</a:t>
            </a:r>
            <a:r>
              <a:rPr lang="el-GR" sz="3200" b="1" dirty="0"/>
              <a:t>)</a:t>
            </a:r>
            <a:r>
              <a:rPr lang="en-US" sz="3200" b="1" dirty="0"/>
              <a:t>  excel (1)</a:t>
            </a:r>
            <a:endParaRPr lang="el-GR" sz="3200" dirty="0"/>
          </a:p>
        </p:txBody>
      </p:sp>
      <p:sp>
        <p:nvSpPr>
          <p:cNvPr id="15" name="14 - TextBox"/>
          <p:cNvSpPr txBox="1"/>
          <p:nvPr/>
        </p:nvSpPr>
        <p:spPr>
          <a:xfrm>
            <a:off x="677395" y="740702"/>
            <a:ext cx="6762755" cy="2719142"/>
          </a:xfrm>
          <a:prstGeom prst="rect">
            <a:avLst/>
          </a:prstGeom>
          <a:noFill/>
        </p:spPr>
        <p:txBody>
          <a:bodyPr wrap="square" rtlCol="0">
            <a:spAutoFit/>
          </a:bodyPr>
          <a:lstStyle/>
          <a:p>
            <a:r>
              <a:rPr lang="el-GR" sz="2133" b="1" u="sng" dirty="0"/>
              <a:t>Υπολογισμός εξίσωσης</a:t>
            </a:r>
          </a:p>
          <a:p>
            <a:r>
              <a:rPr lang="el-GR" sz="1867" dirty="0"/>
              <a:t>Δημιουργούμε με παρατηρήσεις τον πίνακα με εξαρτημένη μεταβλητή την τιμή του </a:t>
            </a:r>
            <a:r>
              <a:rPr lang="en-US" sz="1867" dirty="0"/>
              <a:t>A2D</a:t>
            </a:r>
            <a:r>
              <a:rPr lang="el-GR" sz="1867" dirty="0"/>
              <a:t> και ανεξάρτητη μεταβλητή  την απόσταση καθορίζοντας έτσι τον άξονα Υ και άξονα Χ αντίστοιχα. </a:t>
            </a:r>
          </a:p>
          <a:p>
            <a:r>
              <a:rPr lang="el-GR" sz="1867" dirty="0"/>
              <a:t>Προσοχή</a:t>
            </a:r>
          </a:p>
          <a:p>
            <a:r>
              <a:rPr lang="el-GR" sz="1867" dirty="0"/>
              <a:t>Είναι σημαντικό να είναι ΠΡΩΤΑ ο άξονας Χ και μετά ο άξονας Υ όπως ακριβώς φαίνεται στο σχήμα.</a:t>
            </a:r>
          </a:p>
          <a:p>
            <a:r>
              <a:rPr lang="el-GR" sz="1867" dirty="0"/>
              <a:t>Στη συνέχει  Καρτέλα Εισαγωγή </a:t>
            </a:r>
            <a:r>
              <a:rPr lang="el-GR" sz="1867" dirty="0">
                <a:sym typeface="Wingdings" pitchFamily="2" charset="2"/>
              </a:rPr>
              <a:t> Γράφημα Διασπορά  Διασπορά μόνο με δείκτες </a:t>
            </a:r>
            <a:endParaRPr lang="en-ID" sz="1867" dirty="0"/>
          </a:p>
        </p:txBody>
      </p:sp>
      <p:graphicFrame>
        <p:nvGraphicFramePr>
          <p:cNvPr id="7" name="6 - Πίνακας"/>
          <p:cNvGraphicFramePr>
            <a:graphicFrameLocks noGrp="1"/>
          </p:cNvGraphicFramePr>
          <p:nvPr/>
        </p:nvGraphicFramePr>
        <p:xfrm>
          <a:off x="9552384" y="836701"/>
          <a:ext cx="1824203" cy="5925289"/>
        </p:xfrm>
        <a:graphic>
          <a:graphicData uri="http://schemas.openxmlformats.org/drawingml/2006/table">
            <a:tbl>
              <a:tblPr/>
              <a:tblGrid>
                <a:gridCol w="901200">
                  <a:extLst>
                    <a:ext uri="{9D8B030D-6E8A-4147-A177-3AD203B41FA5}">
                      <a16:colId xmlns:a16="http://schemas.microsoft.com/office/drawing/2014/main" val="20000"/>
                    </a:ext>
                  </a:extLst>
                </a:gridCol>
                <a:gridCol w="923003">
                  <a:extLst>
                    <a:ext uri="{9D8B030D-6E8A-4147-A177-3AD203B41FA5}">
                      <a16:colId xmlns:a16="http://schemas.microsoft.com/office/drawing/2014/main" val="20001"/>
                    </a:ext>
                  </a:extLst>
                </a:gridCol>
              </a:tblGrid>
              <a:tr h="301285">
                <a:tc>
                  <a:txBody>
                    <a:bodyPr/>
                    <a:lstStyle/>
                    <a:p>
                      <a:pPr algn="ctr" fontAlgn="ctr"/>
                      <a:r>
                        <a:rPr lang="el-GR" sz="1100" b="1" i="0" u="none" strike="noStrike">
                          <a:solidFill>
                            <a:srgbClr val="515151"/>
                          </a:solidFill>
                          <a:latin typeface="Arial"/>
                        </a:rPr>
                        <a:t>αξονας Χ</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B6DDE8"/>
                    </a:solidFill>
                  </a:tcPr>
                </a:tc>
                <a:tc>
                  <a:txBody>
                    <a:bodyPr/>
                    <a:lstStyle/>
                    <a:p>
                      <a:pPr algn="ctr" fontAlgn="ctr"/>
                      <a:r>
                        <a:rPr lang="el-GR" sz="1100" b="1" i="0" u="none" strike="noStrike">
                          <a:solidFill>
                            <a:srgbClr val="515151"/>
                          </a:solidFill>
                          <a:latin typeface="Arial"/>
                        </a:rPr>
                        <a:t>Άξονας Υ</a:t>
                      </a:r>
                    </a:p>
                  </a:txBody>
                  <a:tcPr marL="0" marR="0" marT="0" marB="0" anchor="ctr">
                    <a:lnL w="12700" cap="flat" cmpd="sng" algn="ctr">
                      <a:solidFill>
                        <a:srgbClr val="E5E5E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B6DDE8"/>
                    </a:solidFill>
                  </a:tcPr>
                </a:tc>
                <a:extLst>
                  <a:ext uri="{0D108BD9-81ED-4DB2-BD59-A6C34878D82A}">
                    <a16:rowId xmlns:a16="http://schemas.microsoft.com/office/drawing/2014/main" val="10000"/>
                  </a:ext>
                </a:extLst>
              </a:tr>
              <a:tr h="208583">
                <a:tc>
                  <a:txBody>
                    <a:bodyPr/>
                    <a:lstStyle/>
                    <a:p>
                      <a:pPr algn="ctr" fontAlgn="ctr"/>
                      <a:r>
                        <a:rPr lang="el-GR" sz="1100" b="1" i="0" u="none" strike="noStrike">
                          <a:solidFill>
                            <a:srgbClr val="515151"/>
                          </a:solidFill>
                          <a:latin typeface="Arial"/>
                        </a:rPr>
                        <a:t>ανεξάρτητη</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B6DDE8"/>
                    </a:solidFill>
                  </a:tcPr>
                </a:tc>
                <a:tc>
                  <a:txBody>
                    <a:bodyPr/>
                    <a:lstStyle/>
                    <a:p>
                      <a:pPr algn="ctr" fontAlgn="ctr"/>
                      <a:r>
                        <a:rPr lang="el-GR" sz="1100" b="1" i="0" u="none" strike="noStrike">
                          <a:solidFill>
                            <a:srgbClr val="515151"/>
                          </a:solidFill>
                          <a:latin typeface="Arial"/>
                        </a:rPr>
                        <a:t>εξαρτημένη</a:t>
                      </a:r>
                    </a:p>
                  </a:txBody>
                  <a:tcPr marL="0" marR="0" marT="0" marB="0" anchor="ctr">
                    <a:lnL w="12700" cap="flat" cmpd="sng" algn="ctr">
                      <a:solidFill>
                        <a:srgbClr val="E5E5E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B6DDE8"/>
                    </a:solidFill>
                  </a:tcPr>
                </a:tc>
                <a:extLst>
                  <a:ext uri="{0D108BD9-81ED-4DB2-BD59-A6C34878D82A}">
                    <a16:rowId xmlns:a16="http://schemas.microsoft.com/office/drawing/2014/main" val="10001"/>
                  </a:ext>
                </a:extLst>
              </a:tr>
              <a:tr h="200857">
                <a:tc>
                  <a:txBody>
                    <a:bodyPr/>
                    <a:lstStyle/>
                    <a:p>
                      <a:pPr algn="ctr" fontAlgn="ctr"/>
                      <a:r>
                        <a:rPr lang="en-US" sz="1100" b="1" i="0" u="none" strike="noStrike">
                          <a:solidFill>
                            <a:srgbClr val="515151"/>
                          </a:solidFill>
                          <a:latin typeface="Arial"/>
                        </a:rPr>
                        <a:t>R (cm)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n-US" sz="1100" b="1" i="0" u="none" strike="noStrike">
                          <a:solidFill>
                            <a:srgbClr val="515151"/>
                          </a:solidFill>
                          <a:latin typeface="Arial"/>
                        </a:rPr>
                        <a:t>A2D</a:t>
                      </a:r>
                    </a:p>
                  </a:txBody>
                  <a:tcPr marL="0" marR="0" marT="0" marB="0" anchor="ctr">
                    <a:lnL w="12700" cap="flat" cmpd="sng" algn="ctr">
                      <a:solidFill>
                        <a:srgbClr val="E5E5E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02"/>
                  </a:ext>
                </a:extLst>
              </a:tr>
              <a:tr h="193132">
                <a:tc>
                  <a:txBody>
                    <a:bodyPr/>
                    <a:lstStyle/>
                    <a:p>
                      <a:pPr algn="ctr" fontAlgn="b"/>
                      <a:r>
                        <a:rPr lang="el-GR" sz="1100" b="0" i="0" u="none" strike="noStrike">
                          <a:solidFill>
                            <a:srgbClr val="515151"/>
                          </a:solidFill>
                          <a:latin typeface="Arial"/>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498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193132">
                <a:tc>
                  <a:txBody>
                    <a:bodyPr/>
                    <a:lstStyle/>
                    <a:p>
                      <a:pPr algn="ctr" fontAlgn="b"/>
                      <a:r>
                        <a:rPr lang="el-GR" sz="1100" b="0" i="0" u="none" strike="noStrike">
                          <a:solidFill>
                            <a:srgbClr val="515151"/>
                          </a:solidFill>
                          <a:latin typeface="Arial"/>
                        </a:rPr>
                        <a:t>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442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04"/>
                  </a:ext>
                </a:extLst>
              </a:tr>
              <a:tr h="193132">
                <a:tc>
                  <a:txBody>
                    <a:bodyPr/>
                    <a:lstStyle/>
                    <a:p>
                      <a:pPr algn="ctr" fontAlgn="b"/>
                      <a:r>
                        <a:rPr lang="el-GR" sz="1100" b="0" i="0" u="none" strike="noStrike">
                          <a:solidFill>
                            <a:srgbClr val="515151"/>
                          </a:solidFill>
                          <a:latin typeface="Arial"/>
                        </a:rPr>
                        <a:t>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388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05"/>
                  </a:ext>
                </a:extLst>
              </a:tr>
              <a:tr h="193132">
                <a:tc>
                  <a:txBody>
                    <a:bodyPr/>
                    <a:lstStyle/>
                    <a:p>
                      <a:pPr algn="ctr" fontAlgn="b"/>
                      <a:r>
                        <a:rPr lang="el-GR" sz="1100" b="0" i="0" u="none" strike="noStrike">
                          <a:solidFill>
                            <a:srgbClr val="515151"/>
                          </a:solidFill>
                          <a:latin typeface="Arial"/>
                        </a:rPr>
                        <a:t>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340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06"/>
                  </a:ext>
                </a:extLst>
              </a:tr>
              <a:tr h="193132">
                <a:tc>
                  <a:txBody>
                    <a:bodyPr/>
                    <a:lstStyle/>
                    <a:p>
                      <a:pPr algn="ctr" fontAlgn="b"/>
                      <a:r>
                        <a:rPr lang="el-GR" sz="1100" b="0" i="0" u="none" strike="noStrike">
                          <a:solidFill>
                            <a:srgbClr val="515151"/>
                          </a:solidFill>
                          <a:latin typeface="Arial"/>
                        </a:rPr>
                        <a:t>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304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07"/>
                  </a:ext>
                </a:extLst>
              </a:tr>
              <a:tr h="193132">
                <a:tc>
                  <a:txBody>
                    <a:bodyPr/>
                    <a:lstStyle/>
                    <a:p>
                      <a:pPr algn="ctr" fontAlgn="b"/>
                      <a:r>
                        <a:rPr lang="el-GR" sz="1100" b="0" i="0" u="none" strike="noStrike">
                          <a:solidFill>
                            <a:srgbClr val="515151"/>
                          </a:solidFill>
                          <a:latin typeface="Arial"/>
                        </a:rPr>
                        <a:t>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270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08"/>
                  </a:ext>
                </a:extLst>
              </a:tr>
              <a:tr h="193132">
                <a:tc>
                  <a:txBody>
                    <a:bodyPr/>
                    <a:lstStyle/>
                    <a:p>
                      <a:pPr algn="ctr" fontAlgn="b"/>
                      <a:r>
                        <a:rPr lang="el-GR" sz="1100" b="0" i="0" u="none" strike="noStrike">
                          <a:solidFill>
                            <a:srgbClr val="515151"/>
                          </a:solidFill>
                          <a:latin typeface="Arial"/>
                        </a:rPr>
                        <a:t>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246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09"/>
                  </a:ext>
                </a:extLst>
              </a:tr>
              <a:tr h="193132">
                <a:tc>
                  <a:txBody>
                    <a:bodyPr/>
                    <a:lstStyle/>
                    <a:p>
                      <a:pPr algn="ctr" fontAlgn="b"/>
                      <a:r>
                        <a:rPr lang="el-GR" sz="1100" b="0" i="0" u="none" strike="noStrike">
                          <a:solidFill>
                            <a:srgbClr val="515151"/>
                          </a:solidFill>
                          <a:latin typeface="Arial"/>
                        </a:rPr>
                        <a:t>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222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10"/>
                  </a:ext>
                </a:extLst>
              </a:tr>
              <a:tr h="193132">
                <a:tc>
                  <a:txBody>
                    <a:bodyPr/>
                    <a:lstStyle/>
                    <a:p>
                      <a:pPr algn="ctr" fontAlgn="b"/>
                      <a:r>
                        <a:rPr lang="el-GR" sz="1100" b="0" i="0" u="none" strike="noStrike">
                          <a:solidFill>
                            <a:srgbClr val="515151"/>
                          </a:solidFill>
                          <a:latin typeface="Arial"/>
                        </a:rPr>
                        <a:t>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203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11"/>
                  </a:ext>
                </a:extLst>
              </a:tr>
              <a:tr h="193132">
                <a:tc>
                  <a:txBody>
                    <a:bodyPr/>
                    <a:lstStyle/>
                    <a:p>
                      <a:pPr algn="ctr" fontAlgn="b"/>
                      <a:r>
                        <a:rPr lang="el-GR" sz="1100" b="0" i="0" u="none" strike="noStrike">
                          <a:solidFill>
                            <a:srgbClr val="515151"/>
                          </a:solidFill>
                          <a:latin typeface="Arial"/>
                        </a:rPr>
                        <a:t>65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186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12"/>
                  </a:ext>
                </a:extLst>
              </a:tr>
              <a:tr h="193132">
                <a:tc>
                  <a:txBody>
                    <a:bodyPr/>
                    <a:lstStyle/>
                    <a:p>
                      <a:pPr algn="ctr" fontAlgn="b"/>
                      <a:r>
                        <a:rPr lang="el-GR" sz="1100" b="0" i="0" u="none" strike="noStrike">
                          <a:solidFill>
                            <a:srgbClr val="515151"/>
                          </a:solidFill>
                          <a:latin typeface="Arial"/>
                        </a:rPr>
                        <a:t>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174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13"/>
                  </a:ext>
                </a:extLst>
              </a:tr>
              <a:tr h="193132">
                <a:tc>
                  <a:txBody>
                    <a:bodyPr/>
                    <a:lstStyle/>
                    <a:p>
                      <a:pPr algn="ctr" fontAlgn="b"/>
                      <a:r>
                        <a:rPr lang="el-GR" sz="1100" b="0" i="0" u="none" strike="noStrike">
                          <a:solidFill>
                            <a:srgbClr val="515151"/>
                          </a:solidFill>
                          <a:latin typeface="Arial"/>
                        </a:rPr>
                        <a:t>75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162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14"/>
                  </a:ext>
                </a:extLst>
              </a:tr>
              <a:tr h="193132">
                <a:tc>
                  <a:txBody>
                    <a:bodyPr/>
                    <a:lstStyle/>
                    <a:p>
                      <a:pPr algn="ctr" fontAlgn="b"/>
                      <a:r>
                        <a:rPr lang="el-GR" sz="1100" b="0" i="0" u="none" strike="noStrike">
                          <a:solidFill>
                            <a:srgbClr val="515151"/>
                          </a:solidFill>
                          <a:latin typeface="Arial"/>
                        </a:rPr>
                        <a:t>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154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15"/>
                  </a:ext>
                </a:extLst>
              </a:tr>
              <a:tr h="193132">
                <a:tc>
                  <a:txBody>
                    <a:bodyPr/>
                    <a:lstStyle/>
                    <a:p>
                      <a:pPr algn="ctr" fontAlgn="b"/>
                      <a:r>
                        <a:rPr lang="el-GR" sz="1100" b="0" i="0" u="none" strike="noStrike">
                          <a:solidFill>
                            <a:srgbClr val="515151"/>
                          </a:solidFill>
                          <a:latin typeface="Arial"/>
                        </a:rPr>
                        <a:t>85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145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16"/>
                  </a:ext>
                </a:extLst>
              </a:tr>
              <a:tr h="193132">
                <a:tc>
                  <a:txBody>
                    <a:bodyPr/>
                    <a:lstStyle/>
                    <a:p>
                      <a:pPr algn="ctr" fontAlgn="b"/>
                      <a:r>
                        <a:rPr lang="el-GR" sz="1100" b="0" i="0" u="none" strike="noStrike">
                          <a:solidFill>
                            <a:srgbClr val="515151"/>
                          </a:solidFill>
                          <a:latin typeface="Arial"/>
                        </a:rPr>
                        <a:t>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137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17"/>
                  </a:ext>
                </a:extLst>
              </a:tr>
              <a:tr h="193132">
                <a:tc>
                  <a:txBody>
                    <a:bodyPr/>
                    <a:lstStyle/>
                    <a:p>
                      <a:pPr algn="ctr" fontAlgn="b"/>
                      <a:r>
                        <a:rPr lang="el-GR" sz="1100" b="0" i="0" u="none" strike="noStrike">
                          <a:solidFill>
                            <a:srgbClr val="515151"/>
                          </a:solidFill>
                          <a:latin typeface="Arial"/>
                        </a:rPr>
                        <a:t>95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130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18"/>
                  </a:ext>
                </a:extLst>
              </a:tr>
              <a:tr h="193132">
                <a:tc>
                  <a:txBody>
                    <a:bodyPr/>
                    <a:lstStyle/>
                    <a:p>
                      <a:pPr algn="ctr" fontAlgn="b"/>
                      <a:r>
                        <a:rPr lang="el-GR" sz="1100" b="0" i="0" u="none" strike="noStrike">
                          <a:solidFill>
                            <a:srgbClr val="515151"/>
                          </a:solidFill>
                          <a:latin typeface="Arial"/>
                        </a:rPr>
                        <a:t>100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19"/>
                  </a:ext>
                </a:extLst>
              </a:tr>
              <a:tr h="193132">
                <a:tc>
                  <a:txBody>
                    <a:bodyPr/>
                    <a:lstStyle/>
                    <a:p>
                      <a:pPr algn="ctr" fontAlgn="b"/>
                      <a:r>
                        <a:rPr lang="el-GR" sz="1100" b="0" i="0" u="none" strike="noStrike">
                          <a:solidFill>
                            <a:srgbClr val="515151"/>
                          </a:solidFill>
                          <a:latin typeface="Arial"/>
                        </a:rPr>
                        <a:t>105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117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20"/>
                  </a:ext>
                </a:extLst>
              </a:tr>
              <a:tr h="193132">
                <a:tc>
                  <a:txBody>
                    <a:bodyPr/>
                    <a:lstStyle/>
                    <a:p>
                      <a:pPr algn="ctr" fontAlgn="b"/>
                      <a:r>
                        <a:rPr lang="el-GR" sz="1100" b="0" i="0" u="none" strike="noStrike">
                          <a:solidFill>
                            <a:srgbClr val="515151"/>
                          </a:solidFill>
                          <a:latin typeface="Arial"/>
                        </a:rPr>
                        <a:t>110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113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21"/>
                  </a:ext>
                </a:extLst>
              </a:tr>
              <a:tr h="193132">
                <a:tc>
                  <a:txBody>
                    <a:bodyPr/>
                    <a:lstStyle/>
                    <a:p>
                      <a:pPr algn="ctr" fontAlgn="b"/>
                      <a:r>
                        <a:rPr lang="el-GR" sz="1100" b="0" i="0" u="none" strike="noStrike">
                          <a:solidFill>
                            <a:srgbClr val="515151"/>
                          </a:solidFill>
                          <a:latin typeface="Arial"/>
                        </a:rPr>
                        <a:t>115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107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22"/>
                  </a:ext>
                </a:extLst>
              </a:tr>
              <a:tr h="193132">
                <a:tc>
                  <a:txBody>
                    <a:bodyPr/>
                    <a:lstStyle/>
                    <a:p>
                      <a:pPr algn="ctr" fontAlgn="b"/>
                      <a:r>
                        <a:rPr lang="el-GR" sz="1100" b="0" i="0" u="none" strike="noStrike">
                          <a:solidFill>
                            <a:srgbClr val="515151"/>
                          </a:solidFill>
                          <a:latin typeface="Arial"/>
                        </a:rPr>
                        <a:t>120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103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23"/>
                  </a:ext>
                </a:extLst>
              </a:tr>
              <a:tr h="193132">
                <a:tc>
                  <a:txBody>
                    <a:bodyPr/>
                    <a:lstStyle/>
                    <a:p>
                      <a:pPr algn="ctr" fontAlgn="b"/>
                      <a:r>
                        <a:rPr lang="el-GR" sz="1100" b="0" i="0" u="none" strike="noStrike">
                          <a:solidFill>
                            <a:srgbClr val="515151"/>
                          </a:solidFill>
                          <a:latin typeface="Arial"/>
                        </a:rPr>
                        <a:t>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98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24"/>
                  </a:ext>
                </a:extLst>
              </a:tr>
              <a:tr h="193132">
                <a:tc>
                  <a:txBody>
                    <a:bodyPr/>
                    <a:lstStyle/>
                    <a:p>
                      <a:pPr algn="ctr" fontAlgn="b"/>
                      <a:r>
                        <a:rPr lang="el-GR" sz="1100" b="0" i="0" u="none" strike="noStrike">
                          <a:solidFill>
                            <a:srgbClr val="515151"/>
                          </a:solidFill>
                          <a:latin typeface="Arial"/>
                        </a:rPr>
                        <a:t>130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95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25"/>
                  </a:ext>
                </a:extLst>
              </a:tr>
              <a:tr h="193132">
                <a:tc>
                  <a:txBody>
                    <a:bodyPr/>
                    <a:lstStyle/>
                    <a:p>
                      <a:pPr algn="ctr" fontAlgn="b"/>
                      <a:r>
                        <a:rPr lang="el-GR" sz="1100" b="0" i="0" u="none" strike="noStrike">
                          <a:solidFill>
                            <a:srgbClr val="515151"/>
                          </a:solidFill>
                          <a:latin typeface="Arial"/>
                        </a:rPr>
                        <a:t>135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26"/>
                  </a:ext>
                </a:extLst>
              </a:tr>
              <a:tr h="193132">
                <a:tc>
                  <a:txBody>
                    <a:bodyPr/>
                    <a:lstStyle/>
                    <a:p>
                      <a:pPr algn="ctr" fontAlgn="b"/>
                      <a:r>
                        <a:rPr lang="el-GR" sz="1100" b="0" i="0" u="none" strike="noStrike">
                          <a:solidFill>
                            <a:srgbClr val="515151"/>
                          </a:solidFill>
                          <a:latin typeface="Arial"/>
                        </a:rPr>
                        <a:t>140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a:solidFill>
                            <a:srgbClr val="515151"/>
                          </a:solidFill>
                          <a:latin typeface="Arial"/>
                        </a:rPr>
                        <a:t>87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27"/>
                  </a:ext>
                </a:extLst>
              </a:tr>
              <a:tr h="193132">
                <a:tc>
                  <a:txBody>
                    <a:bodyPr/>
                    <a:lstStyle/>
                    <a:p>
                      <a:pPr algn="ctr" fontAlgn="b"/>
                      <a:r>
                        <a:rPr lang="el-GR" sz="1100" b="0" i="0" u="none" strike="noStrike">
                          <a:solidFill>
                            <a:srgbClr val="515151"/>
                          </a:solidFill>
                          <a:latin typeface="Arial"/>
                        </a:rPr>
                        <a:t>145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b"/>
                      <a:r>
                        <a:rPr lang="el-GR" sz="1100" b="0" i="0" u="none" strike="noStrike">
                          <a:solidFill>
                            <a:srgbClr val="515151"/>
                          </a:solidFill>
                          <a:latin typeface="Arial"/>
                        </a:rPr>
                        <a:t>84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28"/>
                  </a:ext>
                </a:extLst>
              </a:tr>
              <a:tr h="193132">
                <a:tc>
                  <a:txBody>
                    <a:bodyPr/>
                    <a:lstStyle/>
                    <a:p>
                      <a:pPr algn="ctr" fontAlgn="b"/>
                      <a:r>
                        <a:rPr lang="el-GR" sz="1100" b="0" i="0" u="none" strike="noStrike">
                          <a:solidFill>
                            <a:srgbClr val="515151"/>
                          </a:solidFill>
                          <a:latin typeface="Arial"/>
                        </a:rPr>
                        <a:t>150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l-GR" sz="1100" b="0" i="0" u="none" strike="noStrike" dirty="0">
                          <a:solidFill>
                            <a:srgbClr val="515151"/>
                          </a:solidFill>
                          <a:latin typeface="Arial"/>
                        </a:rPr>
                        <a:t>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0029"/>
                  </a:ext>
                </a:extLst>
              </a:tr>
            </a:tbl>
          </a:graphicData>
        </a:graphic>
      </p:graphicFrame>
      <p:pic>
        <p:nvPicPr>
          <p:cNvPr id="1026" name="Picture 2"/>
          <p:cNvPicPr>
            <a:picLocks noChangeAspect="1" noChangeArrowheads="1"/>
          </p:cNvPicPr>
          <p:nvPr/>
        </p:nvPicPr>
        <p:blipFill>
          <a:blip r:embed="rId2" cstate="print"/>
          <a:srcRect l="3315" r="1633" b="11498"/>
          <a:stretch>
            <a:fillRect/>
          </a:stretch>
        </p:blipFill>
        <p:spPr bwMode="auto">
          <a:xfrm>
            <a:off x="815414" y="3813044"/>
            <a:ext cx="8256917" cy="2956057"/>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 Θέση περιεχομένου"/>
          <p:cNvSpPr>
            <a:spLocks noGrp="1"/>
          </p:cNvSpPr>
          <p:nvPr>
            <p:ph sz="quarter" idx="1"/>
          </p:nvPr>
        </p:nvSpPr>
        <p:spPr>
          <a:xfrm>
            <a:off x="598621" y="1596540"/>
            <a:ext cx="4633283" cy="4886557"/>
          </a:xfrm>
        </p:spPr>
        <p:txBody>
          <a:bodyPr>
            <a:normAutofit/>
          </a:bodyPr>
          <a:lstStyle/>
          <a:p>
            <a:pPr>
              <a:buNone/>
            </a:pPr>
            <a:r>
              <a:rPr lang="el-GR" dirty="0"/>
              <a:t>Με την ολοκλήρωση της εντολής παρουσιάζεται το γράφημα της </a:t>
            </a:r>
            <a:r>
              <a:rPr lang="en-US" dirty="0"/>
              <a:t>A2D </a:t>
            </a:r>
            <a:r>
              <a:rPr lang="el-GR" dirty="0"/>
              <a:t>τιμής της τάσης σε σχέση με την </a:t>
            </a:r>
            <a:r>
              <a:rPr lang="el-GR" dirty="0" err="1"/>
              <a:t>μετρηθείσα</a:t>
            </a:r>
            <a:r>
              <a:rPr lang="el-GR" dirty="0"/>
              <a:t> απόσταση. Το γράφημα με εμφανή τρόπο μας δείχνει ότι απέχει πολύ από το να μπορεί να γίνει μια αξιόπιστη παρεμβολή μιας ευθείας γραμμής. </a:t>
            </a:r>
          </a:p>
        </p:txBody>
      </p:sp>
      <p:graphicFrame>
        <p:nvGraphicFramePr>
          <p:cNvPr id="5" name="2 - Γράφημα"/>
          <p:cNvGraphicFramePr/>
          <p:nvPr/>
        </p:nvGraphicFramePr>
        <p:xfrm>
          <a:off x="5903979" y="1412776"/>
          <a:ext cx="6058307" cy="4896544"/>
        </p:xfrm>
        <a:graphic>
          <a:graphicData uri="http://schemas.openxmlformats.org/drawingml/2006/chart">
            <c:chart xmlns:c="http://schemas.openxmlformats.org/drawingml/2006/chart" xmlns:r="http://schemas.openxmlformats.org/officeDocument/2006/relationships" r:id="rId2"/>
          </a:graphicData>
        </a:graphic>
      </p:graphicFrame>
      <p:sp>
        <p:nvSpPr>
          <p:cNvPr id="6" name="1 - Τίτλος"/>
          <p:cNvSpPr txBox="1">
            <a:spLocks/>
          </p:cNvSpPr>
          <p:nvPr/>
        </p:nvSpPr>
        <p:spPr>
          <a:xfrm>
            <a:off x="143339" y="-27384"/>
            <a:ext cx="11521280" cy="772947"/>
          </a:xfrm>
          <a:prstGeom prst="rect">
            <a:avLst/>
          </a:prstGeom>
        </p:spPr>
        <p:txBody>
          <a:bodyPr vert="horz" anchor="b">
            <a:noAutofit/>
          </a:bodyPr>
          <a:lstStyle/>
          <a:p>
            <a:pPr defTabSz="1219170">
              <a:spcBef>
                <a:spcPct val="0"/>
              </a:spcBef>
              <a:defRPr/>
            </a:pPr>
            <a:r>
              <a:rPr lang="el-GR" sz="3200" cap="small" dirty="0" err="1">
                <a:latin typeface="Book Antiqua" pitchFamily="18" charset="0"/>
                <a:ea typeface="+mj-ea"/>
                <a:cs typeface="+mj-cs"/>
              </a:rPr>
              <a:t>Γραμμικοποιώντασ</a:t>
            </a:r>
            <a:r>
              <a:rPr lang="el-GR" sz="3200" cap="small" dirty="0">
                <a:latin typeface="Book Antiqua" pitchFamily="18" charset="0"/>
                <a:ea typeface="+mj-ea"/>
                <a:cs typeface="+mj-cs"/>
              </a:rPr>
              <a:t> τον (</a:t>
            </a:r>
            <a:r>
              <a:rPr lang="en-US" sz="3200" b="1" cap="small" dirty="0">
                <a:latin typeface="+mj-lt"/>
                <a:ea typeface="+mj-ea"/>
                <a:cs typeface="+mj-cs"/>
              </a:rPr>
              <a:t>GP2Y0A21YK0F</a:t>
            </a:r>
            <a:r>
              <a:rPr lang="el-GR" sz="3200" b="1" cap="small" dirty="0">
                <a:latin typeface="+mj-lt"/>
                <a:ea typeface="+mj-ea"/>
                <a:cs typeface="+mj-cs"/>
              </a:rPr>
              <a:t>)</a:t>
            </a:r>
            <a:r>
              <a:rPr lang="en-US" sz="3200" b="1" cap="small" dirty="0">
                <a:latin typeface="+mj-lt"/>
                <a:ea typeface="+mj-ea"/>
                <a:cs typeface="+mj-cs"/>
              </a:rPr>
              <a:t>  excel (2)</a:t>
            </a:r>
            <a:endParaRPr lang="el-GR" sz="3200" cap="small" dirty="0">
              <a:latin typeface="+mj-lt"/>
              <a:ea typeface="+mj-ea"/>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 Θέση περιεχομένου"/>
          <p:cNvSpPr>
            <a:spLocks noGrp="1"/>
          </p:cNvSpPr>
          <p:nvPr>
            <p:ph sz="quarter" idx="1"/>
          </p:nvPr>
        </p:nvSpPr>
        <p:spPr>
          <a:xfrm>
            <a:off x="598621" y="1028734"/>
            <a:ext cx="7225571" cy="5454364"/>
          </a:xfrm>
        </p:spPr>
        <p:txBody>
          <a:bodyPr>
            <a:normAutofit/>
          </a:bodyPr>
          <a:lstStyle/>
          <a:p>
            <a:pPr>
              <a:buNone/>
            </a:pPr>
            <a:r>
              <a:rPr lang="el-GR" dirty="0"/>
              <a:t>Ως εκ</a:t>
            </a:r>
            <a:r>
              <a:rPr lang="en-US" dirty="0"/>
              <a:t> </a:t>
            </a:r>
            <a:r>
              <a:rPr lang="el-GR" dirty="0"/>
              <a:t>τούτου ακολουθούνται οι ενέργειες : </a:t>
            </a:r>
          </a:p>
          <a:p>
            <a:pPr>
              <a:buNone/>
            </a:pPr>
            <a:r>
              <a:rPr lang="el-GR" dirty="0"/>
              <a:t>Στον άξονα των Χ μπαίνει η </a:t>
            </a:r>
            <a:r>
              <a:rPr lang="en-US" dirty="0"/>
              <a:t>A2D </a:t>
            </a:r>
            <a:r>
              <a:rPr lang="el-GR" dirty="0"/>
              <a:t>τιμή της τάσης </a:t>
            </a:r>
            <a:r>
              <a:rPr lang="en-US" dirty="0"/>
              <a:t> </a:t>
            </a:r>
            <a:endParaRPr lang="el-GR" dirty="0"/>
          </a:p>
          <a:p>
            <a:pPr>
              <a:buNone/>
            </a:pPr>
            <a:r>
              <a:rPr lang="en-US" dirty="0"/>
              <a:t>(</a:t>
            </a:r>
            <a:r>
              <a:rPr lang="el-GR" dirty="0"/>
              <a:t>προσοχή Αντιστροφή αξόνων)</a:t>
            </a:r>
          </a:p>
          <a:p>
            <a:pPr>
              <a:buNone/>
            </a:pPr>
            <a:r>
              <a:rPr lang="el-GR" dirty="0"/>
              <a:t>Στον </a:t>
            </a:r>
            <a:r>
              <a:rPr lang="en-US" dirty="0"/>
              <a:t>Y </a:t>
            </a:r>
            <a:r>
              <a:rPr lang="el-GR" dirty="0"/>
              <a:t>μπαίνει η τιμή </a:t>
            </a:r>
            <a:r>
              <a:rPr lang="en-US" dirty="0"/>
              <a:t>1/(</a:t>
            </a:r>
            <a:r>
              <a:rPr lang="en-US" dirty="0" err="1"/>
              <a:t>R+k</a:t>
            </a:r>
            <a:r>
              <a:rPr lang="en-US" dirty="0"/>
              <a:t>). </a:t>
            </a:r>
            <a:r>
              <a:rPr lang="el-GR" dirty="0"/>
              <a:t>Όπου </a:t>
            </a:r>
            <a:r>
              <a:rPr lang="en-US" dirty="0"/>
              <a:t>R </a:t>
            </a:r>
            <a:r>
              <a:rPr lang="el-GR" dirty="0"/>
              <a:t>η </a:t>
            </a:r>
            <a:r>
              <a:rPr lang="el-GR" dirty="0" err="1"/>
              <a:t>μετρηθείσα</a:t>
            </a:r>
            <a:r>
              <a:rPr lang="el-GR" dirty="0"/>
              <a:t> απόσταση και κ μια μεταβλητή την οποία εμπειρικά αρχικοποιούμε κ=0.5 δημιουργούμε έτσι τον δίπλα πίνακα</a:t>
            </a:r>
          </a:p>
          <a:p>
            <a:endParaRPr lang="el-GR" dirty="0"/>
          </a:p>
        </p:txBody>
      </p:sp>
      <p:sp>
        <p:nvSpPr>
          <p:cNvPr id="5" name="1 - Τίτλος"/>
          <p:cNvSpPr>
            <a:spLocks noGrp="1"/>
          </p:cNvSpPr>
          <p:nvPr>
            <p:ph type="title"/>
          </p:nvPr>
        </p:nvSpPr>
        <p:spPr>
          <a:xfrm>
            <a:off x="143339" y="-27384"/>
            <a:ext cx="11521280" cy="772947"/>
          </a:xfrm>
        </p:spPr>
        <p:txBody>
          <a:bodyPr>
            <a:noAutofit/>
          </a:bodyPr>
          <a:lstStyle/>
          <a:p>
            <a:r>
              <a:rPr lang="el-GR" sz="3200" dirty="0" err="1">
                <a:latin typeface="Book Antiqua" pitchFamily="18" charset="0"/>
              </a:rPr>
              <a:t>Γραμμικοποιώντας</a:t>
            </a:r>
            <a:r>
              <a:rPr lang="el-GR" sz="3200" dirty="0">
                <a:latin typeface="Book Antiqua" pitchFamily="18" charset="0"/>
              </a:rPr>
              <a:t> τον (</a:t>
            </a:r>
            <a:r>
              <a:rPr lang="en-US" sz="3200" b="1" dirty="0"/>
              <a:t>GP2Y0A21YK0F</a:t>
            </a:r>
            <a:r>
              <a:rPr lang="el-GR" sz="3200" b="1" dirty="0"/>
              <a:t>)</a:t>
            </a:r>
            <a:r>
              <a:rPr lang="en-US" sz="3200" b="1" dirty="0"/>
              <a:t>  excel (3)</a:t>
            </a:r>
            <a:endParaRPr lang="el-GR" sz="3200" dirty="0"/>
          </a:p>
        </p:txBody>
      </p:sp>
      <p:graphicFrame>
        <p:nvGraphicFramePr>
          <p:cNvPr id="6" name="5 - Πίνακας"/>
          <p:cNvGraphicFramePr>
            <a:graphicFrameLocks noGrp="1"/>
          </p:cNvGraphicFramePr>
          <p:nvPr/>
        </p:nvGraphicFramePr>
        <p:xfrm>
          <a:off x="8454205" y="836713"/>
          <a:ext cx="2154296" cy="5418655"/>
        </p:xfrm>
        <a:graphic>
          <a:graphicData uri="http://schemas.openxmlformats.org/drawingml/2006/table">
            <a:tbl>
              <a:tblPr/>
              <a:tblGrid>
                <a:gridCol w="931333">
                  <a:extLst>
                    <a:ext uri="{9D8B030D-6E8A-4147-A177-3AD203B41FA5}">
                      <a16:colId xmlns:a16="http://schemas.microsoft.com/office/drawing/2014/main" val="20000"/>
                    </a:ext>
                  </a:extLst>
                </a:gridCol>
                <a:gridCol w="696148">
                  <a:extLst>
                    <a:ext uri="{9D8B030D-6E8A-4147-A177-3AD203B41FA5}">
                      <a16:colId xmlns:a16="http://schemas.microsoft.com/office/drawing/2014/main" val="20001"/>
                    </a:ext>
                  </a:extLst>
                </a:gridCol>
                <a:gridCol w="526815">
                  <a:extLst>
                    <a:ext uri="{9D8B030D-6E8A-4147-A177-3AD203B41FA5}">
                      <a16:colId xmlns:a16="http://schemas.microsoft.com/office/drawing/2014/main" val="20002"/>
                    </a:ext>
                  </a:extLst>
                </a:gridCol>
              </a:tblGrid>
              <a:tr h="373944">
                <a:tc>
                  <a:txBody>
                    <a:bodyPr/>
                    <a:lstStyle/>
                    <a:p>
                      <a:pPr algn="ctr" fontAlgn="ctr"/>
                      <a:r>
                        <a:rPr lang="el-GR" sz="1100" b="1" i="0" u="none" strike="noStrike">
                          <a:solidFill>
                            <a:srgbClr val="515151"/>
                          </a:solidFill>
                          <a:latin typeface="Arial"/>
                        </a:rPr>
                        <a:t>Άξονας Χ    (10 </a:t>
                      </a:r>
                      <a:r>
                        <a:rPr lang="en-US" sz="1100" b="1" i="0" u="none" strike="noStrike">
                          <a:solidFill>
                            <a:srgbClr val="515151"/>
                          </a:solidFill>
                          <a:latin typeface="Arial"/>
                        </a:rPr>
                        <a:t>bit A2D)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1100" b="1" i="0" u="none" strike="noStrike">
                          <a:solidFill>
                            <a:srgbClr val="515151"/>
                          </a:solidFill>
                          <a:latin typeface="Arial"/>
                        </a:rPr>
                        <a:t>αξονας Υ 1/(</a:t>
                      </a:r>
                      <a:r>
                        <a:rPr lang="en-US" sz="1100" b="1" i="0" u="none" strike="noStrike">
                          <a:solidFill>
                            <a:srgbClr val="515151"/>
                          </a:solidFill>
                          <a:latin typeface="Arial"/>
                        </a:rPr>
                        <a:t>R+k)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1500" b="0" i="0" u="none" strike="noStrike">
                          <a:solidFill>
                            <a:srgbClr val="000000"/>
                          </a:solidFill>
                          <a:latin typeface="Calibri"/>
                        </a:rPr>
                        <a:t>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extLst>
                  <a:ext uri="{0D108BD9-81ED-4DB2-BD59-A6C34878D82A}">
                    <a16:rowId xmlns:a16="http://schemas.microsoft.com/office/drawing/2014/main" val="10000"/>
                  </a:ext>
                </a:extLst>
              </a:tr>
              <a:tr h="275167">
                <a:tc>
                  <a:txBody>
                    <a:bodyPr/>
                    <a:lstStyle/>
                    <a:p>
                      <a:pPr algn="ctr" fontAlgn="b"/>
                      <a:r>
                        <a:rPr lang="el-GR" sz="900" b="1" i="0" u="none" strike="noStrike">
                          <a:solidFill>
                            <a:srgbClr val="515151"/>
                          </a:solidFill>
                          <a:latin typeface="Arial"/>
                        </a:rPr>
                        <a:t>498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0,048780488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l-GR" sz="1600" b="0" i="0" u="none" strike="noStrike">
                          <a:solidFill>
                            <a:srgbClr val="000000"/>
                          </a:solidFill>
                          <a:latin typeface="Calibri"/>
                        </a:rPr>
                        <a:t>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3444">
                <a:tc>
                  <a:txBody>
                    <a:bodyPr/>
                    <a:lstStyle/>
                    <a:p>
                      <a:pPr algn="ctr" fontAlgn="ctr"/>
                      <a:r>
                        <a:rPr lang="el-GR" sz="900" b="1" i="0" u="none" strike="noStrike">
                          <a:solidFill>
                            <a:srgbClr val="515151"/>
                          </a:solidFill>
                          <a:latin typeface="Arial"/>
                        </a:rPr>
                        <a:t>442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0,03921569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183444">
                <a:tc>
                  <a:txBody>
                    <a:bodyPr/>
                    <a:lstStyle/>
                    <a:p>
                      <a:pPr algn="ctr" fontAlgn="b"/>
                      <a:r>
                        <a:rPr lang="el-GR" sz="900" b="1" i="0" u="none" strike="noStrike">
                          <a:solidFill>
                            <a:srgbClr val="515151"/>
                          </a:solidFill>
                          <a:latin typeface="Arial"/>
                        </a:rPr>
                        <a:t>388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0,032786885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183444">
                <a:tc>
                  <a:txBody>
                    <a:bodyPr/>
                    <a:lstStyle/>
                    <a:p>
                      <a:pPr algn="ctr" fontAlgn="ctr"/>
                      <a:r>
                        <a:rPr lang="el-GR" sz="900" b="1" i="0" u="none" strike="noStrike">
                          <a:solidFill>
                            <a:srgbClr val="515151"/>
                          </a:solidFill>
                          <a:latin typeface="Arial"/>
                        </a:rPr>
                        <a:t>340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0,02816901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183444">
                <a:tc>
                  <a:txBody>
                    <a:bodyPr/>
                    <a:lstStyle/>
                    <a:p>
                      <a:pPr algn="ctr" fontAlgn="b"/>
                      <a:r>
                        <a:rPr lang="el-GR" sz="900" b="1" i="0" u="none" strike="noStrike">
                          <a:solidFill>
                            <a:srgbClr val="515151"/>
                          </a:solidFill>
                          <a:latin typeface="Arial"/>
                        </a:rPr>
                        <a:t>304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0,024691358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183444">
                <a:tc>
                  <a:txBody>
                    <a:bodyPr/>
                    <a:lstStyle/>
                    <a:p>
                      <a:pPr algn="ctr" fontAlgn="ctr"/>
                      <a:r>
                        <a:rPr lang="el-GR" sz="900" b="1" i="0" u="none" strike="noStrike">
                          <a:solidFill>
                            <a:srgbClr val="515151"/>
                          </a:solidFill>
                          <a:latin typeface="Arial"/>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0,02197802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6"/>
                  </a:ext>
                </a:extLst>
              </a:tr>
              <a:tr h="183444">
                <a:tc>
                  <a:txBody>
                    <a:bodyPr/>
                    <a:lstStyle/>
                    <a:p>
                      <a:pPr algn="ctr" fontAlgn="b"/>
                      <a:r>
                        <a:rPr lang="el-GR" sz="900" b="1" i="0" u="none" strike="noStrike">
                          <a:solidFill>
                            <a:srgbClr val="515151"/>
                          </a:solidFill>
                          <a:latin typeface="Arial"/>
                        </a:rPr>
                        <a:t>246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0,01980198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7"/>
                  </a:ext>
                </a:extLst>
              </a:tr>
              <a:tr h="183444">
                <a:tc>
                  <a:txBody>
                    <a:bodyPr/>
                    <a:lstStyle/>
                    <a:p>
                      <a:pPr algn="ctr" fontAlgn="ctr"/>
                      <a:r>
                        <a:rPr lang="el-GR" sz="900" b="1" i="0" u="none" strike="noStrike">
                          <a:solidFill>
                            <a:srgbClr val="515151"/>
                          </a:solidFill>
                          <a:latin typeface="Arial"/>
                        </a:rPr>
                        <a:t>222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0,01801802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8"/>
                  </a:ext>
                </a:extLst>
              </a:tr>
              <a:tr h="183444">
                <a:tc>
                  <a:txBody>
                    <a:bodyPr/>
                    <a:lstStyle/>
                    <a:p>
                      <a:pPr algn="ctr" fontAlgn="b"/>
                      <a:r>
                        <a:rPr lang="el-GR" sz="900" b="1" i="0" u="none" strike="noStrike">
                          <a:solidFill>
                            <a:srgbClr val="515151"/>
                          </a:solidFill>
                          <a:latin typeface="Arial"/>
                        </a:rPr>
                        <a:t>203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0,016528926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9"/>
                  </a:ext>
                </a:extLst>
              </a:tr>
              <a:tr h="183444">
                <a:tc>
                  <a:txBody>
                    <a:bodyPr/>
                    <a:lstStyle/>
                    <a:p>
                      <a:pPr algn="ctr" fontAlgn="ctr"/>
                      <a:r>
                        <a:rPr lang="el-GR" sz="900" b="1" i="0" u="none" strike="noStrike">
                          <a:solidFill>
                            <a:srgbClr val="515151"/>
                          </a:solidFill>
                          <a:latin typeface="Arial"/>
                        </a:rPr>
                        <a:t>186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0,01526718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0"/>
                  </a:ext>
                </a:extLst>
              </a:tr>
              <a:tr h="183444">
                <a:tc>
                  <a:txBody>
                    <a:bodyPr/>
                    <a:lstStyle/>
                    <a:p>
                      <a:pPr algn="ctr" fontAlgn="b"/>
                      <a:r>
                        <a:rPr lang="el-GR" sz="900" b="1" i="0" u="none" strike="noStrike">
                          <a:solidFill>
                            <a:srgbClr val="515151"/>
                          </a:solidFill>
                          <a:latin typeface="Arial"/>
                        </a:rPr>
                        <a:t>174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0,014184397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1"/>
                  </a:ext>
                </a:extLst>
              </a:tr>
              <a:tr h="183444">
                <a:tc>
                  <a:txBody>
                    <a:bodyPr/>
                    <a:lstStyle/>
                    <a:p>
                      <a:pPr algn="ctr" fontAlgn="ctr"/>
                      <a:r>
                        <a:rPr lang="el-GR" sz="900" b="1" i="0" u="none" strike="noStrike">
                          <a:solidFill>
                            <a:srgbClr val="515151"/>
                          </a:solidFill>
                          <a:latin typeface="Arial"/>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0,01324503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2"/>
                  </a:ext>
                </a:extLst>
              </a:tr>
              <a:tr h="183444">
                <a:tc>
                  <a:txBody>
                    <a:bodyPr/>
                    <a:lstStyle/>
                    <a:p>
                      <a:pPr algn="ctr" fontAlgn="b"/>
                      <a:r>
                        <a:rPr lang="el-GR" sz="900" b="1" i="0" u="none" strike="noStrike">
                          <a:solidFill>
                            <a:srgbClr val="515151"/>
                          </a:solidFill>
                          <a:latin typeface="Arial"/>
                        </a:rPr>
                        <a:t>154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0,01242236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3"/>
                  </a:ext>
                </a:extLst>
              </a:tr>
              <a:tr h="183444">
                <a:tc>
                  <a:txBody>
                    <a:bodyPr/>
                    <a:lstStyle/>
                    <a:p>
                      <a:pPr algn="ctr" fontAlgn="ctr"/>
                      <a:r>
                        <a:rPr lang="el-GR" sz="900" b="1" i="0" u="none" strike="noStrike">
                          <a:solidFill>
                            <a:srgbClr val="515151"/>
                          </a:solidFill>
                          <a:latin typeface="Arial"/>
                        </a:rPr>
                        <a:t>145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0,01169591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4"/>
                  </a:ext>
                </a:extLst>
              </a:tr>
              <a:tr h="183444">
                <a:tc>
                  <a:txBody>
                    <a:bodyPr/>
                    <a:lstStyle/>
                    <a:p>
                      <a:pPr algn="ctr" fontAlgn="b"/>
                      <a:r>
                        <a:rPr lang="el-GR" sz="900" b="1" i="0" u="none" strike="noStrike">
                          <a:solidFill>
                            <a:srgbClr val="515151"/>
                          </a:solidFill>
                          <a:latin typeface="Arial"/>
                        </a:rPr>
                        <a:t>137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0,011049724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5"/>
                  </a:ext>
                </a:extLst>
              </a:tr>
              <a:tr h="183444">
                <a:tc>
                  <a:txBody>
                    <a:bodyPr/>
                    <a:lstStyle/>
                    <a:p>
                      <a:pPr algn="ctr" fontAlgn="ctr"/>
                      <a:r>
                        <a:rPr lang="el-GR" sz="900" b="1" i="0" u="none" strike="noStrike">
                          <a:solidFill>
                            <a:srgbClr val="515151"/>
                          </a:solidFill>
                          <a:latin typeface="Arial"/>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0,0104712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6"/>
                  </a:ext>
                </a:extLst>
              </a:tr>
              <a:tr h="183444">
                <a:tc>
                  <a:txBody>
                    <a:bodyPr/>
                    <a:lstStyle/>
                    <a:p>
                      <a:pPr algn="ctr" fontAlgn="b"/>
                      <a:r>
                        <a:rPr lang="el-GR" sz="900" b="1" i="0" u="none" strike="noStrike">
                          <a:solidFill>
                            <a:srgbClr val="515151"/>
                          </a:solidFill>
                          <a:latin typeface="Arial"/>
                        </a:rPr>
                        <a:t>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0,009950249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7"/>
                  </a:ext>
                </a:extLst>
              </a:tr>
              <a:tr h="183444">
                <a:tc>
                  <a:txBody>
                    <a:bodyPr/>
                    <a:lstStyle/>
                    <a:p>
                      <a:pPr algn="ctr" fontAlgn="ctr"/>
                      <a:r>
                        <a:rPr lang="el-GR" sz="900" b="1" i="0" u="none" strike="noStrike">
                          <a:solidFill>
                            <a:srgbClr val="515151"/>
                          </a:solidFill>
                          <a:latin typeface="Arial"/>
                        </a:rPr>
                        <a:t>117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0,00947867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8"/>
                  </a:ext>
                </a:extLst>
              </a:tr>
              <a:tr h="183444">
                <a:tc>
                  <a:txBody>
                    <a:bodyPr/>
                    <a:lstStyle/>
                    <a:p>
                      <a:pPr algn="ctr" fontAlgn="b"/>
                      <a:r>
                        <a:rPr lang="el-GR" sz="900" b="1" i="0" u="none" strike="noStrike">
                          <a:solidFill>
                            <a:srgbClr val="515151"/>
                          </a:solidFill>
                          <a:latin typeface="Arial"/>
                        </a:rPr>
                        <a:t>113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0,009049774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9"/>
                  </a:ext>
                </a:extLst>
              </a:tr>
              <a:tr h="183444">
                <a:tc>
                  <a:txBody>
                    <a:bodyPr/>
                    <a:lstStyle/>
                    <a:p>
                      <a:pPr algn="ctr" fontAlgn="ctr"/>
                      <a:r>
                        <a:rPr lang="el-GR" sz="900" b="1" i="0" u="none" strike="noStrike">
                          <a:solidFill>
                            <a:srgbClr val="515151"/>
                          </a:solidFill>
                          <a:latin typeface="Arial"/>
                        </a:rPr>
                        <a:t>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0,00865801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20"/>
                  </a:ext>
                </a:extLst>
              </a:tr>
              <a:tr h="183444">
                <a:tc>
                  <a:txBody>
                    <a:bodyPr/>
                    <a:lstStyle/>
                    <a:p>
                      <a:pPr algn="ctr" fontAlgn="b"/>
                      <a:r>
                        <a:rPr lang="el-GR" sz="900" b="1" i="0" u="none" strike="noStrike">
                          <a:solidFill>
                            <a:srgbClr val="515151"/>
                          </a:solidFill>
                          <a:latin typeface="Arial"/>
                        </a:rPr>
                        <a:t>103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0,008298755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21"/>
                  </a:ext>
                </a:extLst>
              </a:tr>
              <a:tr h="183444">
                <a:tc>
                  <a:txBody>
                    <a:bodyPr/>
                    <a:lstStyle/>
                    <a:p>
                      <a:pPr algn="ctr" fontAlgn="ctr"/>
                      <a:r>
                        <a:rPr lang="el-GR" sz="900" b="1" i="0" u="none" strike="noStrike">
                          <a:solidFill>
                            <a:srgbClr val="515151"/>
                          </a:solidFill>
                          <a:latin typeface="Arial"/>
                        </a:rPr>
                        <a:t>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0,00796813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22"/>
                  </a:ext>
                </a:extLst>
              </a:tr>
              <a:tr h="183444">
                <a:tc>
                  <a:txBody>
                    <a:bodyPr/>
                    <a:lstStyle/>
                    <a:p>
                      <a:pPr algn="ctr" fontAlgn="b"/>
                      <a:r>
                        <a:rPr lang="el-GR" sz="900" b="1" i="0" u="none" strike="noStrike">
                          <a:solidFill>
                            <a:srgbClr val="515151"/>
                          </a:solidFill>
                          <a:latin typeface="Arial"/>
                        </a:rPr>
                        <a:t>95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0,007662835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23"/>
                  </a:ext>
                </a:extLst>
              </a:tr>
              <a:tr h="183444">
                <a:tc>
                  <a:txBody>
                    <a:bodyPr/>
                    <a:lstStyle/>
                    <a:p>
                      <a:pPr algn="ctr" fontAlgn="ctr"/>
                      <a:r>
                        <a:rPr lang="el-GR" sz="900" b="1" i="0" u="none" strike="noStrike">
                          <a:solidFill>
                            <a:srgbClr val="515151"/>
                          </a:solidFill>
                          <a:latin typeface="Arial"/>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0,00738007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24"/>
                  </a:ext>
                </a:extLst>
              </a:tr>
              <a:tr h="183444">
                <a:tc>
                  <a:txBody>
                    <a:bodyPr/>
                    <a:lstStyle/>
                    <a:p>
                      <a:pPr algn="ctr" fontAlgn="b"/>
                      <a:r>
                        <a:rPr lang="el-GR" sz="900" b="1" i="0" u="none" strike="noStrike">
                          <a:solidFill>
                            <a:srgbClr val="515151"/>
                          </a:solidFill>
                          <a:latin typeface="Arial"/>
                        </a:rPr>
                        <a:t>87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0,007117438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25"/>
                  </a:ext>
                </a:extLst>
              </a:tr>
              <a:tr h="183444">
                <a:tc>
                  <a:txBody>
                    <a:bodyPr/>
                    <a:lstStyle/>
                    <a:p>
                      <a:pPr algn="ctr" fontAlgn="ctr"/>
                      <a:r>
                        <a:rPr lang="el-GR" sz="900" b="1" i="0" u="none" strike="noStrike">
                          <a:solidFill>
                            <a:srgbClr val="515151"/>
                          </a:solidFill>
                          <a:latin typeface="Arial"/>
                        </a:rPr>
                        <a:t>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ctr" fontAlgn="ctr"/>
                      <a:r>
                        <a:rPr lang="el-GR" sz="900" b="1" i="0" u="none" strike="noStrike">
                          <a:solidFill>
                            <a:srgbClr val="515151"/>
                          </a:solidFill>
                          <a:latin typeface="Arial"/>
                        </a:rPr>
                        <a:t>0,00687285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DE8"/>
                    </a:solidFill>
                  </a:tcPr>
                </a:tc>
                <a:tc>
                  <a:txBody>
                    <a:bodyPr/>
                    <a:lstStyle/>
                    <a:p>
                      <a:pPr algn="l" fontAlgn="b"/>
                      <a:endParaRPr lang="el-GR" sz="8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26"/>
                  </a:ext>
                </a:extLst>
              </a:tr>
              <a:tr h="183444">
                <a:tc>
                  <a:txBody>
                    <a:bodyPr/>
                    <a:lstStyle/>
                    <a:p>
                      <a:pPr algn="ctr" fontAlgn="b"/>
                      <a:r>
                        <a:rPr lang="el-GR" sz="900" b="1" i="0" u="none" strike="noStrike">
                          <a:solidFill>
                            <a:srgbClr val="515151"/>
                          </a:solidFill>
                          <a:latin typeface="Arial"/>
                        </a:rPr>
                        <a:t>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r" fontAlgn="b"/>
                      <a:r>
                        <a:rPr lang="el-GR" sz="900" b="1" i="0" u="none" strike="noStrike">
                          <a:solidFill>
                            <a:srgbClr val="000000"/>
                          </a:solidFill>
                          <a:latin typeface="Calibri"/>
                        </a:rPr>
                        <a:t>0,006644518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l-GR" sz="800" b="0" i="0" u="none" strike="noStrike" dirty="0">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2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 Θέση περιεχομένου"/>
          <p:cNvSpPr>
            <a:spLocks noGrp="1"/>
          </p:cNvSpPr>
          <p:nvPr>
            <p:ph sz="quarter" idx="1"/>
          </p:nvPr>
        </p:nvSpPr>
        <p:spPr>
          <a:xfrm>
            <a:off x="118568" y="932723"/>
            <a:ext cx="6937539" cy="4886557"/>
          </a:xfrm>
        </p:spPr>
        <p:txBody>
          <a:bodyPr>
            <a:noAutofit/>
          </a:bodyPr>
          <a:lstStyle/>
          <a:p>
            <a:pPr>
              <a:buNone/>
            </a:pPr>
            <a:r>
              <a:rPr lang="el-GR" sz="2133" dirty="0"/>
              <a:t>Στη συνέχεια επιλέγοντας τις τιμές των 2 στηλών επαναλαμβάνω το γράφημα, μεταβαίνω στην  </a:t>
            </a:r>
            <a:r>
              <a:rPr lang="el-GR" sz="2133" dirty="0" err="1"/>
              <a:t>Καρτέλλα</a:t>
            </a:r>
            <a:r>
              <a:rPr lang="el-GR" sz="2133" dirty="0"/>
              <a:t> </a:t>
            </a:r>
            <a:r>
              <a:rPr lang="el-GR" sz="2133" u="sng" dirty="0"/>
              <a:t>Εισαγωγή </a:t>
            </a:r>
            <a:r>
              <a:rPr lang="el-GR" sz="2133" u="sng" dirty="0">
                <a:sym typeface="Wingdings" pitchFamily="2" charset="2"/>
              </a:rPr>
              <a:t> Γράφημα  Διασπορά  Διασπορά μόνο με δείκτες  </a:t>
            </a:r>
            <a:r>
              <a:rPr lang="el-GR" sz="2133" dirty="0">
                <a:sym typeface="Wingdings" pitchFamily="2" charset="2"/>
              </a:rPr>
              <a:t>και παίρνω το δίπλα γράφημα το οποίο είναι εμφανές ότι είναι πιο εύκολο να παρεμβάλλω μια ευθεία γραμμή στις τιμές.</a:t>
            </a:r>
          </a:p>
          <a:p>
            <a:pPr>
              <a:buNone/>
            </a:pPr>
            <a:r>
              <a:rPr lang="el-GR" sz="2133" dirty="0">
                <a:sym typeface="Wingdings" pitchFamily="2" charset="2"/>
              </a:rPr>
              <a:t>Με το γράφημα επιλεγμένο μεταβαίνω στην ομάδα </a:t>
            </a:r>
            <a:r>
              <a:rPr lang="el-GR" sz="2133" b="1" dirty="0">
                <a:sym typeface="Wingdings" pitchFamily="2" charset="2"/>
              </a:rPr>
              <a:t>διατάξεις γραφήματος </a:t>
            </a:r>
            <a:r>
              <a:rPr lang="el-GR" sz="2133" dirty="0">
                <a:sym typeface="Wingdings" pitchFamily="2" charset="2"/>
              </a:rPr>
              <a:t>και επιλέγω την διάταξη 9 και παίρνω το γράφημα της επόμενης διαφάνειας.</a:t>
            </a:r>
            <a:endParaRPr lang="el-GR" sz="2133" dirty="0"/>
          </a:p>
        </p:txBody>
      </p:sp>
      <p:pic>
        <p:nvPicPr>
          <p:cNvPr id="28678" name="Picture 6"/>
          <p:cNvPicPr>
            <a:picLocks noChangeAspect="1" noChangeArrowheads="1"/>
          </p:cNvPicPr>
          <p:nvPr/>
        </p:nvPicPr>
        <p:blipFill>
          <a:blip r:embed="rId2" cstate="print"/>
          <a:srcRect/>
          <a:stretch>
            <a:fillRect/>
          </a:stretch>
        </p:blipFill>
        <p:spPr bwMode="auto">
          <a:xfrm>
            <a:off x="2807197" y="4485118"/>
            <a:ext cx="8761412" cy="2097957"/>
          </a:xfrm>
          <a:prstGeom prst="rect">
            <a:avLst/>
          </a:prstGeom>
          <a:noFill/>
          <a:ln w="9525">
            <a:noFill/>
            <a:miter lim="800000"/>
            <a:headEnd/>
            <a:tailEnd/>
          </a:ln>
        </p:spPr>
      </p:pic>
      <p:sp>
        <p:nvSpPr>
          <p:cNvPr id="6" name="1 - Τίτλος"/>
          <p:cNvSpPr>
            <a:spLocks noGrp="1"/>
          </p:cNvSpPr>
          <p:nvPr>
            <p:ph type="title"/>
          </p:nvPr>
        </p:nvSpPr>
        <p:spPr>
          <a:xfrm>
            <a:off x="143339" y="-27384"/>
            <a:ext cx="11521280" cy="772947"/>
          </a:xfrm>
        </p:spPr>
        <p:txBody>
          <a:bodyPr>
            <a:noAutofit/>
          </a:bodyPr>
          <a:lstStyle/>
          <a:p>
            <a:r>
              <a:rPr lang="el-GR" sz="3200" dirty="0" err="1">
                <a:latin typeface="Book Antiqua" pitchFamily="18" charset="0"/>
              </a:rPr>
              <a:t>Γραμμικοποιώντας</a:t>
            </a:r>
            <a:r>
              <a:rPr lang="el-GR" sz="3200" dirty="0">
                <a:latin typeface="Book Antiqua" pitchFamily="18" charset="0"/>
              </a:rPr>
              <a:t> τον (</a:t>
            </a:r>
            <a:r>
              <a:rPr lang="en-US" sz="3200" b="1" dirty="0"/>
              <a:t>GP2Y0A21YK0F</a:t>
            </a:r>
            <a:r>
              <a:rPr lang="el-GR" sz="3200" b="1" dirty="0"/>
              <a:t>)</a:t>
            </a:r>
            <a:r>
              <a:rPr lang="en-US" sz="3200" b="1" dirty="0"/>
              <a:t>  excel (4)</a:t>
            </a:r>
            <a:endParaRPr lang="el-GR" sz="3200" dirty="0"/>
          </a:p>
        </p:txBody>
      </p:sp>
      <p:pic>
        <p:nvPicPr>
          <p:cNvPr id="2051" name="Picture 3"/>
          <p:cNvPicPr>
            <a:picLocks noChangeAspect="1" noChangeArrowheads="1"/>
          </p:cNvPicPr>
          <p:nvPr/>
        </p:nvPicPr>
        <p:blipFill>
          <a:blip r:embed="rId3" cstate="print"/>
          <a:srcRect/>
          <a:stretch>
            <a:fillRect/>
          </a:stretch>
        </p:blipFill>
        <p:spPr bwMode="auto">
          <a:xfrm>
            <a:off x="7536160" y="705842"/>
            <a:ext cx="3936437" cy="368326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 Θέση περιεχομένου"/>
          <p:cNvSpPr>
            <a:spLocks noGrp="1"/>
          </p:cNvSpPr>
          <p:nvPr>
            <p:ph sz="quarter" idx="1"/>
          </p:nvPr>
        </p:nvSpPr>
        <p:spPr>
          <a:xfrm>
            <a:off x="335360" y="1412776"/>
            <a:ext cx="4416491" cy="4886557"/>
          </a:xfrm>
        </p:spPr>
        <p:txBody>
          <a:bodyPr>
            <a:noAutofit/>
          </a:bodyPr>
          <a:lstStyle/>
          <a:p>
            <a:pPr>
              <a:buNone/>
            </a:pPr>
            <a:r>
              <a:rPr lang="el-GR" sz="2400" dirty="0"/>
              <a:t>Στο γράφημα αποτυπώνεται η εξίσωση και το </a:t>
            </a:r>
            <a:r>
              <a:rPr lang="en-US" sz="2400" dirty="0"/>
              <a:t>R</a:t>
            </a:r>
            <a:r>
              <a:rPr lang="el-GR" sz="2400" dirty="0"/>
              <a:t> που μας δείχνει πόσο καλά παρεμβάλλεται η ευθεία μας στις τιμές. Όσο πιο κοντά στο 1 είναι τόσο καλύτερα. Θυμόμαστε ότι ΕΙΧΑΜΕ κ=0.5. ΑΛΛΑΖΟΝΤΑΣ ΣΕ</a:t>
            </a:r>
            <a:r>
              <a:rPr lang="el-GR" sz="2400" dirty="0">
                <a:solidFill>
                  <a:srgbClr val="FF0000"/>
                </a:solidFill>
              </a:rPr>
              <a:t> κ=11 </a:t>
            </a:r>
            <a:r>
              <a:rPr lang="el-GR" sz="2400" dirty="0"/>
              <a:t>βλέπουμε ότι έχουμε καλύτερη παρεμβολή.</a:t>
            </a:r>
          </a:p>
        </p:txBody>
      </p:sp>
      <p:graphicFrame>
        <p:nvGraphicFramePr>
          <p:cNvPr id="4" name="4 - Γράφημα"/>
          <p:cNvGraphicFramePr/>
          <p:nvPr/>
        </p:nvGraphicFramePr>
        <p:xfrm>
          <a:off x="4847862" y="1251190"/>
          <a:ext cx="6636647" cy="5442173"/>
        </p:xfrm>
        <a:graphic>
          <a:graphicData uri="http://schemas.openxmlformats.org/drawingml/2006/chart">
            <c:chart xmlns:c="http://schemas.openxmlformats.org/drawingml/2006/chart" xmlns:r="http://schemas.openxmlformats.org/officeDocument/2006/relationships" r:id="rId2"/>
          </a:graphicData>
        </a:graphic>
      </p:graphicFrame>
      <p:sp>
        <p:nvSpPr>
          <p:cNvPr id="5" name="1 - Τίτλος"/>
          <p:cNvSpPr>
            <a:spLocks noGrp="1"/>
          </p:cNvSpPr>
          <p:nvPr>
            <p:ph type="title"/>
          </p:nvPr>
        </p:nvSpPr>
        <p:spPr>
          <a:xfrm>
            <a:off x="143339" y="-27384"/>
            <a:ext cx="11521280" cy="772947"/>
          </a:xfrm>
        </p:spPr>
        <p:txBody>
          <a:bodyPr>
            <a:noAutofit/>
          </a:bodyPr>
          <a:lstStyle/>
          <a:p>
            <a:r>
              <a:rPr lang="el-GR" sz="3200" dirty="0" err="1">
                <a:latin typeface="Book Antiqua" pitchFamily="18" charset="0"/>
              </a:rPr>
              <a:t>Γραμμικοποιώντας</a:t>
            </a:r>
            <a:r>
              <a:rPr lang="el-GR" sz="3200" dirty="0">
                <a:latin typeface="Book Antiqua" pitchFamily="18" charset="0"/>
              </a:rPr>
              <a:t> τον (</a:t>
            </a:r>
            <a:r>
              <a:rPr lang="en-US" sz="3200" b="1" dirty="0"/>
              <a:t>GP2Y0A21YK0F</a:t>
            </a:r>
            <a:r>
              <a:rPr lang="el-GR" sz="3200" b="1" dirty="0"/>
              <a:t>)</a:t>
            </a:r>
            <a:r>
              <a:rPr lang="en-US" sz="3200" b="1" dirty="0"/>
              <a:t>  excel (5)</a:t>
            </a:r>
            <a:endParaRPr lang="el-GR"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Picture 3"/>
          <p:cNvPicPr>
            <a:picLocks noChangeAspect="1" noChangeArrowheads="1"/>
          </p:cNvPicPr>
          <p:nvPr/>
        </p:nvPicPr>
        <p:blipFill>
          <a:blip r:embed="rId2" cstate="print"/>
          <a:srcRect/>
          <a:stretch>
            <a:fillRect/>
          </a:stretch>
        </p:blipFill>
        <p:spPr bwMode="auto">
          <a:xfrm>
            <a:off x="47328" y="1331311"/>
            <a:ext cx="5280587" cy="5444703"/>
          </a:xfrm>
          <a:prstGeom prst="rect">
            <a:avLst/>
          </a:prstGeom>
          <a:noFill/>
          <a:ln w="9525">
            <a:noFill/>
            <a:miter lim="800000"/>
            <a:headEnd/>
            <a:tailEnd/>
          </a:ln>
        </p:spPr>
      </p:pic>
      <p:pic>
        <p:nvPicPr>
          <p:cNvPr id="29700"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485573" y="1339032"/>
            <a:ext cx="6659100" cy="5354331"/>
          </a:xfrm>
          <a:prstGeom prst="rect">
            <a:avLst/>
          </a:prstGeom>
          <a:noFill/>
          <a:ln w="9525">
            <a:noFill/>
            <a:miter lim="800000"/>
            <a:headEnd/>
            <a:tailEnd/>
          </a:ln>
        </p:spPr>
      </p:pic>
      <p:sp>
        <p:nvSpPr>
          <p:cNvPr id="3" name="2 - Θέση περιεχομένου"/>
          <p:cNvSpPr>
            <a:spLocks noGrp="1"/>
          </p:cNvSpPr>
          <p:nvPr>
            <p:ph sz="quarter" idx="1"/>
          </p:nvPr>
        </p:nvSpPr>
        <p:spPr>
          <a:xfrm>
            <a:off x="623392" y="6081658"/>
            <a:ext cx="1464931" cy="776343"/>
          </a:xfrm>
        </p:spPr>
        <p:txBody>
          <a:bodyPr>
            <a:normAutofit/>
          </a:bodyPr>
          <a:lstStyle/>
          <a:p>
            <a:pPr>
              <a:buNone/>
            </a:pPr>
            <a:r>
              <a:rPr lang="el-GR" dirty="0"/>
              <a:t>Κ=0.5</a:t>
            </a:r>
          </a:p>
        </p:txBody>
      </p:sp>
      <p:sp>
        <p:nvSpPr>
          <p:cNvPr id="5" name="2 - Θέση περιεχομένου"/>
          <p:cNvSpPr txBox="1">
            <a:spLocks/>
          </p:cNvSpPr>
          <p:nvPr/>
        </p:nvSpPr>
        <p:spPr>
          <a:xfrm>
            <a:off x="8880309" y="1700809"/>
            <a:ext cx="2040995" cy="1064375"/>
          </a:xfrm>
          <a:prstGeom prst="rect">
            <a:avLst/>
          </a:prstGeom>
        </p:spPr>
        <p:txBody>
          <a:bodyPr vert="horz" lIns="121920" tIns="60960" rIns="121920" bIns="60960" rtlCol="0">
            <a:normAutofit/>
          </a:bodyPr>
          <a:lstStyle/>
          <a:p>
            <a:pPr marL="457189" indent="-457189" defTabSz="1219170">
              <a:spcBef>
                <a:spcPct val="20000"/>
              </a:spcBef>
              <a:buFont typeface="Arial" pitchFamily="34" charset="0"/>
              <a:buChar char="•"/>
              <a:defRPr/>
            </a:pPr>
            <a:endParaRPr lang="el-GR" sz="3733" dirty="0"/>
          </a:p>
        </p:txBody>
      </p:sp>
      <p:sp>
        <p:nvSpPr>
          <p:cNvPr id="6" name="2 - Θέση περιεχομένου"/>
          <p:cNvSpPr txBox="1">
            <a:spLocks/>
          </p:cNvSpPr>
          <p:nvPr/>
        </p:nvSpPr>
        <p:spPr>
          <a:xfrm>
            <a:off x="10224459" y="5829267"/>
            <a:ext cx="1464931" cy="776343"/>
          </a:xfrm>
          <a:prstGeom prst="rect">
            <a:avLst/>
          </a:prstGeom>
        </p:spPr>
        <p:txBody>
          <a:bodyPr vert="horz" lIns="121920" tIns="60960" rIns="121920" bIns="60960" rtlCol="0">
            <a:normAutofit/>
          </a:bodyPr>
          <a:lstStyle/>
          <a:p>
            <a:pPr marL="457189" indent="-457189" defTabSz="1219170">
              <a:spcBef>
                <a:spcPct val="20000"/>
              </a:spcBef>
              <a:defRPr/>
            </a:pPr>
            <a:r>
              <a:rPr lang="el-GR" sz="3733" dirty="0"/>
              <a:t>Κ=11</a:t>
            </a:r>
          </a:p>
        </p:txBody>
      </p:sp>
      <p:sp>
        <p:nvSpPr>
          <p:cNvPr id="8" name="1 - Τίτλος"/>
          <p:cNvSpPr>
            <a:spLocks noGrp="1"/>
          </p:cNvSpPr>
          <p:nvPr>
            <p:ph type="title"/>
          </p:nvPr>
        </p:nvSpPr>
        <p:spPr>
          <a:xfrm>
            <a:off x="363669" y="164638"/>
            <a:ext cx="9956800" cy="768085"/>
          </a:xfrm>
        </p:spPr>
        <p:txBody>
          <a:bodyPr>
            <a:normAutofit/>
          </a:bodyPr>
          <a:lstStyle/>
          <a:p>
            <a:r>
              <a:rPr lang="el-GR" dirty="0" err="1">
                <a:solidFill>
                  <a:schemeClr val="tx1"/>
                </a:solidFill>
                <a:latin typeface="Book Antiqua" pitchFamily="18" charset="0"/>
              </a:rPr>
              <a:t>Γραμμικοποιώντας</a:t>
            </a:r>
            <a:r>
              <a:rPr lang="el-GR" dirty="0">
                <a:solidFill>
                  <a:schemeClr val="tx1"/>
                </a:solidFill>
                <a:latin typeface="Book Antiqua" pitchFamily="18" charset="0"/>
              </a:rPr>
              <a:t> τον (</a:t>
            </a:r>
            <a:r>
              <a:rPr lang="en-US" sz="3733" b="1" dirty="0"/>
              <a:t>GP2Y0A21YK0F</a:t>
            </a:r>
            <a:r>
              <a:rPr lang="el-GR" sz="3733" b="1" dirty="0"/>
              <a:t>)</a:t>
            </a:r>
            <a:endParaRPr lang="el-GR"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AFE7A71-2430-4B97-9D6D-BBA81210DA3D}"/>
              </a:ext>
            </a:extLst>
          </p:cNvPr>
          <p:cNvSpPr>
            <a:spLocks noGrp="1"/>
          </p:cNvSpPr>
          <p:nvPr>
            <p:ph type="title"/>
          </p:nvPr>
        </p:nvSpPr>
        <p:spPr/>
        <p:txBody>
          <a:bodyPr/>
          <a:lstStyle/>
          <a:p>
            <a:r>
              <a:rPr lang="en-US" dirty="0"/>
              <a:t>Filtering</a:t>
            </a:r>
          </a:p>
        </p:txBody>
      </p:sp>
      <p:sp>
        <p:nvSpPr>
          <p:cNvPr id="3" name="Θέση περιεχομένου 2">
            <a:extLst>
              <a:ext uri="{FF2B5EF4-FFF2-40B4-BE49-F238E27FC236}">
                <a16:creationId xmlns:a16="http://schemas.microsoft.com/office/drawing/2014/main" id="{1C6CA9EB-2E2C-4E37-BA4C-070AF58C4A77}"/>
              </a:ext>
            </a:extLst>
          </p:cNvPr>
          <p:cNvSpPr>
            <a:spLocks noGrp="1"/>
          </p:cNvSpPr>
          <p:nvPr>
            <p:ph sz="quarter" idx="1"/>
          </p:nvPr>
        </p:nvSpPr>
        <p:spPr/>
        <p:txBody>
          <a:bodyPr/>
          <a:lstStyle/>
          <a:p>
            <a:r>
              <a:rPr lang="en-US" dirty="0"/>
              <a:t>https://www.megunolink.com/articles/coding/3-methods-filter-noisy-arduino-measurements/</a:t>
            </a:r>
          </a:p>
        </p:txBody>
      </p:sp>
    </p:spTree>
    <p:extLst>
      <p:ext uri="{BB962C8B-B14F-4D97-AF65-F5344CB8AC3E}">
        <p14:creationId xmlns:p14="http://schemas.microsoft.com/office/powerpoint/2010/main" val="2550685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ltering"/>
          <p:cNvPicPr>
            <a:picLocks noChangeAspect="1" noChangeArrowheads="1"/>
          </p:cNvPicPr>
          <p:nvPr/>
        </p:nvPicPr>
        <p:blipFill>
          <a:blip r:embed="rId2"/>
          <a:srcRect/>
          <a:stretch>
            <a:fillRect/>
          </a:stretch>
        </p:blipFill>
        <p:spPr bwMode="auto">
          <a:xfrm>
            <a:off x="6024564" y="1619239"/>
            <a:ext cx="4288221" cy="4762533"/>
          </a:xfrm>
          <a:prstGeom prst="rect">
            <a:avLst/>
          </a:prstGeom>
          <a:noFill/>
        </p:spPr>
      </p:pic>
      <p:sp>
        <p:nvSpPr>
          <p:cNvPr id="2" name="1 - Τίτλος"/>
          <p:cNvSpPr>
            <a:spLocks noGrp="1"/>
          </p:cNvSpPr>
          <p:nvPr>
            <p:ph type="title"/>
          </p:nvPr>
        </p:nvSpPr>
        <p:spPr>
          <a:xfrm>
            <a:off x="1809720" y="274637"/>
            <a:ext cx="7467600" cy="1143000"/>
          </a:xfrm>
        </p:spPr>
        <p:txBody>
          <a:bodyPr/>
          <a:lstStyle/>
          <a:p>
            <a:r>
              <a:rPr lang="en-ID" dirty="0"/>
              <a:t>Filtering</a:t>
            </a:r>
            <a:endParaRPr lang="el-GR" dirty="0"/>
          </a:p>
        </p:txBody>
      </p:sp>
      <p:sp>
        <p:nvSpPr>
          <p:cNvPr id="3" name="2 - Θέση περιεχομένου"/>
          <p:cNvSpPr>
            <a:spLocks noGrp="1"/>
          </p:cNvSpPr>
          <p:nvPr>
            <p:ph sz="quarter" idx="1"/>
          </p:nvPr>
        </p:nvSpPr>
        <p:spPr>
          <a:xfrm>
            <a:off x="1666844" y="1619239"/>
            <a:ext cx="4500594" cy="4876821"/>
          </a:xfrm>
        </p:spPr>
        <p:txBody>
          <a:bodyPr>
            <a:normAutofit fontScale="62500" lnSpcReduction="20000"/>
          </a:bodyPr>
          <a:lstStyle/>
          <a:p>
            <a:pPr>
              <a:buNone/>
            </a:pPr>
            <a:r>
              <a:rPr lang="el-GR" dirty="0"/>
              <a:t>Οι μετρήσεις από τον πραγματικό κόσμο συχνά περιέχουν θόρυβο. Θόρυβος είναι το μοναδικό κομμάτι του σήματος που δεν επιθυμούμε. Οι μεταβολές στις τιμές που παίρνω όταν καλώ την συνάρτηση </a:t>
            </a:r>
            <a:r>
              <a:rPr lang="el-GR" dirty="0" err="1"/>
              <a:t>analogRead</a:t>
            </a:r>
            <a:r>
              <a:rPr lang="el-GR" dirty="0"/>
              <a:t> σε έναν αισθητήρα θα πρέπει να είναι ομαλές και όχι τυχαίες. </a:t>
            </a:r>
          </a:p>
          <a:p>
            <a:pPr>
              <a:buNone/>
            </a:pPr>
            <a:r>
              <a:rPr lang="el-GR" dirty="0"/>
              <a:t>Ο θόρυβος προκύπτει από διάφορα γεγονότα στον αισθητήρα, π.χ. ο κραδασμός από τη μηχανή προσθέτει θόρυβο, αν μετράω την επιτάχυνση ενός </a:t>
            </a:r>
            <a:r>
              <a:rPr lang="el-GR" dirty="0" err="1"/>
              <a:t>go</a:t>
            </a:r>
            <a:r>
              <a:rPr lang="el-GR" dirty="0"/>
              <a:t>-</a:t>
            </a:r>
            <a:r>
              <a:rPr lang="el-GR" dirty="0" err="1"/>
              <a:t>kart</a:t>
            </a:r>
            <a:r>
              <a:rPr lang="el-GR" dirty="0"/>
              <a:t>. </a:t>
            </a:r>
          </a:p>
          <a:p>
            <a:pPr>
              <a:buNone/>
            </a:pPr>
            <a:r>
              <a:rPr lang="el-GR" dirty="0"/>
              <a:t>Το φιλτράρισμα είναι μια μέθοδος για να αφαιρέσω κάποιες υψηλές συχνότητες από το ανεπιθύμητο σήμα για να αφήσω ένα πιο ομαλό αποτέλεσμα</a:t>
            </a:r>
          </a:p>
          <a:p>
            <a:pPr>
              <a:buNone/>
            </a:pPr>
            <a:r>
              <a:rPr lang="el-GR" dirty="0"/>
              <a:t>Θα παρουσιαστούν </a:t>
            </a:r>
            <a:r>
              <a:rPr lang="en-US" dirty="0"/>
              <a:t>4</a:t>
            </a:r>
            <a:r>
              <a:rPr lang="el-GR" dirty="0"/>
              <a:t> βασικά </a:t>
            </a:r>
            <a:r>
              <a:rPr lang="el-GR" dirty="0" err="1"/>
              <a:t>φί</a:t>
            </a:r>
            <a:r>
              <a:rPr lang="en-US" dirty="0"/>
              <a:t>l</a:t>
            </a:r>
            <a:r>
              <a:rPr lang="el-GR" dirty="0" err="1"/>
              <a:t>τρα</a:t>
            </a:r>
            <a:r>
              <a:rPr lang="el-GR" dirty="0"/>
              <a:t>: </a:t>
            </a:r>
          </a:p>
          <a:p>
            <a:r>
              <a:rPr lang="el-GR" dirty="0"/>
              <a:t>Μέσος Όρος (</a:t>
            </a:r>
            <a:r>
              <a:rPr lang="en-ID" dirty="0"/>
              <a:t>Average)</a:t>
            </a:r>
          </a:p>
          <a:p>
            <a:r>
              <a:rPr lang="el-GR" dirty="0"/>
              <a:t>Κινούμενος μέσος όρος (</a:t>
            </a:r>
            <a:r>
              <a:rPr lang="en-ID" dirty="0"/>
              <a:t>Running average)</a:t>
            </a:r>
            <a:endParaRPr lang="el-GR" dirty="0"/>
          </a:p>
          <a:p>
            <a:r>
              <a:rPr lang="en-US" dirty="0"/>
              <a:t>Exponential Filter</a:t>
            </a:r>
            <a:endParaRPr lang="en-ID" dirty="0"/>
          </a:p>
          <a:p>
            <a:r>
              <a:rPr lang="en-ID" dirty="0"/>
              <a:t>Median filter</a:t>
            </a:r>
            <a:endParaRPr lang="el-GR" dirty="0"/>
          </a:p>
          <a:p>
            <a:endParaRPr lang="el-G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4"/>
          <p:cNvPicPr>
            <a:picLocks noChangeAspect="1" noChangeArrowheads="1"/>
          </p:cNvPicPr>
          <p:nvPr/>
        </p:nvPicPr>
        <p:blipFill>
          <a:blip r:embed="rId2"/>
          <a:srcRect/>
          <a:stretch>
            <a:fillRect/>
          </a:stretch>
        </p:blipFill>
        <p:spPr bwMode="auto">
          <a:xfrm>
            <a:off x="6381784" y="2952772"/>
            <a:ext cx="4286248" cy="3905229"/>
          </a:xfrm>
          <a:prstGeom prst="rect">
            <a:avLst/>
          </a:prstGeom>
          <a:noFill/>
          <a:ln w="9525">
            <a:noFill/>
            <a:miter lim="800000"/>
            <a:headEnd/>
            <a:tailEnd/>
          </a:ln>
          <a:effectLst/>
        </p:spPr>
      </p:pic>
      <p:sp>
        <p:nvSpPr>
          <p:cNvPr id="2" name="1 - Τίτλος"/>
          <p:cNvSpPr>
            <a:spLocks noGrp="1"/>
          </p:cNvSpPr>
          <p:nvPr>
            <p:ph type="title"/>
          </p:nvPr>
        </p:nvSpPr>
        <p:spPr>
          <a:xfrm>
            <a:off x="1847528" y="116632"/>
            <a:ext cx="3672408" cy="1143000"/>
          </a:xfrm>
        </p:spPr>
        <p:txBody>
          <a:bodyPr>
            <a:normAutofit fontScale="90000"/>
          </a:bodyPr>
          <a:lstStyle/>
          <a:p>
            <a:pPr algn="l"/>
            <a:r>
              <a:rPr lang="el-GR" dirty="0"/>
              <a:t>Μέσος όρος </a:t>
            </a:r>
            <a:br>
              <a:rPr lang="el-GR" dirty="0"/>
            </a:br>
            <a:r>
              <a:rPr lang="el-GR" dirty="0"/>
              <a:t>(</a:t>
            </a:r>
            <a:r>
              <a:rPr lang="en-ID" dirty="0"/>
              <a:t>average) </a:t>
            </a:r>
            <a:endParaRPr lang="el-GR" dirty="0"/>
          </a:p>
        </p:txBody>
      </p:sp>
      <p:sp>
        <p:nvSpPr>
          <p:cNvPr id="3" name="2 - Θέση περιεχομένου"/>
          <p:cNvSpPr>
            <a:spLocks noGrp="1"/>
          </p:cNvSpPr>
          <p:nvPr>
            <p:ph sz="quarter" idx="1"/>
          </p:nvPr>
        </p:nvSpPr>
        <p:spPr>
          <a:xfrm>
            <a:off x="1595438" y="1428737"/>
            <a:ext cx="4429124" cy="3048021"/>
          </a:xfrm>
        </p:spPr>
        <p:txBody>
          <a:bodyPr vert="horz" lIns="0" tIns="0" rIns="0" bIns="0" rtlCol="0">
            <a:normAutofit fontScale="55000" lnSpcReduction="20000"/>
          </a:bodyPr>
          <a:lstStyle/>
          <a:p>
            <a:pPr>
              <a:buNone/>
            </a:pPr>
            <a:r>
              <a:rPr lang="el-GR" dirty="0"/>
              <a:t>. Ο μέσος όρος λειτουργεί προσθέτοντας μια σειρά μετρήσεων, διαιρώντας το άθροισμα τους με το πλήθος των μετρήσεων που προσέθεσα. Όσο περισσότερα τα μέλη του μέσου όρου τόσο περισσότερος θόρυβος αφαιρείται, </a:t>
            </a:r>
            <a:br>
              <a:rPr lang="el-GR" dirty="0"/>
            </a:br>
            <a:r>
              <a:rPr lang="el-GR" dirty="0"/>
              <a:t>Μειονέκτημα του μέσου φίλτρου είναι ο χρόνος που απαιτείται για τη μέτρηση και που μπορεί να είναι σημαντικός σε εφαρμογές χαμηλής ισχύος. </a:t>
            </a:r>
          </a:p>
          <a:p>
            <a:pPr>
              <a:buNone/>
            </a:pPr>
            <a:r>
              <a:rPr lang="el-GR" dirty="0"/>
              <a:t>Παρατηρήστε  το </a:t>
            </a:r>
            <a:r>
              <a:rPr lang="en-US" dirty="0"/>
              <a:t>delay </a:t>
            </a:r>
            <a:r>
              <a:rPr lang="el-GR" dirty="0"/>
              <a:t>μεταξύ κάθε μέτρησης, για να δοθεί χρόνος στην αναλογική είσοδο να σταθεροποιηθεί μεταξύ κάθε μέτρησης. Χωρίς αυτό, ο μέσος όρο σας θα τείνει να είναι χαμηλότερος από την πραγματική μέτρηση.</a:t>
            </a:r>
          </a:p>
          <a:p>
            <a:pPr>
              <a:buNone/>
            </a:pPr>
            <a:r>
              <a:rPr lang="el-GR" dirty="0"/>
              <a:t>Ο μέσος όρος είναι ένα πολύ καλό φίλτρο όταν δεν έχων θέματα με την ενέργεια που καταναλώνεται και όταν το σήμα μου δεν έχει πολύ θόρυβο.</a:t>
            </a:r>
          </a:p>
        </p:txBody>
      </p:sp>
      <p:pic>
        <p:nvPicPr>
          <p:cNvPr id="29698" name="Picture 2"/>
          <p:cNvPicPr>
            <a:picLocks noChangeAspect="1" noChangeArrowheads="1"/>
          </p:cNvPicPr>
          <p:nvPr/>
        </p:nvPicPr>
        <p:blipFill>
          <a:blip r:embed="rId3"/>
          <a:srcRect/>
          <a:stretch>
            <a:fillRect/>
          </a:stretch>
        </p:blipFill>
        <p:spPr bwMode="auto">
          <a:xfrm>
            <a:off x="1595438" y="4565352"/>
            <a:ext cx="4591050" cy="2032000"/>
          </a:xfrm>
          <a:prstGeom prst="rect">
            <a:avLst/>
          </a:prstGeom>
          <a:noFill/>
          <a:ln w="9525">
            <a:noFill/>
            <a:miter lim="800000"/>
            <a:headEnd/>
            <a:tailEnd/>
          </a:ln>
          <a:effectLst/>
        </p:spPr>
      </p:pic>
      <p:pic>
        <p:nvPicPr>
          <p:cNvPr id="29699" name="Picture 3"/>
          <p:cNvPicPr>
            <a:picLocks noChangeAspect="1" noChangeArrowheads="1"/>
          </p:cNvPicPr>
          <p:nvPr/>
        </p:nvPicPr>
        <p:blipFill>
          <a:blip r:embed="rId4"/>
          <a:srcRect/>
          <a:stretch>
            <a:fillRect/>
          </a:stretch>
        </p:blipFill>
        <p:spPr bwMode="auto">
          <a:xfrm>
            <a:off x="6078000" y="1"/>
            <a:ext cx="4590000" cy="2931308"/>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1343472" y="95227"/>
            <a:ext cx="4471990" cy="1143000"/>
          </a:xfrm>
        </p:spPr>
        <p:txBody>
          <a:bodyPr>
            <a:normAutofit fontScale="90000"/>
          </a:bodyPr>
          <a:lstStyle/>
          <a:p>
            <a:r>
              <a:rPr lang="el-GR" sz="3600" dirty="0"/>
              <a:t>Κινούμενος Μέσος όρος </a:t>
            </a:r>
            <a:br>
              <a:rPr lang="el-GR" sz="3600" dirty="0"/>
            </a:br>
            <a:r>
              <a:rPr lang="el-GR" sz="3600" dirty="0"/>
              <a:t>(</a:t>
            </a:r>
            <a:r>
              <a:rPr lang="en-ID" sz="3600" dirty="0"/>
              <a:t>moving average</a:t>
            </a:r>
            <a:r>
              <a:rPr lang="en-ID" dirty="0"/>
              <a:t>) </a:t>
            </a:r>
            <a:endParaRPr lang="el-GR" dirty="0"/>
          </a:p>
        </p:txBody>
      </p:sp>
      <p:sp>
        <p:nvSpPr>
          <p:cNvPr id="3" name="2 - Θέση περιεχομένου"/>
          <p:cNvSpPr>
            <a:spLocks noGrp="1"/>
          </p:cNvSpPr>
          <p:nvPr>
            <p:ph sz="quarter" idx="1"/>
          </p:nvPr>
        </p:nvSpPr>
        <p:spPr>
          <a:xfrm>
            <a:off x="1595438" y="1621076"/>
            <a:ext cx="3071802" cy="5048285"/>
          </a:xfrm>
        </p:spPr>
        <p:txBody>
          <a:bodyPr vert="horz" lIns="0" tIns="0" rIns="0" bIns="0" rtlCol="0">
            <a:normAutofit fontScale="47500" lnSpcReduction="20000"/>
          </a:bodyPr>
          <a:lstStyle/>
          <a:p>
            <a:pPr>
              <a:buNone/>
            </a:pPr>
            <a:r>
              <a:rPr lang="el-GR" dirty="0"/>
              <a:t>Ένα μειονέκτημα του φίλτρου του μέσου όρου είναι ότι πραγματοποιεί όλες τις μετρήσεις μαζί και καταναλώνει ενέργεια. Ο χρόνος μέτρησης μπορεί να είναι σημαντικός σε εφαρμογές χαμηλής ισχύος. Το Arduino χρησιμοποιεί πολύ περισσότερη ενέργεια όταν είναι «ξύπνιο» παρά </a:t>
            </a:r>
            <a:r>
              <a:rPr lang="el-GR" dirty="0" err="1"/>
              <a:t>όταν¨κοιμάται</a:t>
            </a:r>
            <a:r>
              <a:rPr lang="el-GR" dirty="0"/>
              <a:t> σε κατάσταση αναμονής. </a:t>
            </a:r>
          </a:p>
          <a:p>
            <a:pPr>
              <a:buNone/>
            </a:pPr>
            <a:r>
              <a:rPr lang="el-GR" dirty="0"/>
              <a:t>Μια εναλλακτική λύση είναι η πραγματοποίηση μιας μέτρησης κάθε φορά και η προσθήκη της σε μέσο όρο. Ο υπολογισμός του μέσου όρου είναι ο ίδιος.</a:t>
            </a:r>
          </a:p>
          <a:p>
            <a:pPr>
              <a:buNone/>
            </a:pPr>
            <a:r>
              <a:rPr lang="el-GR" dirty="0"/>
              <a:t>Εάν το </a:t>
            </a:r>
            <a:r>
              <a:rPr lang="en-ID" dirty="0"/>
              <a:t>delay </a:t>
            </a:r>
            <a:r>
              <a:rPr lang="el-GR" dirty="0"/>
              <a:t>στο τέλος του βρόχου μειωθεί από 100 </a:t>
            </a:r>
            <a:r>
              <a:rPr lang="el-GR" dirty="0" err="1"/>
              <a:t>ms</a:t>
            </a:r>
            <a:r>
              <a:rPr lang="el-GR" dirty="0"/>
              <a:t> σε 1 </a:t>
            </a:r>
            <a:r>
              <a:rPr lang="el-GR" dirty="0" err="1"/>
              <a:t>ms</a:t>
            </a:r>
            <a:r>
              <a:rPr lang="el-GR" dirty="0"/>
              <a:t>, η απόκριση του μέσου όρου θα είναι ίδια με τον απλό μέσο όρο. Ωστόσο, η μεγαλύτερη καθυστέρηση μεταξύ των μετρήσεων είναι ο χρόνος κατά τον οποίο το Arduino θα μπορούσε να κοιμάται, εξοικονομώντας ενέργεια από την μπαταρία.. Ο τρέχων μέσος όρος φαίνεται σαν μια καλή εναλλακτική λύση απλού μέσου όρου για να δώσει μια πιο ομαλή έξοδο και να αφήσει το Arduino να δουλέψει σε άλλα πράγματα. </a:t>
            </a:r>
          </a:p>
        </p:txBody>
      </p:sp>
      <p:pic>
        <p:nvPicPr>
          <p:cNvPr id="30722" name="Picture 2"/>
          <p:cNvPicPr>
            <a:picLocks noChangeAspect="1" noChangeArrowheads="1"/>
          </p:cNvPicPr>
          <p:nvPr/>
        </p:nvPicPr>
        <p:blipFill>
          <a:blip r:embed="rId2"/>
          <a:srcRect r="32065"/>
          <a:stretch>
            <a:fillRect/>
          </a:stretch>
        </p:blipFill>
        <p:spPr bwMode="auto">
          <a:xfrm>
            <a:off x="6667504" y="190477"/>
            <a:ext cx="3571900" cy="812800"/>
          </a:xfrm>
          <a:prstGeom prst="rect">
            <a:avLst/>
          </a:prstGeom>
          <a:noFill/>
          <a:ln w="9525">
            <a:noFill/>
            <a:miter lim="800000"/>
            <a:headEnd/>
            <a:tailEnd/>
          </a:ln>
          <a:effectLst/>
        </p:spPr>
      </p:pic>
      <p:pic>
        <p:nvPicPr>
          <p:cNvPr id="30723" name="Picture 3"/>
          <p:cNvPicPr>
            <a:picLocks noChangeAspect="1" noChangeArrowheads="1"/>
          </p:cNvPicPr>
          <p:nvPr/>
        </p:nvPicPr>
        <p:blipFill>
          <a:blip r:embed="rId3"/>
          <a:srcRect/>
          <a:stretch>
            <a:fillRect/>
          </a:stretch>
        </p:blipFill>
        <p:spPr bwMode="auto">
          <a:xfrm>
            <a:off x="5024432" y="1047733"/>
            <a:ext cx="5210175" cy="1473200"/>
          </a:xfrm>
          <a:prstGeom prst="rect">
            <a:avLst/>
          </a:prstGeom>
          <a:noFill/>
          <a:ln w="9525">
            <a:noFill/>
            <a:miter lim="800000"/>
            <a:headEnd/>
            <a:tailEnd/>
          </a:ln>
          <a:effectLst/>
        </p:spPr>
      </p:pic>
      <p:pic>
        <p:nvPicPr>
          <p:cNvPr id="30724" name="Picture 4"/>
          <p:cNvPicPr>
            <a:picLocks noChangeAspect="1" noChangeArrowheads="1"/>
          </p:cNvPicPr>
          <p:nvPr/>
        </p:nvPicPr>
        <p:blipFill>
          <a:blip r:embed="rId4"/>
          <a:srcRect/>
          <a:stretch>
            <a:fillRect/>
          </a:stretch>
        </p:blipFill>
        <p:spPr bwMode="auto">
          <a:xfrm>
            <a:off x="4881554" y="2571744"/>
            <a:ext cx="5353050" cy="38862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1555450" y="188640"/>
            <a:ext cx="4471990" cy="1143000"/>
          </a:xfrm>
        </p:spPr>
        <p:txBody>
          <a:bodyPr>
            <a:normAutofit fontScale="90000"/>
          </a:bodyPr>
          <a:lstStyle/>
          <a:p>
            <a:r>
              <a:rPr lang="el-GR" sz="3600" dirty="0"/>
              <a:t>κινούμενος Μέσος Όρος </a:t>
            </a:r>
            <a:br>
              <a:rPr lang="el-GR" sz="3600" dirty="0"/>
            </a:br>
            <a:r>
              <a:rPr lang="el-GR" sz="3600" dirty="0"/>
              <a:t>(</a:t>
            </a:r>
            <a:r>
              <a:rPr lang="en-ID" sz="3600" dirty="0"/>
              <a:t>moving average</a:t>
            </a:r>
            <a:r>
              <a:rPr lang="en-ID" dirty="0"/>
              <a:t>) </a:t>
            </a:r>
            <a:endParaRPr lang="el-GR" dirty="0"/>
          </a:p>
        </p:txBody>
      </p:sp>
      <p:sp>
        <p:nvSpPr>
          <p:cNvPr id="3" name="2 - Θέση περιεχομένου"/>
          <p:cNvSpPr>
            <a:spLocks noGrp="1"/>
          </p:cNvSpPr>
          <p:nvPr>
            <p:ph sz="quarter" idx="1"/>
          </p:nvPr>
        </p:nvSpPr>
        <p:spPr>
          <a:xfrm>
            <a:off x="1666876" y="1428736"/>
            <a:ext cx="3071802" cy="5143536"/>
          </a:xfrm>
        </p:spPr>
        <p:txBody>
          <a:bodyPr vert="horz" lIns="0" tIns="0" rIns="0" bIns="0" rtlCol="0">
            <a:normAutofit fontScale="70000" lnSpcReduction="20000"/>
          </a:bodyPr>
          <a:lstStyle/>
          <a:p>
            <a:pPr>
              <a:buNone/>
            </a:pPr>
            <a:r>
              <a:rPr lang="el-GR" dirty="0"/>
              <a:t>Η μέθοδος αυτή μπορεί να δίνει πιο ομαλά αποτελέσματα αλλά έχει ένα μεγάλο μειονέκτημα. Επειδή παρακολουθούμε τις τιμές για ένα χρονικό διάστημα αυτό απαιτεί χρήση μνήμης κάτι που το </a:t>
            </a:r>
            <a:r>
              <a:rPr lang="en-ID" dirty="0"/>
              <a:t>Arduino</a:t>
            </a:r>
            <a:r>
              <a:rPr lang="el-GR" dirty="0"/>
              <a:t> δεν έχει και πολύ (</a:t>
            </a:r>
            <a:r>
              <a:rPr lang="en-ID" dirty="0"/>
              <a:t>2K). </a:t>
            </a:r>
            <a:r>
              <a:rPr lang="el-GR" dirty="0"/>
              <a:t>Φιλτράροντας πολλές τιμές σύντομα αποδεικνύεται μη πρακτικό.  </a:t>
            </a:r>
          </a:p>
          <a:p>
            <a:pPr>
              <a:buNone/>
            </a:pPr>
            <a:r>
              <a:rPr lang="el-GR" dirty="0"/>
              <a:t>Παρόλα αυτά αποτελεί ένα αλγόριθμο που αποδεικνύεται πιο αποτελεσματικός όσον αφορά στην ενεργειακή διαχείριση του συστήματος μας που είναι μια πολύ σημαντική παράμετρος.</a:t>
            </a:r>
          </a:p>
        </p:txBody>
      </p:sp>
      <p:pic>
        <p:nvPicPr>
          <p:cNvPr id="31748" name="Picture 4"/>
          <p:cNvPicPr>
            <a:picLocks noChangeAspect="1" noChangeArrowheads="1"/>
          </p:cNvPicPr>
          <p:nvPr/>
        </p:nvPicPr>
        <p:blipFill>
          <a:blip r:embed="rId2"/>
          <a:srcRect l="2175" t="6352" r="2587" b="2809"/>
          <a:stretch>
            <a:fillRect/>
          </a:stretch>
        </p:blipFill>
        <p:spPr bwMode="auto">
          <a:xfrm>
            <a:off x="5405228" y="1052737"/>
            <a:ext cx="5143500" cy="4995333"/>
          </a:xfrm>
          <a:prstGeom prst="rect">
            <a:avLst/>
          </a:prstGeom>
          <a:noFill/>
          <a:ln w="9525">
            <a:noFill/>
            <a:miter lim="800000"/>
            <a:headEnd/>
            <a:tailEnd/>
          </a:ln>
          <a:effectLst/>
        </p:spPr>
      </p:pic>
      <p:sp>
        <p:nvSpPr>
          <p:cNvPr id="4" name="TextBox 3">
            <a:extLst>
              <a:ext uri="{FF2B5EF4-FFF2-40B4-BE49-F238E27FC236}">
                <a16:creationId xmlns:a16="http://schemas.microsoft.com/office/drawing/2014/main" id="{9BEBA5E7-7C7C-45EB-AA9F-83B7A5FF3C72}"/>
              </a:ext>
            </a:extLst>
          </p:cNvPr>
          <p:cNvSpPr txBox="1"/>
          <p:nvPr/>
        </p:nvSpPr>
        <p:spPr>
          <a:xfrm>
            <a:off x="4151784" y="6516052"/>
            <a:ext cx="7416824" cy="369332"/>
          </a:xfrm>
          <a:prstGeom prst="rect">
            <a:avLst/>
          </a:prstGeom>
          <a:noFill/>
        </p:spPr>
        <p:txBody>
          <a:bodyPr wrap="square" rtlCol="0">
            <a:spAutoFit/>
          </a:bodyPr>
          <a:lstStyle/>
          <a:p>
            <a:r>
              <a:rPr lang="en-US" dirty="0">
                <a:solidFill>
                  <a:srgbClr val="FF0000"/>
                </a:solidFill>
              </a:rPr>
              <a:t>https://github.com/sebnil/Moving-Avarage-Filter--Arduino-Library-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1666844" y="95227"/>
            <a:ext cx="4471990" cy="666747"/>
          </a:xfrm>
        </p:spPr>
        <p:txBody>
          <a:bodyPr>
            <a:normAutofit fontScale="90000"/>
          </a:bodyPr>
          <a:lstStyle/>
          <a:p>
            <a:r>
              <a:rPr lang="en-ID" dirty="0"/>
              <a:t>Exponential Filter</a:t>
            </a:r>
            <a:endParaRPr lang="el-GR" dirty="0"/>
          </a:p>
        </p:txBody>
      </p:sp>
      <p:sp>
        <p:nvSpPr>
          <p:cNvPr id="3" name="2 - Θέση περιεχομένου"/>
          <p:cNvSpPr>
            <a:spLocks noGrp="1"/>
          </p:cNvSpPr>
          <p:nvPr>
            <p:ph sz="quarter" idx="1"/>
          </p:nvPr>
        </p:nvSpPr>
        <p:spPr>
          <a:xfrm>
            <a:off x="1666876" y="952483"/>
            <a:ext cx="3071802" cy="5143536"/>
          </a:xfrm>
        </p:spPr>
        <p:txBody>
          <a:bodyPr vert="horz" lIns="0" tIns="0" rIns="0" bIns="0" rtlCol="0">
            <a:normAutofit fontScale="55000" lnSpcReduction="20000"/>
          </a:bodyPr>
          <a:lstStyle/>
          <a:p>
            <a:pPr>
              <a:buNone/>
            </a:pPr>
            <a:r>
              <a:rPr lang="el-GR" dirty="0"/>
              <a:t>Η μέθοδος αυτή στηρίζεται στο κατά πόσο εμπιστευόμαστε την μέτρηση του αισθητήρα και </a:t>
            </a:r>
            <a:r>
              <a:rPr lang="el-GR" dirty="0" err="1"/>
              <a:t>γιαυτό</a:t>
            </a:r>
            <a:r>
              <a:rPr lang="el-GR" dirty="0"/>
              <a:t> χρησιμοποιούμε την παράμετρο </a:t>
            </a:r>
            <a:r>
              <a:rPr lang="en-ID" dirty="0"/>
              <a:t>alpha. </a:t>
            </a:r>
            <a:r>
              <a:rPr lang="el-GR" dirty="0"/>
              <a:t>Αν δώσουμε </a:t>
            </a:r>
            <a:r>
              <a:rPr lang="en-ID" dirty="0"/>
              <a:t>alpha=1 </a:t>
            </a:r>
            <a:r>
              <a:rPr lang="el-GR" dirty="0"/>
              <a:t>σημαίνει ότι εμπιστευόμαστε απόλυτα τον αισθητήρα, όσο πιο χαμηλή τιμή στο διάστημα [0,1] τόσο μικρότερη εμπιστοσύνη του δείχνουμε. Η παράμετρος αυτή είναι κάτι με το οποίο πειραματιζόμαστε.</a:t>
            </a:r>
          </a:p>
          <a:p>
            <a:pPr>
              <a:buNone/>
            </a:pPr>
            <a:r>
              <a:rPr lang="el-GR" dirty="0"/>
              <a:t>Επειδή το συγκεκριμένο παράδειγμα είναι στο πεδίο των πραγματικών αριθμών και απαιτεί μνήμη και υπολογιστική ισχύ άρα και ενέργεια μπορούμε να μεταβούμε στο πεδίο των ακεραίων με τις ακόλουθες τροποποιήσεις.</a:t>
            </a:r>
          </a:p>
          <a:p>
            <a:pPr>
              <a:buNone/>
            </a:pPr>
            <a:r>
              <a:rPr lang="el-GR" dirty="0"/>
              <a:t>Μπορούμε να συνδυάσουμε αυτή τη μέθοδο και με τις δύο προηγούμενες.</a:t>
            </a:r>
          </a:p>
        </p:txBody>
      </p:sp>
      <p:pic>
        <p:nvPicPr>
          <p:cNvPr id="32770" name="Picture 2"/>
          <p:cNvPicPr>
            <a:picLocks noChangeAspect="1" noChangeArrowheads="1"/>
          </p:cNvPicPr>
          <p:nvPr/>
        </p:nvPicPr>
        <p:blipFill>
          <a:blip r:embed="rId2"/>
          <a:srcRect/>
          <a:stretch>
            <a:fillRect/>
          </a:stretch>
        </p:blipFill>
        <p:spPr bwMode="auto">
          <a:xfrm>
            <a:off x="5238744" y="666731"/>
            <a:ext cx="4686300" cy="3238500"/>
          </a:xfrm>
          <a:prstGeom prst="rect">
            <a:avLst/>
          </a:prstGeom>
          <a:noFill/>
          <a:ln w="9525">
            <a:noFill/>
            <a:miter lim="800000"/>
            <a:headEnd/>
            <a:tailEnd/>
          </a:ln>
          <a:effectLst/>
        </p:spPr>
      </p:pic>
      <p:pic>
        <p:nvPicPr>
          <p:cNvPr id="32771" name="Picture 3"/>
          <p:cNvPicPr>
            <a:picLocks noChangeAspect="1" noChangeArrowheads="1"/>
          </p:cNvPicPr>
          <p:nvPr/>
        </p:nvPicPr>
        <p:blipFill>
          <a:blip r:embed="rId3"/>
          <a:srcRect/>
          <a:stretch>
            <a:fillRect/>
          </a:stretch>
        </p:blipFill>
        <p:spPr bwMode="auto">
          <a:xfrm>
            <a:off x="5243540" y="4006864"/>
            <a:ext cx="4781550" cy="1422400"/>
          </a:xfrm>
          <a:prstGeom prst="rect">
            <a:avLst/>
          </a:prstGeom>
          <a:noFill/>
          <a:ln w="9525">
            <a:noFill/>
            <a:miter lim="800000"/>
            <a:headEnd/>
            <a:tailEnd/>
          </a:ln>
          <a:effectLst/>
        </p:spPr>
      </p:pic>
      <p:sp>
        <p:nvSpPr>
          <p:cNvPr id="8" name="2 - Θέση περιεχομένου"/>
          <p:cNvSpPr txBox="1">
            <a:spLocks/>
          </p:cNvSpPr>
          <p:nvPr/>
        </p:nvSpPr>
        <p:spPr>
          <a:xfrm>
            <a:off x="5167306" y="5619766"/>
            <a:ext cx="3071802" cy="952507"/>
          </a:xfrm>
          <a:prstGeom prst="rect">
            <a:avLst/>
          </a:prstGeom>
        </p:spPr>
        <p:txBody>
          <a:bodyPr vert="horz" lIns="0" tIns="0" rIns="0" bIns="0">
            <a:normAutofit/>
          </a:bodyPr>
          <a:lstStyle/>
          <a:p>
            <a:pPr marL="274320" indent="-274320">
              <a:spcBef>
                <a:spcPts val="600"/>
              </a:spcBef>
              <a:buClr>
                <a:schemeClr val="accent1"/>
              </a:buClr>
              <a:buSzPct val="70000"/>
              <a:defRPr/>
            </a:pPr>
            <a:endParaRPr lang="el-GR" sz="2400" dirty="0"/>
          </a:p>
        </p:txBody>
      </p:sp>
      <p:sp>
        <p:nvSpPr>
          <p:cNvPr id="4" name="TextBox 3">
            <a:extLst>
              <a:ext uri="{FF2B5EF4-FFF2-40B4-BE49-F238E27FC236}">
                <a16:creationId xmlns:a16="http://schemas.microsoft.com/office/drawing/2014/main" id="{3C575D16-FBAD-46D0-9A89-12112BEA0830}"/>
              </a:ext>
            </a:extLst>
          </p:cNvPr>
          <p:cNvSpPr txBox="1"/>
          <p:nvPr/>
        </p:nvSpPr>
        <p:spPr>
          <a:xfrm>
            <a:off x="4566700" y="6197653"/>
            <a:ext cx="7344816" cy="646331"/>
          </a:xfrm>
          <a:prstGeom prst="rect">
            <a:avLst/>
          </a:prstGeom>
          <a:noFill/>
        </p:spPr>
        <p:txBody>
          <a:bodyPr wrap="square" rtlCol="0">
            <a:spAutoFit/>
          </a:bodyPr>
          <a:lstStyle/>
          <a:p>
            <a:r>
              <a:rPr lang="en-US" dirty="0">
                <a:solidFill>
                  <a:srgbClr val="FF0000"/>
                </a:solidFill>
              </a:rPr>
              <a:t>https://www.megunolink.com/documentation/arduino-libraries/exponential-filter/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1666844" y="241974"/>
            <a:ext cx="7643866" cy="666747"/>
          </a:xfrm>
        </p:spPr>
        <p:txBody>
          <a:bodyPr>
            <a:normAutofit fontScale="90000"/>
          </a:bodyPr>
          <a:lstStyle/>
          <a:p>
            <a:r>
              <a:rPr lang="en-US" dirty="0"/>
              <a:t>Exponential </a:t>
            </a:r>
            <a:r>
              <a:rPr lang="en-US" dirty="0" err="1"/>
              <a:t>vs</a:t>
            </a:r>
            <a:r>
              <a:rPr lang="en-US" dirty="0"/>
              <a:t> raw &amp; </a:t>
            </a:r>
            <a:r>
              <a:rPr lang="el-GR" dirty="0"/>
              <a:t>συγκριτικό όλων</a:t>
            </a:r>
          </a:p>
        </p:txBody>
      </p:sp>
      <p:pic>
        <p:nvPicPr>
          <p:cNvPr id="33794" name="Picture 2"/>
          <p:cNvPicPr>
            <a:picLocks noChangeAspect="1" noChangeArrowheads="1"/>
          </p:cNvPicPr>
          <p:nvPr/>
        </p:nvPicPr>
        <p:blipFill>
          <a:blip r:embed="rId2"/>
          <a:srcRect/>
          <a:stretch>
            <a:fillRect/>
          </a:stretch>
        </p:blipFill>
        <p:spPr bwMode="auto">
          <a:xfrm>
            <a:off x="5881688" y="1085776"/>
            <a:ext cx="4077699" cy="4071416"/>
          </a:xfrm>
          <a:prstGeom prst="rect">
            <a:avLst/>
          </a:prstGeom>
          <a:noFill/>
          <a:ln w="9525">
            <a:noFill/>
            <a:miter lim="800000"/>
            <a:headEnd/>
            <a:tailEnd/>
          </a:ln>
          <a:effectLst/>
        </p:spPr>
      </p:pic>
      <p:pic>
        <p:nvPicPr>
          <p:cNvPr id="33796" name="Picture 4" descr="Exponential filter smoothing"/>
          <p:cNvPicPr>
            <a:picLocks noChangeAspect="1" noChangeArrowheads="1"/>
          </p:cNvPicPr>
          <p:nvPr/>
        </p:nvPicPr>
        <p:blipFill>
          <a:blip r:embed="rId3"/>
          <a:srcRect/>
          <a:stretch>
            <a:fillRect/>
          </a:stretch>
        </p:blipFill>
        <p:spPr bwMode="auto">
          <a:xfrm>
            <a:off x="1881159" y="1084656"/>
            <a:ext cx="4002363" cy="4000528"/>
          </a:xfrm>
          <a:prstGeom prst="rect">
            <a:avLst/>
          </a:prstGeom>
          <a:noFill/>
        </p:spPr>
      </p:pic>
      <p:sp>
        <p:nvSpPr>
          <p:cNvPr id="9" name="8 - TextBox"/>
          <p:cNvSpPr txBox="1"/>
          <p:nvPr/>
        </p:nvSpPr>
        <p:spPr>
          <a:xfrm>
            <a:off x="1952596" y="5143512"/>
            <a:ext cx="3286148" cy="369332"/>
          </a:xfrm>
          <a:prstGeom prst="rect">
            <a:avLst/>
          </a:prstGeom>
          <a:noFill/>
        </p:spPr>
        <p:txBody>
          <a:bodyPr wrap="square" rtlCol="0">
            <a:spAutoFit/>
          </a:bodyPr>
          <a:lstStyle/>
          <a:p>
            <a:r>
              <a:rPr lang="el-GR" dirty="0"/>
              <a:t>Φιλτράρισμα με </a:t>
            </a:r>
            <a:r>
              <a:rPr lang="en-ID" dirty="0"/>
              <a:t>alpha =0.2</a:t>
            </a:r>
            <a:endParaRPr lang="el-GR" dirty="0"/>
          </a:p>
        </p:txBody>
      </p:sp>
      <p:sp>
        <p:nvSpPr>
          <p:cNvPr id="10" name="9 - TextBox"/>
          <p:cNvSpPr txBox="1"/>
          <p:nvPr/>
        </p:nvSpPr>
        <p:spPr>
          <a:xfrm>
            <a:off x="5953124" y="5143512"/>
            <a:ext cx="3286148" cy="369332"/>
          </a:xfrm>
          <a:prstGeom prst="rect">
            <a:avLst/>
          </a:prstGeom>
          <a:noFill/>
        </p:spPr>
        <p:txBody>
          <a:bodyPr wrap="square" rtlCol="0">
            <a:spAutoFit/>
          </a:bodyPr>
          <a:lstStyle/>
          <a:p>
            <a:r>
              <a:rPr lang="el-GR" dirty="0"/>
              <a:t>Και οι 3 μέθοδοι μαζί</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1666844" y="95227"/>
            <a:ext cx="4471990" cy="666747"/>
          </a:xfrm>
        </p:spPr>
        <p:txBody>
          <a:bodyPr>
            <a:normAutofit fontScale="90000"/>
          </a:bodyPr>
          <a:lstStyle/>
          <a:p>
            <a:r>
              <a:rPr lang="en-ID" dirty="0"/>
              <a:t>Median Filter</a:t>
            </a:r>
            <a:endParaRPr lang="el-GR" dirty="0"/>
          </a:p>
        </p:txBody>
      </p:sp>
      <p:pic>
        <p:nvPicPr>
          <p:cNvPr id="34818" name="Picture 2"/>
          <p:cNvPicPr>
            <a:picLocks noChangeAspect="1" noChangeArrowheads="1"/>
          </p:cNvPicPr>
          <p:nvPr/>
        </p:nvPicPr>
        <p:blipFill>
          <a:blip r:embed="rId2"/>
          <a:srcRect/>
          <a:stretch>
            <a:fillRect/>
          </a:stretch>
        </p:blipFill>
        <p:spPr bwMode="auto">
          <a:xfrm>
            <a:off x="5738812" y="145576"/>
            <a:ext cx="4491031" cy="3283425"/>
          </a:xfrm>
          <a:prstGeom prst="rect">
            <a:avLst/>
          </a:prstGeom>
          <a:noFill/>
          <a:ln w="9525">
            <a:noFill/>
            <a:miter lim="800000"/>
            <a:headEnd/>
            <a:tailEnd/>
          </a:ln>
          <a:effectLst/>
        </p:spPr>
      </p:pic>
      <p:pic>
        <p:nvPicPr>
          <p:cNvPr id="34820" name="Picture 4" descr="http://wiki.ardumower.de/images/d/da/Medianfilter.png"/>
          <p:cNvPicPr>
            <a:picLocks noChangeAspect="1" noChangeArrowheads="1"/>
          </p:cNvPicPr>
          <p:nvPr/>
        </p:nvPicPr>
        <p:blipFill>
          <a:blip r:embed="rId3"/>
          <a:srcRect t="24137" r="43487" b="7985"/>
          <a:stretch>
            <a:fillRect/>
          </a:stretch>
        </p:blipFill>
        <p:spPr bwMode="auto">
          <a:xfrm>
            <a:off x="5881686" y="3333750"/>
            <a:ext cx="4071934" cy="3238523"/>
          </a:xfrm>
          <a:prstGeom prst="rect">
            <a:avLst/>
          </a:prstGeom>
          <a:noFill/>
        </p:spPr>
      </p:pic>
      <p:sp>
        <p:nvSpPr>
          <p:cNvPr id="11" name="10 - TextBox"/>
          <p:cNvSpPr txBox="1"/>
          <p:nvPr/>
        </p:nvSpPr>
        <p:spPr>
          <a:xfrm>
            <a:off x="1738282" y="666731"/>
            <a:ext cx="3571900" cy="3600986"/>
          </a:xfrm>
          <a:prstGeom prst="rect">
            <a:avLst/>
          </a:prstGeom>
          <a:noFill/>
        </p:spPr>
        <p:txBody>
          <a:bodyPr wrap="square" rtlCol="0">
            <a:spAutoFit/>
          </a:bodyPr>
          <a:lstStyle/>
          <a:p>
            <a:r>
              <a:rPr lang="el-GR" sz="1600" dirty="0"/>
              <a:t>Το πρόβλημα</a:t>
            </a:r>
            <a:r>
              <a:rPr lang="en-US" sz="1600" dirty="0"/>
              <a:t>: </a:t>
            </a:r>
            <a:r>
              <a:rPr lang="el-GR" sz="1600" dirty="0"/>
              <a:t>έχουμε πολλές </a:t>
            </a:r>
            <a:r>
              <a:rPr lang="en-US" sz="1600" dirty="0"/>
              <a:t>ADC </a:t>
            </a:r>
            <a:r>
              <a:rPr lang="el-GR" sz="1600" dirty="0"/>
              <a:t>μετρήσεις που μπορεί να περιέχουν </a:t>
            </a:r>
            <a:r>
              <a:rPr lang="en-US" sz="1600" dirty="0"/>
              <a:t>outliers. </a:t>
            </a:r>
            <a:r>
              <a:rPr lang="el-GR" sz="1600" dirty="0"/>
              <a:t>Ποια τιμή παρατηρήθηκε τις περισσότερες φορές ; Ε, αυτή θα πάρω. </a:t>
            </a:r>
          </a:p>
          <a:p>
            <a:r>
              <a:rPr lang="el-GR" sz="1600" dirty="0"/>
              <a:t>Λύση : </a:t>
            </a:r>
          </a:p>
          <a:p>
            <a:r>
              <a:rPr lang="el-GR" sz="1600" dirty="0"/>
              <a:t>Ταξινομώ τη λίστα με τις μετρήσεις μου (εδώ με την </a:t>
            </a:r>
            <a:r>
              <a:rPr lang="en-ID" sz="1600" dirty="0"/>
              <a:t>insertion sort) </a:t>
            </a:r>
            <a:r>
              <a:rPr lang="el-GR" sz="1600" dirty="0"/>
              <a:t>και παίρνω το μεσαίο στοιχείο.</a:t>
            </a:r>
            <a:endParaRPr lang="en-US" sz="1600" dirty="0"/>
          </a:p>
          <a:p>
            <a:r>
              <a:rPr lang="el-GR" sz="1600" dirty="0"/>
              <a:t>Π.χ.</a:t>
            </a:r>
            <a:r>
              <a:rPr lang="en-US" sz="1600" dirty="0"/>
              <a:t>: 32,7,7,1,6,8,7,9,23,7,8,9,7</a:t>
            </a:r>
          </a:p>
          <a:p>
            <a:r>
              <a:rPr lang="el-GR" sz="1600" dirty="0" err="1"/>
              <a:t>Ταξινόμιση</a:t>
            </a:r>
            <a:r>
              <a:rPr lang="en-US" sz="1600" dirty="0"/>
              <a:t>: 1,6,7,7,7,7,7,8,8,9,9,23,32</a:t>
            </a:r>
          </a:p>
          <a:p>
            <a:r>
              <a:rPr lang="el-GR" sz="1600" dirty="0"/>
              <a:t>Αποτέλεσμα</a:t>
            </a:r>
            <a:r>
              <a:rPr lang="en-US" sz="1600" dirty="0"/>
              <a:t>: 7 (</a:t>
            </a:r>
            <a:r>
              <a:rPr lang="el-GR" sz="1600" dirty="0"/>
              <a:t>κεντρικό</a:t>
            </a:r>
            <a:r>
              <a:rPr lang="en-US" sz="1600" dirty="0"/>
              <a:t>)</a:t>
            </a:r>
            <a:r>
              <a:rPr lang="el-GR" sz="1600" dirty="0"/>
              <a:t>. Θεωρείται από πολλούς το σημαντικότερο φίλτρο.</a:t>
            </a:r>
            <a:endParaRPr lang="en-US" sz="1600" dirty="0"/>
          </a:p>
          <a:p>
            <a:r>
              <a:rPr lang="en-US" dirty="0">
                <a:solidFill>
                  <a:srgbClr val="FF0000"/>
                </a:solidFill>
              </a:rPr>
              <a:t>https://playground.arduino.cc/Main/RunningMedian/</a:t>
            </a:r>
            <a:endParaRPr lang="el-GR"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0E18E5-33A6-4795-999D-F1FB8A84AE15}"/>
              </a:ext>
            </a:extLst>
          </p:cNvPr>
          <p:cNvSpPr>
            <a:spLocks noGrp="1"/>
          </p:cNvSpPr>
          <p:nvPr>
            <p:ph type="title"/>
          </p:nvPr>
        </p:nvSpPr>
        <p:spPr/>
        <p:txBody>
          <a:bodyPr/>
          <a:lstStyle/>
          <a:p>
            <a:r>
              <a:rPr lang="en-US" dirty="0"/>
              <a:t>DIY capacitive proximity sensor </a:t>
            </a:r>
          </a:p>
        </p:txBody>
      </p:sp>
      <p:sp>
        <p:nvSpPr>
          <p:cNvPr id="3" name="Θέση περιεχομένου 2">
            <a:extLst>
              <a:ext uri="{FF2B5EF4-FFF2-40B4-BE49-F238E27FC236}">
                <a16:creationId xmlns:a16="http://schemas.microsoft.com/office/drawing/2014/main" id="{14C522E4-CD67-4D74-BF54-12614B79B93E}"/>
              </a:ext>
            </a:extLst>
          </p:cNvPr>
          <p:cNvSpPr>
            <a:spLocks noGrp="1"/>
          </p:cNvSpPr>
          <p:nvPr>
            <p:ph idx="1"/>
          </p:nvPr>
        </p:nvSpPr>
        <p:spPr/>
        <p:txBody>
          <a:bodyPr>
            <a:normAutofit/>
          </a:bodyPr>
          <a:lstStyle/>
          <a:p>
            <a:pPr marL="0" indent="0">
              <a:buNone/>
            </a:pPr>
            <a:r>
              <a:rPr lang="el-GR" dirty="0"/>
              <a:t>Για τις αναγκες του μαθηματος θα χρειαστει να κατασκευασετε εναν χωρητικο αισθητηρα προσεγγισης, να τον φιλτραρετε δοκιμάζοντας διάφορα φίλτρα από αυτα που παρουσιάστηκαν και να τον καλιμπράρετε. Στην αναφορά σας θα πρέπει να συμπεριλάβετε όλα τα πειράματα και τις μετρήσεις που κάνατε.</a:t>
            </a:r>
            <a:endParaRPr lang="en-US" dirty="0"/>
          </a:p>
          <a:p>
            <a:pPr marL="0" indent="0">
              <a:buNone/>
            </a:pPr>
            <a:endParaRPr lang="en-US" dirty="0"/>
          </a:p>
          <a:p>
            <a:pPr lvl="1"/>
            <a:endParaRPr lang="en-US" dirty="0"/>
          </a:p>
          <a:p>
            <a:pPr marL="457200" lvl="1" indent="0">
              <a:buNone/>
            </a:pPr>
            <a:endParaRPr lang="en-US" dirty="0"/>
          </a:p>
        </p:txBody>
      </p:sp>
    </p:spTree>
    <p:extLst>
      <p:ext uri="{BB962C8B-B14F-4D97-AF65-F5344CB8AC3E}">
        <p14:creationId xmlns:p14="http://schemas.microsoft.com/office/powerpoint/2010/main" val="2115562622"/>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TotalTime>
  <Words>1995</Words>
  <Application>Microsoft Office PowerPoint</Application>
  <PresentationFormat>Widescreen</PresentationFormat>
  <Paragraphs>208</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Book Antiqua</vt:lpstr>
      <vt:lpstr>Calibri</vt:lpstr>
      <vt:lpstr>Calibri Light</vt:lpstr>
      <vt:lpstr>Wingdings</vt:lpstr>
      <vt:lpstr>Θέμα του Office</vt:lpstr>
      <vt:lpstr>Sensors’ linearization and calibration</vt:lpstr>
      <vt:lpstr>light dependent resistors (LDR)</vt:lpstr>
      <vt:lpstr>Γραμμικά Αισθητήρια (LDR)</vt:lpstr>
      <vt:lpstr>Simple Reading (DigitalWrite No Calibration)</vt:lpstr>
      <vt:lpstr>Analog (Read, Write)</vt:lpstr>
      <vt:lpstr>Calibration, Why ? </vt:lpstr>
      <vt:lpstr>Calibration, How ? </vt:lpstr>
      <vt:lpstr>Μη Γραμμικά Αισθητήρια (GP2Y0A21YK0F) Το πρόβλημα</vt:lpstr>
      <vt:lpstr>Γραμμικοποιώντας τον (GP2Y0A21YK0F)</vt:lpstr>
      <vt:lpstr>PowerPoint Presentation</vt:lpstr>
      <vt:lpstr>Γραμμικοποιώντασ τον (GP2Y0A21YK0F)  excel (1)</vt:lpstr>
      <vt:lpstr>PowerPoint Presentation</vt:lpstr>
      <vt:lpstr>Γραμμικοποιώντας τον (GP2Y0A21YK0F)  excel (3)</vt:lpstr>
      <vt:lpstr>Γραμμικοποιώντας τον (GP2Y0A21YK0F)  excel (4)</vt:lpstr>
      <vt:lpstr>Γραμμικοποιώντας τον (GP2Y0A21YK0F)  excel (5)</vt:lpstr>
      <vt:lpstr>Γραμμικοποιώντας τον (GP2Y0A21YK0F)</vt:lpstr>
      <vt:lpstr>Filtering</vt:lpstr>
      <vt:lpstr>Filtering</vt:lpstr>
      <vt:lpstr>Μέσος όρος  (average) </vt:lpstr>
      <vt:lpstr>Κινούμενος Μέσος όρος  (moving average) </vt:lpstr>
      <vt:lpstr>κινούμενος Μέσος Όρος  (moving average) </vt:lpstr>
      <vt:lpstr>Exponential Filter</vt:lpstr>
      <vt:lpstr>Exponential vs raw &amp; συγκριτικό όλων</vt:lpstr>
      <vt:lpstr>Median Filter</vt:lpstr>
      <vt:lpstr>DIY capacitive proximity sensor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Παρουσίαση του PowerPoint</dc:title>
  <dc:creator>spiros</dc:creator>
  <cp:lastModifiedBy>Spyros Panagiotakis</cp:lastModifiedBy>
  <cp:revision>46</cp:revision>
  <dcterms:created xsi:type="dcterms:W3CDTF">2020-02-28T12:14:42Z</dcterms:created>
  <dcterms:modified xsi:type="dcterms:W3CDTF">2025-04-01T12:56:23Z</dcterms:modified>
</cp:coreProperties>
</file>